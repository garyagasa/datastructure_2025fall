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234"/>
  </p:notesMasterIdLst>
  <p:sldIdLst>
    <p:sldId id="256" r:id="rId2"/>
    <p:sldId id="479" r:id="rId3"/>
    <p:sldId id="480" r:id="rId4"/>
    <p:sldId id="481" r:id="rId5"/>
    <p:sldId id="482" r:id="rId6"/>
    <p:sldId id="449" r:id="rId7"/>
    <p:sldId id="287" r:id="rId8"/>
    <p:sldId id="288" r:id="rId9"/>
    <p:sldId id="289" r:id="rId10"/>
    <p:sldId id="290" r:id="rId11"/>
    <p:sldId id="286" r:id="rId12"/>
    <p:sldId id="302" r:id="rId13"/>
    <p:sldId id="301" r:id="rId14"/>
    <p:sldId id="291" r:id="rId15"/>
    <p:sldId id="300" r:id="rId16"/>
    <p:sldId id="293" r:id="rId17"/>
    <p:sldId id="554" r:id="rId18"/>
    <p:sldId id="523" r:id="rId19"/>
    <p:sldId id="313" r:id="rId20"/>
    <p:sldId id="295" r:id="rId21"/>
    <p:sldId id="292" r:id="rId22"/>
    <p:sldId id="294" r:id="rId23"/>
    <p:sldId id="297" r:id="rId24"/>
    <p:sldId id="298" r:id="rId25"/>
    <p:sldId id="296" r:id="rId26"/>
    <p:sldId id="555" r:id="rId27"/>
    <p:sldId id="299" r:id="rId28"/>
    <p:sldId id="483" r:id="rId29"/>
    <p:sldId id="557" r:id="rId30"/>
    <p:sldId id="556" r:id="rId31"/>
    <p:sldId id="304" r:id="rId32"/>
    <p:sldId id="305" r:id="rId33"/>
    <p:sldId id="306" r:id="rId34"/>
    <p:sldId id="307" r:id="rId35"/>
    <p:sldId id="308" r:id="rId36"/>
    <p:sldId id="309" r:id="rId37"/>
    <p:sldId id="311" r:id="rId38"/>
    <p:sldId id="558" r:id="rId39"/>
    <p:sldId id="310" r:id="rId40"/>
    <p:sldId id="352" r:id="rId41"/>
    <p:sldId id="353" r:id="rId42"/>
    <p:sldId id="316" r:id="rId43"/>
    <p:sldId id="314" r:id="rId44"/>
    <p:sldId id="317" r:id="rId45"/>
    <p:sldId id="315" r:id="rId46"/>
    <p:sldId id="312" r:id="rId47"/>
    <p:sldId id="318" r:id="rId48"/>
    <p:sldId id="484" r:id="rId49"/>
    <p:sldId id="485" r:id="rId50"/>
    <p:sldId id="486" r:id="rId51"/>
    <p:sldId id="559" r:id="rId52"/>
    <p:sldId id="321" r:id="rId53"/>
    <p:sldId id="386" r:id="rId54"/>
    <p:sldId id="325" r:id="rId55"/>
    <p:sldId id="322" r:id="rId56"/>
    <p:sldId id="387" r:id="rId57"/>
    <p:sldId id="323" r:id="rId58"/>
    <p:sldId id="324" r:id="rId59"/>
    <p:sldId id="454" r:id="rId60"/>
    <p:sldId id="488" r:id="rId61"/>
    <p:sldId id="489" r:id="rId62"/>
    <p:sldId id="490" r:id="rId63"/>
    <p:sldId id="332" r:id="rId64"/>
    <p:sldId id="520" r:id="rId65"/>
    <p:sldId id="330" r:id="rId66"/>
    <p:sldId id="333" r:id="rId67"/>
    <p:sldId id="516" r:id="rId68"/>
    <p:sldId id="336" r:id="rId69"/>
    <p:sldId id="337" r:id="rId70"/>
    <p:sldId id="335" r:id="rId71"/>
    <p:sldId id="339" r:id="rId72"/>
    <p:sldId id="373" r:id="rId73"/>
    <p:sldId id="374" r:id="rId74"/>
    <p:sldId id="334" r:id="rId75"/>
    <p:sldId id="340" r:id="rId76"/>
    <p:sldId id="341" r:id="rId77"/>
    <p:sldId id="560" r:id="rId78"/>
    <p:sldId id="452" r:id="rId79"/>
    <p:sldId id="356" r:id="rId80"/>
    <p:sldId id="360" r:id="rId81"/>
    <p:sldId id="331" r:id="rId82"/>
    <p:sldId id="342" r:id="rId83"/>
    <p:sldId id="343" r:id="rId84"/>
    <p:sldId id="346" r:id="rId85"/>
    <p:sldId id="338" r:id="rId86"/>
    <p:sldId id="344" r:id="rId87"/>
    <p:sldId id="358" r:id="rId88"/>
    <p:sldId id="361" r:id="rId89"/>
    <p:sldId id="345" r:id="rId90"/>
    <p:sldId id="359" r:id="rId91"/>
    <p:sldId id="411" r:id="rId92"/>
    <p:sldId id="347" r:id="rId93"/>
    <p:sldId id="348" r:id="rId94"/>
    <p:sldId id="362" r:id="rId95"/>
    <p:sldId id="507" r:id="rId96"/>
    <p:sldId id="508" r:id="rId97"/>
    <p:sldId id="375" r:id="rId98"/>
    <p:sldId id="376" r:id="rId99"/>
    <p:sldId id="388" r:id="rId100"/>
    <p:sldId id="389" r:id="rId101"/>
    <p:sldId id="390" r:id="rId102"/>
    <p:sldId id="377" r:id="rId103"/>
    <p:sldId id="378" r:id="rId104"/>
    <p:sldId id="379" r:id="rId105"/>
    <p:sldId id="380" r:id="rId106"/>
    <p:sldId id="509" r:id="rId107"/>
    <p:sldId id="510" r:id="rId108"/>
    <p:sldId id="511" r:id="rId109"/>
    <p:sldId id="512" r:id="rId110"/>
    <p:sldId id="513" r:id="rId111"/>
    <p:sldId id="349" r:id="rId112"/>
    <p:sldId id="391" r:id="rId113"/>
    <p:sldId id="350" r:id="rId114"/>
    <p:sldId id="351" r:id="rId115"/>
    <p:sldId id="365" r:id="rId116"/>
    <p:sldId id="366" r:id="rId117"/>
    <p:sldId id="363" r:id="rId118"/>
    <p:sldId id="364" r:id="rId119"/>
    <p:sldId id="541" r:id="rId120"/>
    <p:sldId id="367" r:id="rId121"/>
    <p:sldId id="368" r:id="rId122"/>
    <p:sldId id="369" r:id="rId123"/>
    <p:sldId id="370" r:id="rId124"/>
    <p:sldId id="543" r:id="rId125"/>
    <p:sldId id="562" r:id="rId126"/>
    <p:sldId id="392" r:id="rId127"/>
    <p:sldId id="514" r:id="rId128"/>
    <p:sldId id="394" r:id="rId129"/>
    <p:sldId id="371" r:id="rId130"/>
    <p:sldId id="381" r:id="rId131"/>
    <p:sldId id="396" r:id="rId132"/>
    <p:sldId id="383" r:id="rId133"/>
    <p:sldId id="382" r:id="rId134"/>
    <p:sldId id="397" r:id="rId135"/>
    <p:sldId id="372" r:id="rId136"/>
    <p:sldId id="544" r:id="rId137"/>
    <p:sldId id="550" r:id="rId138"/>
    <p:sldId id="515" r:id="rId139"/>
    <p:sldId id="400" r:id="rId140"/>
    <p:sldId id="384" r:id="rId141"/>
    <p:sldId id="385" r:id="rId142"/>
    <p:sldId id="398" r:id="rId143"/>
    <p:sldId id="399" r:id="rId144"/>
    <p:sldId id="545" r:id="rId145"/>
    <p:sldId id="551" r:id="rId146"/>
    <p:sldId id="402" r:id="rId147"/>
    <p:sldId id="547" r:id="rId148"/>
    <p:sldId id="552" r:id="rId149"/>
    <p:sldId id="561" r:id="rId150"/>
    <p:sldId id="403" r:id="rId151"/>
    <p:sldId id="546" r:id="rId152"/>
    <p:sldId id="401" r:id="rId153"/>
    <p:sldId id="393" r:id="rId154"/>
    <p:sldId id="395" r:id="rId155"/>
    <p:sldId id="404" r:id="rId156"/>
    <p:sldId id="406" r:id="rId157"/>
    <p:sldId id="405" r:id="rId158"/>
    <p:sldId id="407" r:id="rId159"/>
    <p:sldId id="408" r:id="rId160"/>
    <p:sldId id="548" r:id="rId161"/>
    <p:sldId id="549" r:id="rId162"/>
    <p:sldId id="475" r:id="rId163"/>
    <p:sldId id="476" r:id="rId164"/>
    <p:sldId id="553" r:id="rId165"/>
    <p:sldId id="477" r:id="rId166"/>
    <p:sldId id="478" r:id="rId167"/>
    <p:sldId id="450" r:id="rId168"/>
    <p:sldId id="412" r:id="rId169"/>
    <p:sldId id="413" r:id="rId170"/>
    <p:sldId id="414" r:id="rId171"/>
    <p:sldId id="415" r:id="rId172"/>
    <p:sldId id="416" r:id="rId173"/>
    <p:sldId id="417" r:id="rId174"/>
    <p:sldId id="418" r:id="rId175"/>
    <p:sldId id="419" r:id="rId176"/>
    <p:sldId id="420" r:id="rId177"/>
    <p:sldId id="421" r:id="rId178"/>
    <p:sldId id="422" r:id="rId179"/>
    <p:sldId id="423" r:id="rId180"/>
    <p:sldId id="424" r:id="rId181"/>
    <p:sldId id="425" r:id="rId182"/>
    <p:sldId id="426" r:id="rId183"/>
    <p:sldId id="427" r:id="rId184"/>
    <p:sldId id="428" r:id="rId185"/>
    <p:sldId id="429" r:id="rId186"/>
    <p:sldId id="430" r:id="rId187"/>
    <p:sldId id="431" r:id="rId188"/>
    <p:sldId id="432" r:id="rId189"/>
    <p:sldId id="433" r:id="rId190"/>
    <p:sldId id="434" r:id="rId191"/>
    <p:sldId id="435" r:id="rId192"/>
    <p:sldId id="436" r:id="rId193"/>
    <p:sldId id="437" r:id="rId194"/>
    <p:sldId id="438" r:id="rId195"/>
    <p:sldId id="439" r:id="rId196"/>
    <p:sldId id="440" r:id="rId197"/>
    <p:sldId id="441" r:id="rId198"/>
    <p:sldId id="442" r:id="rId199"/>
    <p:sldId id="443" r:id="rId200"/>
    <p:sldId id="444" r:id="rId201"/>
    <p:sldId id="445" r:id="rId202"/>
    <p:sldId id="446" r:id="rId203"/>
    <p:sldId id="447" r:id="rId204"/>
    <p:sldId id="448" r:id="rId205"/>
    <p:sldId id="453" r:id="rId206"/>
    <p:sldId id="455" r:id="rId207"/>
    <p:sldId id="491" r:id="rId208"/>
    <p:sldId id="492" r:id="rId209"/>
    <p:sldId id="493" r:id="rId210"/>
    <p:sldId id="494" r:id="rId211"/>
    <p:sldId id="495" r:id="rId212"/>
    <p:sldId id="505" r:id="rId213"/>
    <p:sldId id="496" r:id="rId214"/>
    <p:sldId id="497" r:id="rId215"/>
    <p:sldId id="498" r:id="rId216"/>
    <p:sldId id="499" r:id="rId217"/>
    <p:sldId id="502" r:id="rId218"/>
    <p:sldId id="500" r:id="rId219"/>
    <p:sldId id="501" r:id="rId220"/>
    <p:sldId id="503" r:id="rId221"/>
    <p:sldId id="504" r:id="rId222"/>
    <p:sldId id="459" r:id="rId223"/>
    <p:sldId id="460" r:id="rId224"/>
    <p:sldId id="461" r:id="rId225"/>
    <p:sldId id="462" r:id="rId226"/>
    <p:sldId id="464" r:id="rId227"/>
    <p:sldId id="467" r:id="rId228"/>
    <p:sldId id="469" r:id="rId229"/>
    <p:sldId id="470" r:id="rId230"/>
    <p:sldId id="506" r:id="rId231"/>
    <p:sldId id="473" r:id="rId232"/>
    <p:sldId id="277" r:id="rId233"/>
  </p:sldIdLst>
  <p:sldSz cx="12192000" cy="6858000"/>
  <p:notesSz cx="6648450" cy="97821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1CBDB88-878D-4599-8C3A-EA59C41D69D0}">
          <p14:sldIdLst>
            <p14:sldId id="256"/>
            <p14:sldId id="479"/>
            <p14:sldId id="480"/>
            <p14:sldId id="481"/>
            <p14:sldId id="482"/>
          </p14:sldIdLst>
        </p14:section>
        <p14:section name="真题复习" id="{105CE25A-83C1-438A-ACAE-D5CFC755B44F}">
          <p14:sldIdLst>
            <p14:sldId id="449"/>
            <p14:sldId id="287"/>
            <p14:sldId id="288"/>
            <p14:sldId id="289"/>
            <p14:sldId id="290"/>
            <p14:sldId id="286"/>
            <p14:sldId id="302"/>
            <p14:sldId id="301"/>
            <p14:sldId id="291"/>
            <p14:sldId id="300"/>
            <p14:sldId id="293"/>
            <p14:sldId id="554"/>
            <p14:sldId id="523"/>
            <p14:sldId id="313"/>
            <p14:sldId id="295"/>
            <p14:sldId id="292"/>
            <p14:sldId id="294"/>
            <p14:sldId id="297"/>
            <p14:sldId id="298"/>
            <p14:sldId id="296"/>
            <p14:sldId id="555"/>
            <p14:sldId id="299"/>
            <p14:sldId id="483"/>
            <p14:sldId id="557"/>
            <p14:sldId id="556"/>
            <p14:sldId id="304"/>
            <p14:sldId id="305"/>
            <p14:sldId id="306"/>
            <p14:sldId id="307"/>
            <p14:sldId id="308"/>
            <p14:sldId id="309"/>
            <p14:sldId id="311"/>
            <p14:sldId id="558"/>
            <p14:sldId id="310"/>
            <p14:sldId id="352"/>
            <p14:sldId id="353"/>
            <p14:sldId id="316"/>
            <p14:sldId id="314"/>
            <p14:sldId id="317"/>
            <p14:sldId id="315"/>
            <p14:sldId id="312"/>
            <p14:sldId id="318"/>
            <p14:sldId id="484"/>
            <p14:sldId id="485"/>
            <p14:sldId id="486"/>
            <p14:sldId id="559"/>
            <p14:sldId id="321"/>
            <p14:sldId id="386"/>
            <p14:sldId id="325"/>
            <p14:sldId id="322"/>
            <p14:sldId id="387"/>
            <p14:sldId id="323"/>
            <p14:sldId id="324"/>
            <p14:sldId id="454"/>
            <p14:sldId id="488"/>
            <p14:sldId id="489"/>
            <p14:sldId id="490"/>
            <p14:sldId id="332"/>
            <p14:sldId id="520"/>
            <p14:sldId id="330"/>
            <p14:sldId id="333"/>
            <p14:sldId id="516"/>
            <p14:sldId id="336"/>
            <p14:sldId id="337"/>
            <p14:sldId id="335"/>
            <p14:sldId id="339"/>
            <p14:sldId id="373"/>
            <p14:sldId id="374"/>
            <p14:sldId id="334"/>
            <p14:sldId id="340"/>
            <p14:sldId id="341"/>
            <p14:sldId id="560"/>
            <p14:sldId id="452"/>
            <p14:sldId id="356"/>
            <p14:sldId id="360"/>
            <p14:sldId id="331"/>
            <p14:sldId id="342"/>
            <p14:sldId id="343"/>
            <p14:sldId id="346"/>
            <p14:sldId id="338"/>
            <p14:sldId id="344"/>
            <p14:sldId id="358"/>
            <p14:sldId id="361"/>
            <p14:sldId id="345"/>
            <p14:sldId id="359"/>
            <p14:sldId id="411"/>
            <p14:sldId id="347"/>
            <p14:sldId id="348"/>
            <p14:sldId id="362"/>
            <p14:sldId id="507"/>
            <p14:sldId id="508"/>
            <p14:sldId id="375"/>
            <p14:sldId id="376"/>
            <p14:sldId id="388"/>
            <p14:sldId id="389"/>
            <p14:sldId id="390"/>
            <p14:sldId id="377"/>
            <p14:sldId id="378"/>
            <p14:sldId id="379"/>
            <p14:sldId id="380"/>
            <p14:sldId id="509"/>
            <p14:sldId id="510"/>
            <p14:sldId id="511"/>
            <p14:sldId id="512"/>
            <p14:sldId id="513"/>
            <p14:sldId id="349"/>
            <p14:sldId id="391"/>
            <p14:sldId id="350"/>
            <p14:sldId id="351"/>
            <p14:sldId id="365"/>
            <p14:sldId id="366"/>
            <p14:sldId id="363"/>
            <p14:sldId id="364"/>
            <p14:sldId id="541"/>
            <p14:sldId id="367"/>
            <p14:sldId id="368"/>
            <p14:sldId id="369"/>
            <p14:sldId id="370"/>
            <p14:sldId id="543"/>
            <p14:sldId id="562"/>
            <p14:sldId id="392"/>
            <p14:sldId id="514"/>
            <p14:sldId id="394"/>
            <p14:sldId id="371"/>
            <p14:sldId id="381"/>
            <p14:sldId id="396"/>
            <p14:sldId id="383"/>
            <p14:sldId id="382"/>
            <p14:sldId id="397"/>
            <p14:sldId id="372"/>
            <p14:sldId id="544"/>
            <p14:sldId id="550"/>
            <p14:sldId id="515"/>
            <p14:sldId id="400"/>
            <p14:sldId id="384"/>
            <p14:sldId id="385"/>
            <p14:sldId id="398"/>
            <p14:sldId id="399"/>
            <p14:sldId id="545"/>
            <p14:sldId id="551"/>
            <p14:sldId id="402"/>
            <p14:sldId id="547"/>
            <p14:sldId id="552"/>
            <p14:sldId id="561"/>
            <p14:sldId id="403"/>
            <p14:sldId id="546"/>
            <p14:sldId id="401"/>
            <p14:sldId id="393"/>
            <p14:sldId id="395"/>
            <p14:sldId id="404"/>
            <p14:sldId id="406"/>
            <p14:sldId id="405"/>
            <p14:sldId id="407"/>
            <p14:sldId id="408"/>
            <p14:sldId id="548"/>
            <p14:sldId id="549"/>
          </p14:sldIdLst>
        </p14:section>
        <p14:section name="填充复习" id="{94DAA6F9-10CF-4A61-B625-F1631585C545}">
          <p14:sldIdLst>
            <p14:sldId id="475"/>
            <p14:sldId id="476"/>
            <p14:sldId id="553"/>
            <p14:sldId id="477"/>
            <p14:sldId id="478"/>
          </p14:sldIdLst>
        </p14:section>
        <p14:section name="代码复习" id="{B0F7C47D-CF59-4380-B65D-3E92006A101B}">
          <p14:sldIdLst>
            <p14:sldId id="450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53"/>
          </p14:sldIdLst>
        </p14:section>
        <p14:section name="24期中回顾" id="{1BEEDA19-9B62-407B-A996-39C56BFF554F}">
          <p14:sldIdLst>
            <p14:sldId id="455"/>
            <p14:sldId id="491"/>
            <p14:sldId id="492"/>
            <p14:sldId id="493"/>
            <p14:sldId id="494"/>
            <p14:sldId id="495"/>
            <p14:sldId id="505"/>
            <p14:sldId id="496"/>
            <p14:sldId id="497"/>
            <p14:sldId id="498"/>
            <p14:sldId id="499"/>
            <p14:sldId id="502"/>
            <p14:sldId id="500"/>
            <p14:sldId id="501"/>
            <p14:sldId id="503"/>
            <p14:sldId id="504"/>
            <p14:sldId id="459"/>
            <p14:sldId id="460"/>
            <p14:sldId id="461"/>
            <p14:sldId id="462"/>
            <p14:sldId id="464"/>
            <p14:sldId id="467"/>
            <p14:sldId id="469"/>
            <p14:sldId id="470"/>
            <p14:sldId id="506"/>
            <p14:sldId id="473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30305"/>
    <a:srgbClr val="EA2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81438" autoAdjust="0"/>
  </p:normalViewPr>
  <p:slideViewPr>
    <p:cSldViewPr>
      <p:cViewPr varScale="1">
        <p:scale>
          <a:sx n="86" d="100"/>
          <a:sy n="86" d="100"/>
        </p:scale>
        <p:origin x="5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3324" y="44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tableStyles" Target="tableStyles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viewProps" Target="viewProps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presProps" Target="presProp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9862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44192EF7-8FAB-4DBB-ABF4-5586931266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8667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3A8806F-00E4-4B0F-8129-1EF3D61F8955}" type="slidenum">
              <a:rPr lang="en-US" altLang="zh-CN">
                <a:latin typeface="Tahoma" pitchFamily="34" charset="0"/>
              </a:rPr>
              <a:pPr/>
              <a:t>1</a:t>
            </a:fld>
            <a:endParaRPr lang="en-US" altLang="zh-CN">
              <a:latin typeface="Tahoma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5088" y="733425"/>
            <a:ext cx="6519862" cy="3668713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39348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5583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9061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966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217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8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947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真题变形，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5741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101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</a:p>
          <a:p>
            <a:r>
              <a:rPr lang="en-US" altLang="zh-CN" dirty="0" err="1"/>
              <a:t>de_c_b_a</a:t>
            </a:r>
            <a:r>
              <a:rPr lang="en-US" altLang="zh-CN" dirty="0"/>
              <a:t>_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zh-CN" altLang="en-US" dirty="0"/>
              <a:t>可以在任意</a:t>
            </a:r>
            <a:r>
              <a:rPr lang="en-US" altLang="zh-CN" dirty="0"/>
              <a:t>_</a:t>
            </a:r>
            <a:r>
              <a:rPr lang="zh-CN" altLang="en-US" dirty="0"/>
              <a:t>位置上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6406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5995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真题 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859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zh-CN" altLang="en-US" dirty="0"/>
              <a:t>要求该共享栈在一端非空时，栈指针指向当前元素的下一位置，因此栈满时</a:t>
            </a:r>
            <a:r>
              <a:rPr lang="en-US" altLang="zh-CN" dirty="0"/>
              <a:t>S1</a:t>
            </a:r>
            <a:r>
              <a:rPr lang="zh-CN" altLang="en-US" dirty="0"/>
              <a:t>的栈顶指针应该大于</a:t>
            </a:r>
            <a:r>
              <a:rPr lang="en-US" altLang="zh-CN" dirty="0"/>
              <a:t>S2</a:t>
            </a:r>
            <a:r>
              <a:rPr lang="zh-CN" altLang="en-US" dirty="0"/>
              <a:t>的栈顶指针，应满足</a:t>
            </a:r>
            <a:r>
              <a:rPr lang="en-US" altLang="zh-CN" dirty="0"/>
              <a:t>S1.TOP-S2.TOP=1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0047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55434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442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2438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3074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6950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67881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55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真题</a:t>
            </a:r>
            <a:r>
              <a:rPr lang="en-US" altLang="zh-CN" baseline="0" dirty="0"/>
              <a:t>  </a:t>
            </a:r>
            <a:r>
              <a:rPr lang="en-US" altLang="zh-CN" dirty="0"/>
              <a:t>A</a:t>
            </a:r>
          </a:p>
          <a:p>
            <a:endParaRPr lang="en-US" altLang="zh-CN" dirty="0"/>
          </a:p>
          <a:p>
            <a:r>
              <a:rPr lang="zh-CN" altLang="en-US" dirty="0"/>
              <a:t>不然在一个稀疏矩阵外侧包裹更多的全</a:t>
            </a:r>
            <a:r>
              <a:rPr lang="en-US" altLang="zh-CN" dirty="0"/>
              <a:t>0</a:t>
            </a:r>
            <a:r>
              <a:rPr lang="zh-CN" altLang="en-US" dirty="0"/>
              <a:t>行列，则三元组相同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94719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</a:t>
            </a:r>
          </a:p>
          <a:p>
            <a:endParaRPr lang="en-US" altLang="zh-CN" dirty="0"/>
          </a:p>
          <a:p>
            <a:r>
              <a:rPr lang="zh-CN" altLang="en-US" dirty="0"/>
              <a:t>可知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zh-CN" altLang="en-US" dirty="0"/>
              <a:t>都是从</a:t>
            </a:r>
            <a:r>
              <a:rPr lang="en-US" altLang="zh-CN" dirty="0"/>
              <a:t>0</a:t>
            </a:r>
            <a:r>
              <a:rPr lang="zh-CN" altLang="en-US" dirty="0"/>
              <a:t>开始，</a:t>
            </a:r>
            <a:r>
              <a:rPr lang="en-US" altLang="zh-CN" dirty="0"/>
              <a:t>next</a:t>
            </a:r>
            <a:r>
              <a:rPr lang="zh-CN" altLang="en-US" dirty="0"/>
              <a:t>值为</a:t>
            </a:r>
            <a:r>
              <a:rPr lang="en-US" altLang="zh-CN" dirty="0"/>
              <a:t>-1 0 0 1 1 2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147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en-US" altLang="zh-CN" dirty="0"/>
              <a:t>next: -1 0 0 1 1 2</a:t>
            </a:r>
          </a:p>
          <a:p>
            <a:endParaRPr lang="en-US" altLang="zh-CN" dirty="0"/>
          </a:p>
          <a:p>
            <a:r>
              <a:rPr lang="zh-CN" altLang="en-US" dirty="0"/>
              <a:t>第一趟比较</a:t>
            </a:r>
            <a:r>
              <a:rPr lang="en-US" altLang="zh-CN" dirty="0"/>
              <a:t>6</a:t>
            </a:r>
            <a:r>
              <a:rPr lang="zh-CN" altLang="en-US" dirty="0"/>
              <a:t>次，失败后从模式串的</a:t>
            </a:r>
            <a:r>
              <a:rPr lang="en-US" altLang="zh-CN" dirty="0"/>
              <a:t>2</a:t>
            </a:r>
            <a:r>
              <a:rPr lang="zh-CN" altLang="en-US" dirty="0"/>
              <a:t>号位和主串的</a:t>
            </a:r>
            <a:r>
              <a:rPr lang="en-US" altLang="zh-CN" dirty="0"/>
              <a:t>5</a:t>
            </a:r>
            <a:r>
              <a:rPr lang="zh-CN" altLang="en-US" dirty="0"/>
              <a:t>号位开始匹配，再比较</a:t>
            </a:r>
            <a:r>
              <a:rPr lang="en-US" altLang="zh-CN" dirty="0"/>
              <a:t>4</a:t>
            </a:r>
            <a:r>
              <a:rPr lang="zh-CN" altLang="en-US" dirty="0"/>
              <a:t>次结束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177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 </a:t>
            </a:r>
            <a:r>
              <a:rPr lang="en-US" altLang="zh-CN" dirty="0"/>
              <a:t>B</a:t>
            </a:r>
          </a:p>
          <a:p>
            <a:r>
              <a:rPr lang="zh-CN" altLang="en-US" dirty="0"/>
              <a:t>构造法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8102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真题  </a:t>
            </a:r>
            <a:r>
              <a:rPr lang="en-US" altLang="zh-CN" dirty="0"/>
              <a:t>C</a:t>
            </a:r>
          </a:p>
          <a:p>
            <a:endParaRPr lang="en-US" altLang="zh-CN" dirty="0"/>
          </a:p>
          <a:p>
            <a:r>
              <a:rPr lang="zh-CN" altLang="en-US" dirty="0"/>
              <a:t>高度为</a:t>
            </a:r>
            <a:r>
              <a:rPr lang="en-US" altLang="zh-CN" dirty="0"/>
              <a:t>5</a:t>
            </a:r>
            <a:r>
              <a:rPr lang="zh-CN" altLang="en-US" dirty="0"/>
              <a:t>的满三叉树结点为</a:t>
            </a:r>
            <a:r>
              <a:rPr lang="en-US" altLang="zh-CN" dirty="0"/>
              <a:t>121</a:t>
            </a:r>
            <a:r>
              <a:rPr lang="zh-CN" altLang="en-US" dirty="0"/>
              <a:t>，高度为</a:t>
            </a:r>
            <a:r>
              <a:rPr lang="en-US" altLang="zh-CN" dirty="0"/>
              <a:t>6</a:t>
            </a:r>
            <a:r>
              <a:rPr lang="zh-CN" altLang="en-US" dirty="0"/>
              <a:t>的结点数为</a:t>
            </a:r>
            <a:r>
              <a:rPr lang="en-US" altLang="zh-CN" dirty="0"/>
              <a:t>364</a:t>
            </a:r>
            <a:r>
              <a:rPr lang="zh-CN" altLang="en-US" dirty="0"/>
              <a:t>，</a:t>
            </a:r>
            <a:r>
              <a:rPr lang="en-US" altLang="zh-CN" dirty="0"/>
              <a:t>244</a:t>
            </a:r>
            <a:r>
              <a:rPr lang="zh-CN" altLang="en-US" dirty="0"/>
              <a:t>介于两者之间，所以至少是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78471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 </a:t>
            </a:r>
            <a:endParaRPr lang="en-US" altLang="zh-CN" dirty="0"/>
          </a:p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40702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2011</a:t>
            </a:r>
            <a:r>
              <a:rPr lang="zh-CN" altLang="en-US" dirty="0"/>
              <a:t>真题 </a:t>
            </a:r>
            <a:r>
              <a:rPr lang="en-US" altLang="zh-CN" dirty="0"/>
              <a:t>C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9603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 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85761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 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28474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 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07180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2017</a:t>
            </a:r>
            <a:r>
              <a:rPr lang="zh-CN" altLang="en-US" dirty="0"/>
              <a:t>真题 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09659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 </a:t>
            </a:r>
            <a:r>
              <a:rPr lang="en-US" altLang="zh-CN" dirty="0"/>
              <a:t>B</a:t>
            </a:r>
          </a:p>
          <a:p>
            <a:r>
              <a:rPr lang="zh-CN" altLang="en-US" dirty="0"/>
              <a:t>前序相当于入栈序列</a:t>
            </a:r>
            <a:endParaRPr lang="en-US" altLang="zh-CN" dirty="0"/>
          </a:p>
          <a:p>
            <a:r>
              <a:rPr lang="zh-CN" altLang="en-US" dirty="0"/>
              <a:t>中序相当于出栈序列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90234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真题</a:t>
            </a:r>
            <a:r>
              <a:rPr lang="en-US" altLang="zh-CN" dirty="0"/>
              <a:t>	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18320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</a:t>
            </a:r>
            <a:r>
              <a:rPr lang="zh-CN" altLang="en-US" baseline="0" dirty="0"/>
              <a:t> </a:t>
            </a:r>
            <a:r>
              <a:rPr lang="en-US" altLang="zh-CN" baseline="0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58274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6926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0050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1853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2011</a:t>
            </a:r>
            <a:r>
              <a:rPr lang="zh-CN" altLang="en-US" dirty="0"/>
              <a:t>年真题，</a:t>
            </a:r>
            <a:r>
              <a:rPr lang="en-US" altLang="zh-CN" dirty="0"/>
              <a:t>D</a:t>
            </a:r>
            <a:r>
              <a:rPr lang="zh-CN" altLang="en-US" dirty="0"/>
              <a:t>，构造法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7182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0516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年真题，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07054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 </a:t>
            </a:r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802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4798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99235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56350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23481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0951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</a:t>
            </a:r>
            <a:r>
              <a:rPr lang="zh-CN" altLang="en-US" baseline="0" dirty="0"/>
              <a:t> </a:t>
            </a:r>
            <a:r>
              <a:rPr lang="en-US" altLang="zh-CN" baseline="0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9410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11399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 C</a:t>
            </a:r>
          </a:p>
          <a:p>
            <a:r>
              <a:rPr lang="en-US" altLang="zh-CN" dirty="0"/>
              <a:t>n</a:t>
            </a:r>
            <a:r>
              <a:rPr lang="zh-CN" altLang="en-US" dirty="0"/>
              <a:t>个符号构成哈夫曼树的过程中，共新建</a:t>
            </a:r>
            <a:r>
              <a:rPr lang="en-US" altLang="zh-CN" dirty="0"/>
              <a:t>n-1</a:t>
            </a:r>
            <a:r>
              <a:rPr lang="zh-CN" altLang="en-US" dirty="0"/>
              <a:t>个结点（双分支结点），因此哈夫曼树结点总数为</a:t>
            </a:r>
            <a:r>
              <a:rPr lang="en-US" altLang="zh-CN" dirty="0"/>
              <a:t>2n-1=115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</a:t>
            </a:r>
            <a:r>
              <a:rPr lang="en-US" altLang="zh-CN" dirty="0"/>
              <a:t>58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26136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4598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99826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2017 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649824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 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3677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r>
              <a:rPr lang="zh-CN" altLang="en-US"/>
              <a:t>，构造法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476338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真题</a:t>
            </a:r>
            <a:r>
              <a:rPr lang="en-US" altLang="zh-CN" dirty="0"/>
              <a:t>	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934857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真题</a:t>
            </a:r>
            <a:r>
              <a:rPr lang="en-US" altLang="zh-CN" dirty="0"/>
              <a:t>	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1238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en-US" altLang="zh-CN" dirty="0"/>
              <a:t>(3+4+5+6)*3+(8+10)*2 / (3+4+5+6+8+10) =2.5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1003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2017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852011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en-US" altLang="zh-CN" dirty="0"/>
              <a:t>e&lt;=n(n-1)/2</a:t>
            </a:r>
          </a:p>
          <a:p>
            <a:endParaRPr lang="en-US" altLang="zh-CN" dirty="0"/>
          </a:p>
          <a:p>
            <a:r>
              <a:rPr lang="en-US" altLang="zh-CN" dirty="0"/>
              <a:t>e=36</a:t>
            </a:r>
            <a:r>
              <a:rPr lang="zh-CN" altLang="en-US" dirty="0"/>
              <a:t>代入，</a:t>
            </a:r>
            <a:r>
              <a:rPr lang="en-US" altLang="zh-CN" dirty="0"/>
              <a:t>n&gt;=9</a:t>
            </a:r>
            <a:r>
              <a:rPr lang="zh-CN" altLang="en-US" dirty="0"/>
              <a:t>，于是取</a:t>
            </a:r>
            <a:r>
              <a:rPr lang="en-US" altLang="zh-CN" dirty="0"/>
              <a:t>10</a:t>
            </a:r>
            <a:r>
              <a:rPr lang="zh-CN" altLang="en-US" dirty="0"/>
              <a:t>，则可不连通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605360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006842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89139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真题， 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10849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97593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5671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77507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34015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7850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078999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58653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034648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457687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真题</a:t>
            </a:r>
            <a:r>
              <a:rPr lang="en-US" altLang="zh-CN" dirty="0"/>
              <a:t>	C</a:t>
            </a:r>
          </a:p>
          <a:p>
            <a:endParaRPr lang="en-US" altLang="zh-CN" dirty="0"/>
          </a:p>
          <a:p>
            <a:r>
              <a:rPr lang="zh-CN" altLang="en-US" dirty="0"/>
              <a:t>第一个</a:t>
            </a:r>
            <a:r>
              <a:rPr lang="en-US" altLang="zh-CN" dirty="0"/>
              <a:t>3</a:t>
            </a:r>
            <a:r>
              <a:rPr lang="zh-CN" altLang="en-US" dirty="0"/>
              <a:t>入集合，第二个</a:t>
            </a:r>
            <a:r>
              <a:rPr lang="en-US" altLang="zh-CN" dirty="0"/>
              <a:t>5</a:t>
            </a:r>
            <a:r>
              <a:rPr lang="zh-CN" altLang="en-US" dirty="0"/>
              <a:t>入集合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26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&amp;</a:t>
            </a:r>
            <a:r>
              <a:rPr lang="zh-CN" altLang="en-US" dirty="0"/>
              <a:t>，</a:t>
            </a:r>
            <a:r>
              <a:rPr lang="en-US" altLang="zh-CN" dirty="0"/>
              <a:t>6 -&gt; 25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&amp;</a:t>
            </a:r>
            <a:r>
              <a:rPr lang="zh-CN" altLang="en-US" dirty="0"/>
              <a:t>，</a:t>
            </a:r>
            <a:r>
              <a:rPr lang="en-US" altLang="zh-CN" dirty="0"/>
              <a:t>6 -&gt; 21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18436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30561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38980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2011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731620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190338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801855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093327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66904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367680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7205852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真题，</a:t>
            </a:r>
            <a:r>
              <a:rPr lang="en-US" altLang="zh-CN"/>
              <a:t>B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440248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814402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704554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320051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804761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13967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786669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真题</a:t>
            </a:r>
            <a:r>
              <a:rPr lang="en-US" altLang="zh-CN" dirty="0"/>
              <a:t>	D</a:t>
            </a:r>
          </a:p>
          <a:p>
            <a:endParaRPr lang="en-US" altLang="zh-CN" dirty="0"/>
          </a:p>
          <a:p>
            <a:r>
              <a:rPr lang="zh-CN" altLang="en-US" dirty="0"/>
              <a:t>使用折半查找的前提有两个：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有序：该数据结构中包含的所有关键字有序。</a:t>
            </a:r>
          </a:p>
          <a:p>
            <a:r>
              <a:rPr lang="en-US" altLang="zh-CN" dirty="0"/>
              <a:t>-</a:t>
            </a:r>
            <a:r>
              <a:rPr lang="zh-CN" altLang="en-US" dirty="0"/>
              <a:t>支持随机访问：该数据结构支持按下标访问关键字，默认该数据结构为数组。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38842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2011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25736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772731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99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125010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697074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055135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618284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94407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22638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173174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40764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红节点最多可以是黑节点</a:t>
            </a:r>
            <a:r>
              <a:rPr lang="en-US" altLang="zh-CN" dirty="0"/>
              <a:t>2</a:t>
            </a:r>
            <a:r>
              <a:rPr lang="zh-CN" altLang="en-US" dirty="0"/>
              <a:t>倍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38698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</a:p>
          <a:p>
            <a:endParaRPr lang="en-US" altLang="zh-CN" dirty="0"/>
          </a:p>
          <a:p>
            <a:r>
              <a:rPr lang="en-US" altLang="zh-CN" dirty="0"/>
              <a:t>B</a:t>
            </a:r>
            <a:r>
              <a:rPr lang="zh-CN" altLang="en-US" dirty="0"/>
              <a:t>不满足</a:t>
            </a:r>
            <a:r>
              <a:rPr lang="en-US" altLang="zh-CN" dirty="0"/>
              <a:t>BST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节点</a:t>
            </a:r>
            <a:r>
              <a:rPr lang="en-US" altLang="zh-CN" dirty="0"/>
              <a:t>2</a:t>
            </a:r>
            <a:r>
              <a:rPr lang="zh-CN" altLang="en-US" dirty="0"/>
              <a:t>的左右黑节点数不同</a:t>
            </a:r>
            <a:endParaRPr lang="en-US" altLang="zh-CN" dirty="0"/>
          </a:p>
          <a:p>
            <a:r>
              <a:rPr lang="en-US" altLang="zh-CN" dirty="0"/>
              <a:t>D</a:t>
            </a:r>
            <a:r>
              <a:rPr lang="zh-CN" altLang="en-US" dirty="0"/>
              <a:t>节点</a:t>
            </a:r>
            <a:r>
              <a:rPr lang="en-US" altLang="zh-CN" dirty="0"/>
              <a:t>3</a:t>
            </a:r>
            <a:r>
              <a:rPr lang="zh-CN" altLang="en-US" dirty="0"/>
              <a:t>的左右黑节点数不同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83741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</a:p>
          <a:p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为红节点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300326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58444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9108355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144842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61144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6719307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053971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018736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322618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2017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86967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816847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2011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122642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65102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24989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65581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真题，</a:t>
            </a:r>
            <a:r>
              <a:rPr lang="en-US" altLang="zh-CN" dirty="0"/>
              <a:t>1.8</a:t>
            </a:r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1+3+2+1+2</a:t>
            </a:r>
            <a:r>
              <a:rPr lang="zh-CN" altLang="en-US" dirty="0"/>
              <a:t>）</a:t>
            </a:r>
            <a:r>
              <a:rPr lang="en-US" altLang="zh-CN" dirty="0"/>
              <a:t>/5 = 1.8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446939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真题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65886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376038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16744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516259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168242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4D707-EC26-448D-9DF7-FBF7D49397DE}" type="slidenum">
              <a:rPr lang="en-US" altLang="zh-CN" smtClean="0"/>
              <a:pPr/>
              <a:t>130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557182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2011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8295492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4D707-EC26-448D-9DF7-FBF7D49397DE}" type="slidenum">
              <a:rPr lang="en-US" altLang="zh-CN" smtClean="0"/>
              <a:pPr/>
              <a:t>132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185679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2014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4D707-EC26-448D-9DF7-FBF7D49397DE}" type="slidenum">
              <a:rPr lang="en-US" altLang="zh-CN" smtClean="0"/>
              <a:pPr/>
              <a:t>133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792223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5051878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真题，大题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585479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728084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763369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23980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年真题，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937883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4D707-EC26-448D-9DF7-FBF7D49397DE}" type="slidenum">
              <a:rPr lang="en-US" altLang="zh-CN" smtClean="0"/>
              <a:pPr/>
              <a:t>140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131524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F4D707-EC26-448D-9DF7-FBF7D49397DE}" type="slidenum">
              <a:rPr lang="en-US" altLang="zh-CN" smtClean="0"/>
              <a:pPr/>
              <a:t>141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723013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2011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674137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631564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353699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391656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2017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003079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475166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5315398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4986985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865463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387152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2625326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657615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2010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3591617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2012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9473127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405583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2017</a:t>
            </a:r>
            <a:r>
              <a:rPr lang="zh-CN" altLang="en-US" dirty="0"/>
              <a:t>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5671747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年真题，</a:t>
            </a:r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331725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真题，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9488119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真题</a:t>
            </a:r>
            <a:r>
              <a:rPr lang="en-US" altLang="zh-CN" dirty="0"/>
              <a:t>	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730782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85370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(rear==m-1)&amp;&amp;(front!=-1)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n-i+2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sz="14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103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363626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kern="1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h-1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r>
              <a:rPr lang="zh-CN" altLang="en-US" dirty="0"/>
              <a:t>左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14/5</a:t>
            </a:r>
            <a:r>
              <a:rPr lang="zh-CN" altLang="zh-CN" sz="9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或</a:t>
            </a:r>
            <a:r>
              <a:rPr lang="en-US" altLang="zh-CN" sz="9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2.8 ((1+2+3+4+4)/5)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8784419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0</a:t>
            </a:r>
          </a:p>
          <a:p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en-US" altLang="zh-CN" sz="14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55</a:t>
            </a:r>
          </a:p>
          <a:p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en-US" altLang="zh-CN" sz="14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22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9412402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n+e</a:t>
            </a:r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zh-CN" altLang="zh-CN" sz="14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不一定、一定</a:t>
            </a:r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nlog</a:t>
            </a:r>
            <a:r>
              <a:rPr lang="en-US" altLang="zh-CN" sz="1800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r>
              <a:rPr lang="zh-CN" altLang="zh-CN" sz="14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选择排序、快速排序、堆排序，上述排序方法中任意两种都可以</a:t>
            </a:r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en-US" altLang="zh-CN" sz="1400" kern="1200" dirty="0"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1357772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初始化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5943254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不带表尾指针的尾插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3976523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可以考虑加个尾指针，这个是基本操作函数抽象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60905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加上尾指针后的模拟操作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9912630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大家也可以考虑下不带头结点的情况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2116738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偷天换日的做法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4190669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万一</a:t>
            </a:r>
            <a:r>
              <a:rPr lang="en-US" altLang="zh-CN" dirty="0"/>
              <a:t>p</a:t>
            </a:r>
            <a:r>
              <a:rPr lang="zh-CN" altLang="en-US" dirty="0"/>
              <a:t>是最后一个结点就踢上铁板了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184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1130828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2009</a:t>
            </a:r>
            <a:r>
              <a:rPr lang="zh-CN" altLang="en-US" dirty="0"/>
              <a:t>年真题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2019</a:t>
            </a:r>
            <a:r>
              <a:rPr lang="zh-CN" altLang="en-US" dirty="0"/>
              <a:t>年真题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186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9748588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真题，大题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202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2355349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207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994565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年真题，</a:t>
            </a:r>
            <a:r>
              <a:rPr lang="en-US" altLang="zh-CN" dirty="0"/>
              <a:t>D</a:t>
            </a:r>
          </a:p>
          <a:p>
            <a:endParaRPr lang="en-US" altLang="zh-CN" dirty="0"/>
          </a:p>
          <a:p>
            <a:r>
              <a:rPr lang="zh-CN" altLang="en-US" dirty="0"/>
              <a:t>要考虑是否只有一个元素的情况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118416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8143132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zh-CN" altLang="en-US" dirty="0"/>
              <a:t>要求该共享栈在一端非空时，栈指针指向当前元素的下一位置，因此栈满时</a:t>
            </a:r>
            <a:r>
              <a:rPr lang="en-US" altLang="zh-CN" dirty="0"/>
              <a:t>S1</a:t>
            </a:r>
            <a:r>
              <a:rPr lang="zh-CN" altLang="en-US" dirty="0"/>
              <a:t>的栈顶指针应该大于</a:t>
            </a:r>
            <a:r>
              <a:rPr lang="en-US" altLang="zh-CN" dirty="0"/>
              <a:t>S2</a:t>
            </a:r>
            <a:r>
              <a:rPr lang="zh-CN" altLang="en-US" dirty="0"/>
              <a:t>的栈顶指针，应满足</a:t>
            </a:r>
            <a:r>
              <a:rPr lang="en-US" altLang="zh-CN" dirty="0"/>
              <a:t>S1.TOP-S2.TOP=1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917608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</a:p>
          <a:p>
            <a:endParaRPr lang="en-US" altLang="zh-CN" dirty="0"/>
          </a:p>
          <a:p>
            <a:r>
              <a:rPr lang="en-US" altLang="zh-CN" dirty="0"/>
              <a:t>1000</a:t>
            </a:r>
            <a:r>
              <a:rPr lang="zh-CN" altLang="en-US" dirty="0"/>
              <a:t>个表项，每个表项占用字节数为</a:t>
            </a:r>
            <a:r>
              <a:rPr lang="en-US" altLang="zh-CN" dirty="0"/>
              <a:t>2+2+4=8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30426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真题，</a:t>
            </a:r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zh-CN" altLang="en-US" dirty="0"/>
              <a:t>可知</a:t>
            </a:r>
            <a:r>
              <a:rPr lang="en-US" altLang="zh-CN" dirty="0"/>
              <a:t>A[3][3]</a:t>
            </a:r>
            <a:r>
              <a:rPr lang="zh-CN" altLang="en-US" dirty="0"/>
              <a:t>是二维数组的</a:t>
            </a:r>
            <a:r>
              <a:rPr lang="en-US" altLang="zh-CN" dirty="0"/>
              <a:t>121</a:t>
            </a:r>
            <a:r>
              <a:rPr lang="zh-CN" altLang="en-US" dirty="0"/>
              <a:t>个元素，假定每行</a:t>
            </a:r>
            <a:r>
              <a:rPr lang="en-US" altLang="zh-CN" dirty="0"/>
              <a:t>n</a:t>
            </a:r>
            <a:r>
              <a:rPr lang="zh-CN" altLang="en-US" dirty="0"/>
              <a:t>个元素，则</a:t>
            </a:r>
            <a:r>
              <a:rPr lang="en-US" altLang="zh-CN" dirty="0"/>
              <a:t>3n+4=121</a:t>
            </a:r>
            <a:r>
              <a:rPr lang="zh-CN" altLang="en-US" dirty="0"/>
              <a:t>，</a:t>
            </a:r>
            <a:r>
              <a:rPr lang="en-US" altLang="zh-CN" dirty="0"/>
              <a:t>n=39</a:t>
            </a:r>
            <a:r>
              <a:rPr lang="zh-CN" altLang="en-US" dirty="0"/>
              <a:t>，故</a:t>
            </a:r>
            <a:r>
              <a:rPr lang="en-US" altLang="zh-CN" dirty="0"/>
              <a:t>A[5][5]</a:t>
            </a:r>
            <a:r>
              <a:rPr lang="zh-CN" altLang="en-US" dirty="0"/>
              <a:t>地址为</a:t>
            </a:r>
            <a:r>
              <a:rPr lang="en-US" altLang="zh-CN" dirty="0"/>
              <a:t>100+39</a:t>
            </a:r>
            <a:r>
              <a:rPr lang="zh-CN" altLang="en-US" dirty="0"/>
              <a:t>*</a:t>
            </a:r>
            <a:r>
              <a:rPr lang="en-US" altLang="zh-CN" dirty="0"/>
              <a:t>5+6-1=300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3331213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真题  </a:t>
            </a:r>
            <a:r>
              <a:rPr lang="en-US" altLang="zh-CN" dirty="0"/>
              <a:t>A</a:t>
            </a:r>
          </a:p>
          <a:p>
            <a:endParaRPr lang="en-US" altLang="zh-CN" dirty="0"/>
          </a:p>
          <a:p>
            <a:r>
              <a:rPr lang="zh-CN" altLang="en-US" dirty="0"/>
              <a:t>子串</a:t>
            </a:r>
            <a:r>
              <a:rPr lang="en-US" altLang="zh-CN" dirty="0"/>
              <a:t>S</a:t>
            </a:r>
            <a:r>
              <a:rPr lang="zh-CN" altLang="en-US" dirty="0"/>
              <a:t>的</a:t>
            </a:r>
            <a:r>
              <a:rPr lang="en-US" altLang="zh-CN" dirty="0"/>
              <a:t>next</a:t>
            </a:r>
            <a:r>
              <a:rPr lang="zh-CN" altLang="en-US" dirty="0"/>
              <a:t>和</a:t>
            </a:r>
            <a:r>
              <a:rPr lang="en-US" altLang="zh-CN" dirty="0" err="1"/>
              <a:t>nextval</a:t>
            </a:r>
            <a:r>
              <a:rPr lang="zh-CN" altLang="en-US" dirty="0"/>
              <a:t>数组如下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effectLst/>
              </a:rPr>
              <a:t>下标 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		012345</a:t>
            </a:r>
          </a:p>
          <a:p>
            <a:r>
              <a:rPr lang="zh-CN" altLang="en-US" dirty="0">
                <a:effectLst/>
              </a:rPr>
              <a:t>字符 </a:t>
            </a:r>
            <a:r>
              <a:rPr lang="en-US" altLang="zh-CN" dirty="0">
                <a:effectLst/>
              </a:rPr>
              <a:t>S[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		</a:t>
            </a:r>
            <a:r>
              <a:rPr lang="en-US" altLang="zh-CN" dirty="0" err="1">
                <a:effectLst/>
              </a:rPr>
              <a:t>aabaab</a:t>
            </a:r>
            <a:endParaRPr lang="en-US" altLang="zh-CN" dirty="0">
              <a:effectLst/>
            </a:endParaRPr>
          </a:p>
          <a:p>
            <a:r>
              <a:rPr lang="en-US" altLang="zh-CN" dirty="0">
                <a:effectLst/>
              </a:rPr>
              <a:t>next[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		-101012</a:t>
            </a:r>
          </a:p>
          <a:p>
            <a:r>
              <a:rPr lang="zh-CN" altLang="en-US" dirty="0">
                <a:effectLst/>
              </a:rPr>
              <a:t>修正后的</a:t>
            </a:r>
            <a:r>
              <a:rPr lang="en-US" altLang="zh-CN" dirty="0">
                <a:effectLst/>
              </a:rPr>
              <a:t>next[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	-1-11-1-11</a:t>
            </a:r>
          </a:p>
          <a:p>
            <a:r>
              <a:rPr lang="en-US" altLang="zh-CN" dirty="0">
                <a:effectLst/>
              </a:rPr>
              <a:t>S[</a:t>
            </a:r>
            <a:r>
              <a:rPr lang="en-US" altLang="zh-CN" dirty="0" err="1">
                <a:effectLst/>
              </a:rPr>
              <a:t>i</a:t>
            </a:r>
            <a:r>
              <a:rPr lang="en-US" altLang="zh-CN" dirty="0">
                <a:effectLst/>
              </a:rPr>
              <a:t>] </a:t>
            </a:r>
            <a:r>
              <a:rPr lang="zh-CN" altLang="en-US" dirty="0">
                <a:effectLst/>
              </a:rPr>
              <a:t>失配后移动距离</a:t>
            </a:r>
            <a:r>
              <a:rPr lang="en-US" altLang="zh-CN" dirty="0">
                <a:effectLst/>
              </a:rPr>
              <a:t>	121454</a:t>
            </a:r>
          </a:p>
          <a:p>
            <a:endParaRPr lang="en-US" altLang="zh-CN" dirty="0">
              <a:effectLst/>
            </a:endParaRPr>
          </a:p>
          <a:p>
            <a:r>
              <a:rPr lang="zh-CN" altLang="en-US" dirty="0"/>
              <a:t>其中滑动距离计为 </a:t>
            </a:r>
            <a:r>
              <a:rPr lang="en-US" altLang="zh-CN" dirty="0" err="1"/>
              <a:t>i</a:t>
            </a:r>
            <a:r>
              <a:rPr lang="en-US" altLang="zh-CN" dirty="0"/>
              <a:t> – </a:t>
            </a:r>
            <a:r>
              <a:rPr lang="en-US" altLang="zh-CN" dirty="0" err="1"/>
              <a:t>nextval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8126793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</a:p>
          <a:p>
            <a:endParaRPr lang="en-US" altLang="zh-CN" dirty="0"/>
          </a:p>
          <a:p>
            <a:r>
              <a:rPr lang="zh-CN" altLang="en-US" dirty="0"/>
              <a:t>顺序存储是</a:t>
            </a:r>
            <a:r>
              <a:rPr lang="en-US" altLang="zh-CN" dirty="0" err="1"/>
              <a:t>kd</a:t>
            </a:r>
            <a:r>
              <a:rPr lang="zh-CN" altLang="en-US" dirty="0"/>
              <a:t>，链表是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d+12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 err="1"/>
              <a:t>kd</a:t>
            </a:r>
            <a:r>
              <a:rPr lang="en-US" altLang="zh-CN" dirty="0"/>
              <a:t>&lt;n(d+12)</a:t>
            </a:r>
          </a:p>
          <a:p>
            <a:endParaRPr lang="en-US" altLang="zh-CN" dirty="0"/>
          </a:p>
          <a:p>
            <a:r>
              <a:rPr lang="en-US" altLang="zh-CN" dirty="0"/>
              <a:t>d&lt;12n/(d-k)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859243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年真题</a:t>
            </a:r>
            <a:r>
              <a:rPr lang="en-US" altLang="zh-CN" dirty="0"/>
              <a:t>	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1112442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真题</a:t>
            </a:r>
            <a:r>
              <a:rPr lang="en-US" altLang="zh-CN" dirty="0"/>
              <a:t>	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4014683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5193404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en-US" altLang="zh-CN" dirty="0"/>
              <a:t>1100 1101 1110 1111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183992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</a:p>
          <a:p>
            <a:endParaRPr lang="en-US" altLang="zh-CN" dirty="0"/>
          </a:p>
          <a:p>
            <a:r>
              <a:rPr lang="en-US" altLang="zh-CN" dirty="0"/>
              <a:t>e&lt;=n(n-1)/2</a:t>
            </a:r>
          </a:p>
          <a:p>
            <a:endParaRPr lang="en-US" altLang="zh-CN" dirty="0"/>
          </a:p>
          <a:p>
            <a:r>
              <a:rPr lang="en-US" altLang="zh-CN" dirty="0"/>
              <a:t>e=36</a:t>
            </a:r>
            <a:r>
              <a:rPr lang="zh-CN" altLang="en-US" dirty="0"/>
              <a:t>代入，</a:t>
            </a:r>
            <a:r>
              <a:rPr lang="en-US" altLang="zh-CN" dirty="0"/>
              <a:t>n&gt;=9</a:t>
            </a:r>
            <a:r>
              <a:rPr lang="zh-CN" altLang="en-US" dirty="0"/>
              <a:t>，于是取</a:t>
            </a:r>
            <a:r>
              <a:rPr lang="en-US" altLang="zh-CN" dirty="0"/>
              <a:t>10</a:t>
            </a:r>
            <a:r>
              <a:rPr lang="zh-CN" altLang="en-US" dirty="0"/>
              <a:t>，则可不连通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40953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2013</a:t>
            </a:r>
            <a:r>
              <a:rPr lang="zh-CN" altLang="en-US" dirty="0"/>
              <a:t>真题，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6979478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725292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[2,3,1,3,6,5]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pPr>
                <a:defRPr/>
              </a:pPr>
              <a:t>229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9713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3155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1320800" y="17526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83155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320800" y="3309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E8257D-4324-4B54-84F1-9DF7643E6C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449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4622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E908A-4C76-459A-A336-37A616541AF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92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131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F5805-154D-4E02-8BA6-8EF81656EB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2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8223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D377F-8464-43C9-A800-6DC803F35E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927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B7E49-A5DE-4565-B108-DFEFBDF55E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2305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9E671-B5A5-44DF-9119-2707DFA0BA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71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954A3-4CD6-4380-9755-D58C5B8234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016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66700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304800"/>
            <a:ext cx="77978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51B09-66EC-45E5-AE1C-5A8D558185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965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048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9050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30529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3053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71141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dirty="0" smtClean="0">
                <a:latin typeface="+mn-lt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30531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fld id="{A9383992-8E9F-402F-903C-68A540BFA1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8" name="页脚占位符 3"/>
          <p:cNvSpPr txBox="1">
            <a:spLocks/>
          </p:cNvSpPr>
          <p:nvPr userDrawn="1"/>
        </p:nvSpPr>
        <p:spPr bwMode="auto">
          <a:xfrm>
            <a:off x="4165600" y="6248400"/>
            <a:ext cx="701896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 dirty="0" smtClean="0">
                <a:solidFill>
                  <a:schemeClr val="tx1"/>
                </a:solidFill>
                <a:latin typeface="+mn-lt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/>
              <a:t>复旦大学软件学院</a:t>
            </a:r>
            <a:r>
              <a:rPr lang="en-US" altLang="zh-CN" sz="1400" dirty="0"/>
              <a:t>2024</a:t>
            </a:r>
            <a:r>
              <a:rPr lang="zh-CN" altLang="en-US" sz="1400" dirty="0"/>
              <a:t>秋 </a:t>
            </a:r>
            <a:r>
              <a:rPr lang="en-US" altLang="zh-CN" sz="1400" dirty="0"/>
              <a:t>Data Structure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/>
              <a:t>Data Structure</a:t>
            </a: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sz="3600" dirty="0">
                <a:ea typeface="华文行楷" pitchFamily="2" charset="-122"/>
              </a:rPr>
              <a:t>复旦大学软件学院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DS</a:t>
            </a:r>
            <a:r>
              <a:rPr lang="zh-CN" altLang="en-US" dirty="0"/>
              <a:t>概览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215137"/>
            <a:ext cx="7704855" cy="6570854"/>
          </a:xfrm>
        </p:spPr>
      </p:pic>
    </p:spTree>
    <p:extLst>
      <p:ext uri="{BB962C8B-B14F-4D97-AF65-F5344CB8AC3E}">
        <p14:creationId xmlns:p14="http://schemas.microsoft.com/office/powerpoint/2010/main" val="194773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重点难点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endParaRPr lang="en-US" altLang="zh-CN" dirty="0"/>
          </a:p>
          <a:p>
            <a:pPr lvl="1"/>
            <a:r>
              <a:rPr lang="zh-CN" altLang="en-US" dirty="0"/>
              <a:t>时间复杂度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线性表</a:t>
            </a:r>
            <a:endParaRPr lang="en-US" altLang="zh-CN" dirty="0"/>
          </a:p>
          <a:p>
            <a:pPr lvl="1"/>
            <a:r>
              <a:rPr lang="zh-CN" altLang="en-US" dirty="0"/>
              <a:t>链表操作</a:t>
            </a:r>
            <a:endParaRPr lang="en-US" altLang="zh-CN" dirty="0"/>
          </a:p>
          <a:p>
            <a:pPr lvl="1"/>
            <a:r>
              <a:rPr lang="zh-CN" altLang="en-US" dirty="0"/>
              <a:t>栈的概念和应用</a:t>
            </a:r>
            <a:endParaRPr lang="en-US" altLang="zh-CN" dirty="0"/>
          </a:p>
          <a:p>
            <a:pPr lvl="1"/>
            <a:r>
              <a:rPr lang="zh-CN" altLang="en-US" dirty="0"/>
              <a:t>环形队列</a:t>
            </a:r>
            <a:endParaRPr lang="en-US" altLang="zh-CN" dirty="0"/>
          </a:p>
          <a:p>
            <a:pPr lvl="1"/>
            <a:r>
              <a:rPr lang="zh-CN" altLang="en-US" dirty="0"/>
              <a:t>特殊矩阵存储</a:t>
            </a:r>
            <a:endParaRPr lang="en-US" altLang="zh-CN" dirty="0"/>
          </a:p>
          <a:p>
            <a:pPr lvl="1"/>
            <a:r>
              <a:rPr lang="zh-CN" altLang="en-US" dirty="0"/>
              <a:t>串的匹配</a:t>
            </a:r>
            <a:endParaRPr lang="en-US" altLang="zh-CN" dirty="0"/>
          </a:p>
          <a:p>
            <a:pPr lvl="1"/>
            <a:r>
              <a:rPr lang="zh-CN" altLang="en-US" dirty="0"/>
              <a:t>广义表</a:t>
            </a:r>
            <a:r>
              <a:rPr lang="en-US" altLang="zh-CN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27322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重点难点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  <a:endParaRPr lang="en-US" altLang="zh-CN" dirty="0"/>
          </a:p>
          <a:p>
            <a:pPr lvl="1"/>
            <a:r>
              <a:rPr lang="zh-CN" altLang="en-US" dirty="0"/>
              <a:t>二叉树的基本概念和性质</a:t>
            </a:r>
            <a:endParaRPr lang="en-US" altLang="zh-CN" dirty="0"/>
          </a:p>
          <a:p>
            <a:pPr lvl="1"/>
            <a:r>
              <a:rPr lang="zh-CN" altLang="en-US" dirty="0"/>
              <a:t>二叉树的遍历</a:t>
            </a:r>
            <a:endParaRPr lang="en-US" altLang="zh-CN" dirty="0"/>
          </a:p>
          <a:p>
            <a:pPr lvl="1"/>
            <a:r>
              <a:rPr lang="zh-CN" altLang="en-US" dirty="0"/>
              <a:t>哈夫曼树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  <a:endParaRPr lang="en-US" altLang="zh-CN" dirty="0"/>
          </a:p>
          <a:p>
            <a:pPr lvl="1"/>
            <a:r>
              <a:rPr lang="zh-CN" altLang="en-US" dirty="0"/>
              <a:t>图的基本概念和存储</a:t>
            </a:r>
            <a:endParaRPr lang="en-US" altLang="zh-CN" dirty="0"/>
          </a:p>
          <a:p>
            <a:pPr lvl="1"/>
            <a:r>
              <a:rPr lang="zh-CN" altLang="en-US" dirty="0"/>
              <a:t>最小生成树</a:t>
            </a:r>
            <a:endParaRPr lang="en-US" altLang="zh-CN" dirty="0"/>
          </a:p>
          <a:p>
            <a:pPr lvl="1"/>
            <a:r>
              <a:rPr lang="en-US" altLang="zh-CN" dirty="0" err="1"/>
              <a:t>Dijkstra</a:t>
            </a:r>
            <a:r>
              <a:rPr lang="zh-CN" altLang="en-US" dirty="0"/>
              <a:t>算法及代码</a:t>
            </a:r>
            <a:endParaRPr lang="en-US" altLang="zh-CN" dirty="0"/>
          </a:p>
          <a:p>
            <a:pPr lvl="1"/>
            <a:r>
              <a:rPr lang="zh-CN" altLang="en-US" dirty="0"/>
              <a:t>关键路径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529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重点难点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  <a:endParaRPr lang="en-US" altLang="zh-CN" dirty="0"/>
          </a:p>
          <a:p>
            <a:pPr lvl="1"/>
            <a:r>
              <a:rPr lang="en-US" altLang="zh-CN" dirty="0"/>
              <a:t>AVL</a:t>
            </a:r>
            <a:r>
              <a:rPr lang="zh-CN" altLang="en-US" dirty="0"/>
              <a:t>树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树</a:t>
            </a:r>
            <a:endParaRPr lang="en-US" altLang="zh-CN" dirty="0"/>
          </a:p>
          <a:p>
            <a:pPr lvl="1"/>
            <a:r>
              <a:rPr lang="en-US" altLang="zh-CN" dirty="0"/>
              <a:t>Hash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快速排序</a:t>
            </a:r>
            <a:endParaRPr lang="en-US" altLang="zh-CN" dirty="0"/>
          </a:p>
          <a:p>
            <a:pPr lvl="1"/>
            <a:r>
              <a:rPr lang="zh-CN" altLang="en-US" dirty="0"/>
              <a:t>堆排序</a:t>
            </a:r>
            <a:endParaRPr lang="en-US" altLang="zh-CN" dirty="0"/>
          </a:p>
          <a:p>
            <a:pPr lvl="1"/>
            <a:r>
              <a:rPr lang="zh-CN" altLang="en-US" dirty="0"/>
              <a:t>排序的比较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284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真题复习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3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下列程序的时间复杂度是（）</a:t>
            </a:r>
          </a:p>
          <a:p>
            <a:pPr marL="0" indent="0">
              <a:buNone/>
            </a:pPr>
            <a:r>
              <a:rPr lang="en-US" altLang="zh-CN" dirty="0"/>
              <a:t>    count = 0;</a:t>
            </a:r>
          </a:p>
          <a:p>
            <a:pPr marL="0" indent="0">
              <a:buNone/>
            </a:pPr>
            <a:r>
              <a:rPr lang="en-US" altLang="zh-CN" dirty="0"/>
              <a:t>    for(k=1;k&lt;=</a:t>
            </a:r>
            <a:r>
              <a:rPr lang="en-US" altLang="zh-CN" dirty="0" err="1"/>
              <a:t>n;k</a:t>
            </a:r>
            <a:r>
              <a:rPr lang="en-US" altLang="zh-CN" dirty="0"/>
              <a:t>*=2)</a:t>
            </a:r>
          </a:p>
          <a:p>
            <a:pPr marL="0" indent="0">
              <a:buNone/>
            </a:pPr>
            <a:r>
              <a:rPr lang="en-US" altLang="zh-CN" dirty="0"/>
              <a:t>        for(j=1;j&lt;=</a:t>
            </a:r>
            <a:r>
              <a:rPr lang="en-US" altLang="zh-CN" dirty="0" err="1"/>
              <a:t>n;j</a:t>
            </a:r>
            <a:r>
              <a:rPr lang="en-US" altLang="zh-CN" dirty="0"/>
              <a:t>++)</a:t>
            </a:r>
          </a:p>
          <a:p>
            <a:pPr marL="0" indent="0">
              <a:buNone/>
            </a:pPr>
            <a:r>
              <a:rPr lang="en-US" altLang="zh-CN" dirty="0"/>
              <a:t>	       count++;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O(log 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 log 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125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下列程序的时间复杂度是（）</a:t>
            </a:r>
          </a:p>
          <a:p>
            <a:pPr marL="0" indent="0">
              <a:buNone/>
            </a:pPr>
            <a:r>
              <a:rPr lang="en-US" altLang="zh-CN" dirty="0"/>
              <a:t>    void fun(</a:t>
            </a:r>
            <a:r>
              <a:rPr lang="en-US" altLang="zh-CN" dirty="0" err="1"/>
              <a:t>int</a:t>
            </a:r>
            <a:r>
              <a:rPr lang="en-US" altLang="zh-CN" dirty="0"/>
              <a:t> n){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=0;</a:t>
            </a:r>
          </a:p>
          <a:p>
            <a:pPr marL="0" indent="0">
              <a:buNone/>
            </a:pPr>
            <a:r>
              <a:rPr lang="en-US" altLang="zh-CN" dirty="0"/>
              <a:t>	while(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&lt;=n)</a:t>
            </a:r>
          </a:p>
          <a:p>
            <a:pPr marL="0" indent="0">
              <a:buNone/>
            </a:pPr>
            <a:r>
              <a:rPr lang="en-US" altLang="zh-CN" dirty="0"/>
              <a:t>	   </a:t>
            </a:r>
            <a:r>
              <a:rPr lang="en-US" altLang="zh-CN" dirty="0" err="1"/>
              <a:t>i</a:t>
            </a:r>
            <a:r>
              <a:rPr lang="en-US" altLang="zh-CN" dirty="0"/>
              <a:t>++;	}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O(log 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O(n^1/3)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O(n^1/2)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465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下列程序的时间复杂度是（）</a:t>
            </a:r>
          </a:p>
          <a:p>
            <a:pPr marL="0" indent="0">
              <a:buNone/>
            </a:pPr>
            <a:r>
              <a:rPr lang="en-US" altLang="zh-CN" dirty="0"/>
              <a:t>    x = 0;</a:t>
            </a:r>
          </a:p>
          <a:p>
            <a:pPr marL="0" indent="0">
              <a:buNone/>
            </a:pPr>
            <a:r>
              <a:rPr lang="en-US" altLang="zh-CN" dirty="0"/>
              <a:t>    while(n&gt;=(x+1)*(x+1))</a:t>
            </a:r>
          </a:p>
          <a:p>
            <a:pPr marL="0" indent="0">
              <a:buNone/>
            </a:pPr>
            <a:r>
              <a:rPr lang="en-US" altLang="zh-CN" dirty="0"/>
              <a:t>      x = x+1;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O(log n)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O(n^2)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O(n^1/2)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49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链表与时间复杂度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将长度为</a:t>
            </a:r>
            <a:r>
              <a:rPr lang="en-US" altLang="zh-CN" dirty="0"/>
              <a:t>n</a:t>
            </a:r>
            <a:r>
              <a:rPr lang="zh-CN" altLang="en-US" dirty="0"/>
              <a:t>的单链表链接在长度为</a:t>
            </a:r>
            <a:r>
              <a:rPr lang="en-US" altLang="zh-CN" dirty="0"/>
              <a:t>m</a:t>
            </a:r>
            <a:r>
              <a:rPr lang="zh-CN" altLang="en-US" dirty="0"/>
              <a:t>的单链表后面，其算法复杂度采用大</a:t>
            </a:r>
            <a:r>
              <a:rPr lang="en-US" altLang="zh-CN" dirty="0"/>
              <a:t>O</a:t>
            </a:r>
            <a:r>
              <a:rPr lang="zh-CN" altLang="en-US" dirty="0"/>
              <a:t>形式表示应该是（）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O(1)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O(m)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</a:t>
            </a:r>
            <a:r>
              <a:rPr lang="en-US" altLang="zh-CN" dirty="0" err="1"/>
              <a:t>m+n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111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链表与时间复杂度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已知两个长度分别为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的升序链表，若将他们合并为长度为</a:t>
            </a:r>
            <a:r>
              <a:rPr lang="en-US" altLang="zh-CN" dirty="0" err="1"/>
              <a:t>m+n</a:t>
            </a:r>
            <a:r>
              <a:rPr lang="zh-CN" altLang="en-US" dirty="0"/>
              <a:t>的一个降序链表，则最坏情况下的时间复杂度为（）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</a:t>
            </a:r>
            <a:r>
              <a:rPr lang="en-US" altLang="zh-CN" dirty="0" err="1"/>
              <a:t>mn</a:t>
            </a:r>
            <a:r>
              <a:rPr lang="en-US" altLang="zh-CN" dirty="0"/>
              <a:t>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O(min(</a:t>
            </a:r>
            <a:r>
              <a:rPr lang="en-US" altLang="zh-CN" dirty="0" err="1"/>
              <a:t>m,n</a:t>
            </a:r>
            <a:r>
              <a:rPr lang="en-US" altLang="zh-CN" dirty="0"/>
              <a:t>))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O(max(</a:t>
            </a:r>
            <a:r>
              <a:rPr lang="en-US" altLang="zh-CN" dirty="0" err="1"/>
              <a:t>m,n</a:t>
            </a:r>
            <a:r>
              <a:rPr lang="en-US" altLang="zh-CN" dirty="0"/>
              <a:t>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558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链表与时间复杂度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已知单链表</a:t>
            </a:r>
            <a:r>
              <a:rPr lang="en-US" altLang="zh-CN" dirty="0"/>
              <a:t>L</a:t>
            </a:r>
            <a:r>
              <a:rPr lang="zh-CN" altLang="en-US" dirty="0"/>
              <a:t>，查找链表中倒数第</a:t>
            </a:r>
            <a:r>
              <a:rPr lang="en-US" altLang="zh-CN" dirty="0"/>
              <a:t>k</a:t>
            </a:r>
            <a:r>
              <a:rPr lang="zh-CN" altLang="en-US" dirty="0"/>
              <a:t>个位置上节点代码的最优时间复杂度是（）。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O(log n)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O(n^2)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/>
              <a:t>O(k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40809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双向链表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7600" y="1905000"/>
            <a:ext cx="10955064" cy="4114800"/>
          </a:xfrm>
        </p:spPr>
        <p:txBody>
          <a:bodyPr/>
          <a:lstStyle/>
          <a:p>
            <a:r>
              <a:rPr lang="zh-CN" altLang="en-US" dirty="0"/>
              <a:t>已知带有头结点的双向链表</a:t>
            </a:r>
            <a:r>
              <a:rPr lang="en-US" altLang="zh-CN" dirty="0"/>
              <a:t>L</a:t>
            </a:r>
            <a:r>
              <a:rPr lang="zh-CN" altLang="en-US" dirty="0"/>
              <a:t>，结点结构为</a:t>
            </a:r>
            <a:br>
              <a:rPr lang="en-US" altLang="zh-CN" dirty="0"/>
            </a:br>
            <a:r>
              <a:rPr lang="zh-CN" altLang="en-US" dirty="0"/>
              <a:t>现在要删除指针</a:t>
            </a:r>
            <a:r>
              <a:rPr lang="en-US" altLang="zh-CN" dirty="0"/>
              <a:t>p</a:t>
            </a:r>
            <a:r>
              <a:rPr lang="zh-CN" altLang="en-US" dirty="0"/>
              <a:t>所指的结点，可能要用到的语句是（）。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p-&gt;next-&gt;</a:t>
            </a:r>
            <a:r>
              <a:rPr lang="en-US" altLang="zh-CN" dirty="0" err="1"/>
              <a:t>prev</a:t>
            </a:r>
            <a:r>
              <a:rPr lang="en-US" altLang="zh-CN" dirty="0"/>
              <a:t> = p-&gt;</a:t>
            </a:r>
            <a:r>
              <a:rPr lang="en-US" altLang="zh-CN" dirty="0" err="1"/>
              <a:t>prev</a:t>
            </a:r>
            <a:r>
              <a:rPr lang="en-US" altLang="zh-CN" dirty="0"/>
              <a:t>;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p-&gt;next-&gt;</a:t>
            </a:r>
            <a:r>
              <a:rPr lang="en-US" altLang="zh-CN" dirty="0" err="1"/>
              <a:t>prev</a:t>
            </a:r>
            <a:r>
              <a:rPr lang="en-US" altLang="zh-CN" dirty="0"/>
              <a:t> = p-&gt;next;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p-&gt;</a:t>
            </a:r>
            <a:r>
              <a:rPr lang="en-US" altLang="zh-CN" dirty="0" err="1"/>
              <a:t>prev</a:t>
            </a:r>
            <a:r>
              <a:rPr lang="en-US" altLang="zh-CN" dirty="0"/>
              <a:t>-&gt;next = p-&gt;</a:t>
            </a:r>
            <a:r>
              <a:rPr lang="en-US" altLang="zh-CN" dirty="0" err="1"/>
              <a:t>prev</a:t>
            </a:r>
            <a:r>
              <a:rPr lang="en-US" altLang="zh-CN" dirty="0"/>
              <a:t>;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/>
              <a:t>p-&gt;</a:t>
            </a:r>
            <a:r>
              <a:rPr lang="en-US" altLang="zh-CN" dirty="0" err="1"/>
              <a:t>prev</a:t>
            </a:r>
            <a:r>
              <a:rPr lang="en-US" altLang="zh-CN" dirty="0"/>
              <a:t>-&gt;next = p-&gt;next;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1, 3	 B. 1, 4	C. 2, 3		D. 2, 4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                                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428061"/>
              </p:ext>
            </p:extLst>
          </p:nvPr>
        </p:nvGraphicFramePr>
        <p:xfrm>
          <a:off x="8328248" y="1988840"/>
          <a:ext cx="259228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85446101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093049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250974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prev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data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next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743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610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若元素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/>
              <a:t>e</a:t>
            </a:r>
            <a:r>
              <a:rPr lang="zh-CN" altLang="en-US" dirty="0"/>
              <a:t>、</a:t>
            </a:r>
            <a:r>
              <a:rPr lang="en-US" altLang="zh-CN" dirty="0"/>
              <a:t>f</a:t>
            </a:r>
            <a:r>
              <a:rPr lang="zh-CN" altLang="en-US" dirty="0"/>
              <a:t>依次进栈，允许进栈、出栈操作交替进行，但不允许连续</a:t>
            </a:r>
            <a:r>
              <a:rPr lang="en-US" altLang="zh-CN" dirty="0"/>
              <a:t>3</a:t>
            </a:r>
            <a:r>
              <a:rPr lang="zh-CN" altLang="en-US" dirty="0"/>
              <a:t>次进行退栈操作，则不可能得到的出栈序列是（）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dcebfa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cbdaef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bcaefd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afedcb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250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元素</a:t>
            </a:r>
            <a:r>
              <a:rPr lang="en-US" altLang="zh-CN" dirty="0"/>
              <a:t>a, b, c, d, e, f</a:t>
            </a:r>
            <a:r>
              <a:rPr lang="zh-CN" altLang="en-US" dirty="0"/>
              <a:t>依次进入初始为空的栈中，若元素进栈后可停留、可出栈，直至所有元素都出栈，则在所有可能的出栈序列中，以元素</a:t>
            </a:r>
            <a:r>
              <a:rPr lang="en-US" altLang="zh-CN" dirty="0"/>
              <a:t>d e</a:t>
            </a:r>
            <a:r>
              <a:rPr lang="zh-CN" altLang="en-US" dirty="0"/>
              <a:t>开头的序列个数是（）</a:t>
            </a:r>
            <a:endParaRPr lang="en-US" altLang="zh-CN" dirty="0"/>
          </a:p>
          <a:p>
            <a:pPr lvl="1"/>
            <a:r>
              <a:rPr lang="en-US" altLang="zh-CN" dirty="0"/>
              <a:t>A. 3</a:t>
            </a:r>
          </a:p>
          <a:p>
            <a:pPr lvl="1"/>
            <a:r>
              <a:rPr lang="en-US" altLang="zh-CN" dirty="0"/>
              <a:t>B. 4</a:t>
            </a:r>
          </a:p>
          <a:p>
            <a:pPr lvl="1"/>
            <a:r>
              <a:rPr lang="en-US" altLang="zh-CN" dirty="0"/>
              <a:t>C. 5</a:t>
            </a:r>
          </a:p>
          <a:p>
            <a:pPr lvl="1"/>
            <a:r>
              <a:rPr lang="en-US" altLang="zh-CN" dirty="0"/>
              <a:t>D. 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599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一个栈的入栈序列为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，出栈序列为</a:t>
            </a:r>
            <a:r>
              <a:rPr lang="en-US" altLang="zh-CN" dirty="0"/>
              <a:t>P1</a:t>
            </a:r>
            <a:r>
              <a:rPr lang="zh-CN" altLang="en-US" dirty="0"/>
              <a:t>，</a:t>
            </a:r>
            <a:r>
              <a:rPr lang="en-US" altLang="zh-CN" dirty="0"/>
              <a:t>P2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 err="1"/>
              <a:t>Pn</a:t>
            </a:r>
            <a:r>
              <a:rPr lang="zh-CN" altLang="en-US" dirty="0"/>
              <a:t>。若</a:t>
            </a:r>
            <a:r>
              <a:rPr lang="en-US" altLang="zh-CN" dirty="0"/>
              <a:t>P2=3</a:t>
            </a:r>
            <a:r>
              <a:rPr lang="zh-CN" altLang="en-US" dirty="0"/>
              <a:t>，则</a:t>
            </a:r>
            <a:r>
              <a:rPr lang="en-US" altLang="zh-CN" dirty="0"/>
              <a:t>P3</a:t>
            </a:r>
            <a:r>
              <a:rPr lang="zh-CN" altLang="en-US" dirty="0"/>
              <a:t>可能取值的个数是（）。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n-3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n-2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n-1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无法确定</a:t>
            </a:r>
          </a:p>
        </p:txBody>
      </p:sp>
    </p:spTree>
    <p:extLst>
      <p:ext uri="{BB962C8B-B14F-4D97-AF65-F5344CB8AC3E}">
        <p14:creationId xmlns:p14="http://schemas.microsoft.com/office/powerpoint/2010/main" val="3444144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给定有限符号集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in</a:t>
            </a:r>
            <a:r>
              <a:rPr lang="zh-CN" altLang="en-US" dirty="0"/>
              <a:t>和</a:t>
            </a:r>
            <a:r>
              <a:rPr lang="en-US" altLang="zh-CN" dirty="0"/>
              <a:t>out</a:t>
            </a:r>
            <a:r>
              <a:rPr lang="zh-CN" altLang="en-US" dirty="0"/>
              <a:t>均为</a:t>
            </a:r>
            <a:r>
              <a:rPr lang="en-US" altLang="zh-CN" dirty="0"/>
              <a:t>S</a:t>
            </a:r>
            <a:r>
              <a:rPr lang="zh-CN" altLang="en-US" dirty="0"/>
              <a:t>中所有元素的任一排列，对于初始为空的栈</a:t>
            </a:r>
            <a:r>
              <a:rPr lang="en-US" altLang="zh-CN" dirty="0"/>
              <a:t>ST</a:t>
            </a:r>
            <a:r>
              <a:rPr lang="zh-CN" altLang="en-US" dirty="0"/>
              <a:t>，下列叙述中，正确的是（）。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若</a:t>
            </a:r>
            <a:r>
              <a:rPr lang="en-US" altLang="zh-CN" dirty="0"/>
              <a:t>in</a:t>
            </a:r>
            <a:r>
              <a:rPr lang="zh-CN" altLang="en-US" dirty="0"/>
              <a:t>是</a:t>
            </a:r>
            <a:r>
              <a:rPr lang="en-US" altLang="zh-CN" dirty="0"/>
              <a:t>ST</a:t>
            </a:r>
            <a:r>
              <a:rPr lang="zh-CN" altLang="en-US" dirty="0"/>
              <a:t>的入栈序列，则不能判断</a:t>
            </a:r>
            <a:r>
              <a:rPr lang="en-US" altLang="zh-CN" dirty="0"/>
              <a:t>out</a:t>
            </a:r>
            <a:r>
              <a:rPr lang="zh-CN" altLang="en-US" dirty="0"/>
              <a:t>是否为其可能的出栈序列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若</a:t>
            </a:r>
            <a:r>
              <a:rPr lang="en-US" altLang="zh-CN" dirty="0"/>
              <a:t>out</a:t>
            </a:r>
            <a:r>
              <a:rPr lang="zh-CN" altLang="en-US" dirty="0"/>
              <a:t>是</a:t>
            </a:r>
            <a:r>
              <a:rPr lang="en-US" altLang="zh-CN" dirty="0"/>
              <a:t>ST</a:t>
            </a:r>
            <a:r>
              <a:rPr lang="zh-CN" altLang="en-US" dirty="0"/>
              <a:t>的出栈序列，则不能判断</a:t>
            </a:r>
            <a:r>
              <a:rPr lang="en-US" altLang="zh-CN" dirty="0"/>
              <a:t>in</a:t>
            </a:r>
            <a:r>
              <a:rPr lang="zh-CN" altLang="en-US" dirty="0"/>
              <a:t>是否为其可能的入栈序列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若</a:t>
            </a:r>
            <a:r>
              <a:rPr lang="en-US" altLang="zh-CN" dirty="0"/>
              <a:t>in</a:t>
            </a:r>
            <a:r>
              <a:rPr lang="zh-CN" altLang="en-US" dirty="0"/>
              <a:t>是</a:t>
            </a:r>
            <a:r>
              <a:rPr lang="en-US" altLang="zh-CN" dirty="0"/>
              <a:t>ST</a:t>
            </a:r>
            <a:r>
              <a:rPr lang="zh-CN" altLang="en-US" dirty="0"/>
              <a:t>的入栈序列，</a:t>
            </a:r>
            <a:r>
              <a:rPr lang="en-US" altLang="zh-CN" dirty="0"/>
              <a:t>out</a:t>
            </a:r>
            <a:r>
              <a:rPr lang="zh-CN" altLang="en-US" dirty="0"/>
              <a:t>是对应</a:t>
            </a:r>
            <a:r>
              <a:rPr lang="en-US" altLang="zh-CN" dirty="0"/>
              <a:t>in</a:t>
            </a:r>
            <a:r>
              <a:rPr lang="zh-CN" altLang="en-US" dirty="0"/>
              <a:t>的出栈序列，则</a:t>
            </a:r>
            <a:r>
              <a:rPr lang="en-US" altLang="zh-CN" dirty="0"/>
              <a:t>in</a:t>
            </a:r>
            <a:r>
              <a:rPr lang="zh-CN" altLang="en-US" dirty="0"/>
              <a:t>与</a:t>
            </a:r>
            <a:r>
              <a:rPr lang="en-US" altLang="zh-CN" dirty="0"/>
              <a:t>out</a:t>
            </a:r>
            <a:r>
              <a:rPr lang="zh-CN" altLang="en-US" dirty="0"/>
              <a:t>一定不同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若</a:t>
            </a:r>
            <a:r>
              <a:rPr lang="en-US" altLang="zh-CN" dirty="0"/>
              <a:t>in</a:t>
            </a:r>
            <a:r>
              <a:rPr lang="zh-CN" altLang="en-US" dirty="0"/>
              <a:t>是</a:t>
            </a:r>
            <a:r>
              <a:rPr lang="en-US" altLang="zh-CN" dirty="0"/>
              <a:t>ST</a:t>
            </a:r>
            <a:r>
              <a:rPr lang="zh-CN" altLang="en-US" dirty="0"/>
              <a:t>的入栈序列，</a:t>
            </a:r>
            <a:r>
              <a:rPr lang="en-US" altLang="zh-CN" dirty="0"/>
              <a:t>out</a:t>
            </a:r>
            <a:r>
              <a:rPr lang="zh-CN" altLang="en-US" dirty="0"/>
              <a:t>是对应</a:t>
            </a:r>
            <a:r>
              <a:rPr lang="en-US" altLang="zh-CN" dirty="0"/>
              <a:t>in</a:t>
            </a:r>
            <a:r>
              <a:rPr lang="zh-CN" altLang="en-US" dirty="0"/>
              <a:t>的出栈序列，则</a:t>
            </a:r>
            <a:r>
              <a:rPr lang="en-US" altLang="zh-CN" dirty="0"/>
              <a:t>in</a:t>
            </a:r>
            <a:r>
              <a:rPr lang="zh-CN" altLang="en-US" dirty="0"/>
              <a:t>与</a:t>
            </a:r>
            <a:r>
              <a:rPr lang="en-US" altLang="zh-CN" dirty="0"/>
              <a:t>out</a:t>
            </a:r>
            <a:r>
              <a:rPr lang="zh-CN" altLang="en-US" dirty="0"/>
              <a:t>可能互为倒序</a:t>
            </a:r>
          </a:p>
        </p:txBody>
      </p:sp>
    </p:spTree>
    <p:extLst>
      <p:ext uri="{BB962C8B-B14F-4D97-AF65-F5344CB8AC3E}">
        <p14:creationId xmlns:p14="http://schemas.microsoft.com/office/powerpoint/2010/main" val="4200724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现有一个共享栈</a:t>
            </a:r>
            <a:r>
              <a:rPr lang="en-US" altLang="zh-CN" dirty="0"/>
              <a:t>S</a:t>
            </a:r>
            <a:r>
              <a:rPr lang="zh-CN" altLang="en-US" dirty="0"/>
              <a:t>，其低位是栈</a:t>
            </a:r>
            <a:r>
              <a:rPr lang="en-US" altLang="zh-CN" dirty="0"/>
              <a:t>S1</a:t>
            </a:r>
            <a:r>
              <a:rPr lang="zh-CN" altLang="en-US" dirty="0"/>
              <a:t>，高位是栈</a:t>
            </a:r>
            <a:r>
              <a:rPr lang="en-US" altLang="zh-CN" dirty="0"/>
              <a:t>S2</a:t>
            </a:r>
            <a:r>
              <a:rPr lang="zh-CN" altLang="en-US" dirty="0"/>
              <a:t>，低位栈的栈顶地址从低向高增长，高位栈的栈顶地址从高到低减小，要求该共享栈在一端非空时，栈指针指向当前元素的下一位置，则在下列说法中，（）是错误的。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该共享栈降低了溢出的可能性，提高了空间利用率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当两端都非空且</a:t>
            </a:r>
            <a:r>
              <a:rPr lang="en-US" altLang="zh-CN" dirty="0"/>
              <a:t>S1.top+1=S2.top</a:t>
            </a:r>
            <a:r>
              <a:rPr lang="zh-CN" altLang="en-US" dirty="0"/>
              <a:t>时，共享栈满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S1</a:t>
            </a:r>
            <a:r>
              <a:rPr lang="zh-CN" altLang="en-US" dirty="0"/>
              <a:t>的入栈操作是</a:t>
            </a:r>
            <a:r>
              <a:rPr lang="en-US" altLang="zh-CN" dirty="0"/>
              <a:t>S[S1.top++]=x</a:t>
            </a:r>
            <a:r>
              <a:rPr lang="zh-CN" altLang="en-US" dirty="0"/>
              <a:t>，出栈操作是</a:t>
            </a:r>
            <a:r>
              <a:rPr lang="en-US" altLang="zh-CN" dirty="0"/>
              <a:t>x=S[--S1.top]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S2</a:t>
            </a:r>
            <a:r>
              <a:rPr lang="zh-CN" altLang="en-US" dirty="0"/>
              <a:t>的入栈操作是</a:t>
            </a:r>
            <a:r>
              <a:rPr lang="en-US" altLang="zh-CN" dirty="0"/>
              <a:t>S[S2.top--]=x</a:t>
            </a:r>
            <a:r>
              <a:rPr lang="zh-CN" altLang="en-US" dirty="0"/>
              <a:t>，出栈操作是</a:t>
            </a:r>
            <a:r>
              <a:rPr lang="en-US" altLang="zh-CN" dirty="0"/>
              <a:t>x=S[++S2.top]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8617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如果有一组双引号序列（如“”“”“””“）需要验证其是否正确匹配，可能要用到的数据结构是（）。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计数器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栈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队列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链表</a:t>
            </a:r>
          </a:p>
        </p:txBody>
      </p:sp>
    </p:spTree>
    <p:extLst>
      <p:ext uri="{BB962C8B-B14F-4D97-AF65-F5344CB8AC3E}">
        <p14:creationId xmlns:p14="http://schemas.microsoft.com/office/powerpoint/2010/main" val="1713182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栈的应用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假设栈初始为空，将中缀表达式</a:t>
            </a:r>
            <a:r>
              <a:rPr lang="en-US" altLang="zh-CN" dirty="0"/>
              <a:t>a/b+(c*d-e*f)/g</a:t>
            </a:r>
            <a:r>
              <a:rPr lang="zh-CN" altLang="en-US" dirty="0"/>
              <a:t>转化为等价的后缀表达式的过程中，当扫描到</a:t>
            </a:r>
            <a:r>
              <a:rPr lang="en-US" altLang="zh-CN" dirty="0"/>
              <a:t>f</a:t>
            </a:r>
            <a:r>
              <a:rPr lang="zh-CN" altLang="en-US" dirty="0"/>
              <a:t>时，栈中的元素依次是（）。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+(*-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+(-*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/+(*-*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/+-*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11221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设栈</a:t>
            </a:r>
            <a:r>
              <a:rPr lang="en-US" altLang="zh-CN" dirty="0"/>
              <a:t>S</a:t>
            </a:r>
            <a:r>
              <a:rPr lang="zh-CN" altLang="en-US" dirty="0"/>
              <a:t>和队列</a:t>
            </a:r>
            <a:r>
              <a:rPr lang="en-US" altLang="zh-CN" dirty="0"/>
              <a:t>Q</a:t>
            </a:r>
            <a:r>
              <a:rPr lang="zh-CN" altLang="en-US" dirty="0"/>
              <a:t>的初始状态均为空，元素</a:t>
            </a:r>
            <a:r>
              <a:rPr lang="en-US" altLang="zh-CN" dirty="0" err="1"/>
              <a:t>abcdefg</a:t>
            </a:r>
            <a:r>
              <a:rPr lang="zh-CN" altLang="en-US" dirty="0"/>
              <a:t>依次入栈</a:t>
            </a:r>
            <a:r>
              <a:rPr lang="en-US" altLang="zh-CN" dirty="0"/>
              <a:t>S</a:t>
            </a:r>
            <a:r>
              <a:rPr lang="zh-CN" altLang="en-US" dirty="0"/>
              <a:t>。若每个元素出栈后立刻入队列</a:t>
            </a:r>
            <a:r>
              <a:rPr lang="en-US" altLang="zh-CN" dirty="0"/>
              <a:t>Q</a:t>
            </a:r>
            <a:r>
              <a:rPr lang="zh-CN" altLang="en-US" dirty="0"/>
              <a:t>，且</a:t>
            </a:r>
            <a:r>
              <a:rPr lang="en-US" altLang="zh-CN" dirty="0"/>
              <a:t>7</a:t>
            </a:r>
            <a:r>
              <a:rPr lang="zh-CN" altLang="en-US" dirty="0"/>
              <a:t>个元素出队的顺序是</a:t>
            </a:r>
            <a:r>
              <a:rPr lang="en-US" altLang="zh-CN" dirty="0" err="1"/>
              <a:t>bdcfeag</a:t>
            </a:r>
            <a:r>
              <a:rPr lang="zh-CN" altLang="en-US" dirty="0"/>
              <a:t>，则栈的容量至少是（）。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9758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7600" y="1905000"/>
            <a:ext cx="10667032" cy="4114800"/>
          </a:xfrm>
        </p:spPr>
        <p:txBody>
          <a:bodyPr/>
          <a:lstStyle/>
          <a:p>
            <a:r>
              <a:rPr lang="zh-CN" altLang="en-US" dirty="0"/>
              <a:t>循环队列放在一维数组</a:t>
            </a:r>
            <a:r>
              <a:rPr lang="en-US" altLang="zh-CN" dirty="0"/>
              <a:t>A[0…M-1]</a:t>
            </a:r>
            <a:r>
              <a:rPr lang="zh-CN" altLang="en-US" dirty="0"/>
              <a:t>中，</a:t>
            </a:r>
            <a:r>
              <a:rPr lang="en-US" altLang="zh-CN" dirty="0"/>
              <a:t>end1</a:t>
            </a:r>
            <a:r>
              <a:rPr lang="zh-CN" altLang="en-US" dirty="0"/>
              <a:t>指向队头元素，</a:t>
            </a:r>
            <a:r>
              <a:rPr lang="en-US" altLang="zh-CN" dirty="0"/>
              <a:t>end2</a:t>
            </a:r>
            <a:r>
              <a:rPr lang="zh-CN" altLang="en-US" dirty="0"/>
              <a:t>指向队尾元素后一个位置。假设队列两端均可进行出队和入队操作，队列中最多能容纳</a:t>
            </a:r>
            <a:r>
              <a:rPr lang="en-US" altLang="zh-CN" dirty="0"/>
              <a:t>M-1</a:t>
            </a:r>
            <a:r>
              <a:rPr lang="zh-CN" altLang="en-US" dirty="0"/>
              <a:t>个元素。初始时为空。下列判断队空和队满条件中，正确的是（）。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队空：</a:t>
            </a:r>
            <a:r>
              <a:rPr lang="en-US" altLang="zh-CN" dirty="0"/>
              <a:t>end1 == end2</a:t>
            </a:r>
            <a:r>
              <a:rPr lang="zh-CN" altLang="en-US" dirty="0"/>
              <a:t>；队满：</a:t>
            </a:r>
            <a:r>
              <a:rPr lang="en-US" altLang="zh-CN" dirty="0"/>
              <a:t>end1==(end2+1) mod M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队空：</a:t>
            </a:r>
            <a:r>
              <a:rPr lang="en-US" altLang="zh-CN" dirty="0"/>
              <a:t>end1 == end2</a:t>
            </a:r>
            <a:r>
              <a:rPr lang="zh-CN" altLang="en-US" dirty="0"/>
              <a:t>；队满：</a:t>
            </a:r>
            <a:r>
              <a:rPr lang="en-US" altLang="zh-CN" dirty="0"/>
              <a:t>end2==(end1+1) mod (M-1)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队空：</a:t>
            </a:r>
            <a:r>
              <a:rPr lang="en-US" altLang="zh-CN" dirty="0"/>
              <a:t>end2==(end1+1) mod M</a:t>
            </a:r>
            <a:r>
              <a:rPr lang="zh-CN" altLang="en-US" dirty="0"/>
              <a:t>；队满：</a:t>
            </a:r>
            <a:r>
              <a:rPr lang="en-US" altLang="zh-CN" dirty="0"/>
              <a:t>end1==(end2+1) mod M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队空：</a:t>
            </a:r>
            <a:r>
              <a:rPr lang="en-US" altLang="zh-CN" dirty="0"/>
              <a:t>end1==(end2+1) mod M</a:t>
            </a:r>
            <a:r>
              <a:rPr lang="zh-CN" altLang="en-US" dirty="0"/>
              <a:t>；队满：</a:t>
            </a:r>
            <a:r>
              <a:rPr lang="en-US" altLang="zh-CN" dirty="0"/>
              <a:t>end2==(end1+1) mod (M-1)</a:t>
            </a:r>
          </a:p>
        </p:txBody>
      </p:sp>
    </p:spTree>
    <p:extLst>
      <p:ext uri="{BB962C8B-B14F-4D97-AF65-F5344CB8AC3E}">
        <p14:creationId xmlns:p14="http://schemas.microsoft.com/office/powerpoint/2010/main" val="1287171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设有一个</a:t>
            </a:r>
            <a:r>
              <a:rPr lang="en-US" altLang="zh-CN" dirty="0"/>
              <a:t>12×12</a:t>
            </a:r>
            <a:r>
              <a:rPr lang="zh-CN" altLang="en-US" dirty="0"/>
              <a:t>的对称矩阵</a:t>
            </a:r>
            <a:r>
              <a:rPr lang="en-US" altLang="zh-CN" dirty="0"/>
              <a:t>M</a:t>
            </a:r>
            <a:r>
              <a:rPr lang="zh-CN" altLang="en-US" dirty="0"/>
              <a:t>，将其上三角部分的元素</a:t>
            </a:r>
            <a:r>
              <a:rPr lang="en-US" altLang="zh-CN" dirty="0"/>
              <a:t>m</a:t>
            </a:r>
            <a:r>
              <a:rPr lang="en-US" altLang="zh-CN" baseline="-25000" dirty="0"/>
              <a:t>i,j</a:t>
            </a:r>
            <a:r>
              <a:rPr lang="zh-CN" altLang="en-US" dirty="0"/>
              <a:t>（</a:t>
            </a:r>
            <a:r>
              <a:rPr lang="en-US" altLang="zh-CN" dirty="0"/>
              <a:t>1&lt;=</a:t>
            </a:r>
            <a:r>
              <a:rPr lang="en-US" altLang="zh-CN" dirty="0" err="1"/>
              <a:t>i</a:t>
            </a:r>
            <a:r>
              <a:rPr lang="en-US" altLang="zh-CN" dirty="0"/>
              <a:t>&lt;=j&lt;=12</a:t>
            </a:r>
            <a:r>
              <a:rPr lang="zh-CN" altLang="en-US" dirty="0"/>
              <a:t>）按行优先存入</a:t>
            </a:r>
            <a:r>
              <a:rPr lang="en-US" altLang="zh-CN" dirty="0"/>
              <a:t>C</a:t>
            </a:r>
            <a:r>
              <a:rPr lang="zh-CN" altLang="en-US" dirty="0"/>
              <a:t>语言的一维数组</a:t>
            </a:r>
            <a:r>
              <a:rPr lang="en-US" altLang="zh-CN" dirty="0"/>
              <a:t>N</a:t>
            </a:r>
            <a:r>
              <a:rPr lang="zh-CN" altLang="en-US" dirty="0"/>
              <a:t>中，元素</a:t>
            </a:r>
            <a:r>
              <a:rPr lang="en-US" altLang="zh-CN" dirty="0"/>
              <a:t>m</a:t>
            </a:r>
            <a:r>
              <a:rPr lang="en-US" altLang="zh-CN" baseline="-25000" dirty="0"/>
              <a:t>6,6</a:t>
            </a:r>
            <a:r>
              <a:rPr lang="zh-CN" altLang="en-US" dirty="0"/>
              <a:t>在</a:t>
            </a:r>
            <a:r>
              <a:rPr lang="en-US" altLang="zh-CN" dirty="0"/>
              <a:t>N</a:t>
            </a:r>
            <a:r>
              <a:rPr lang="zh-CN" altLang="en-US" dirty="0"/>
              <a:t>中的下标是（）。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66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3040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设有一个</a:t>
            </a:r>
            <a:r>
              <a:rPr lang="en-US" altLang="zh-CN" dirty="0"/>
              <a:t>10×10</a:t>
            </a:r>
            <a:r>
              <a:rPr lang="zh-CN" altLang="en-US" dirty="0"/>
              <a:t>的对称矩阵</a:t>
            </a:r>
            <a:r>
              <a:rPr lang="en-US" altLang="zh-CN" dirty="0"/>
              <a:t>M</a:t>
            </a:r>
            <a:r>
              <a:rPr lang="zh-CN" altLang="en-US" dirty="0"/>
              <a:t>，将其上三角部分的元素</a:t>
            </a:r>
            <a:r>
              <a:rPr lang="en-US" altLang="zh-CN" dirty="0"/>
              <a:t>m</a:t>
            </a:r>
            <a:r>
              <a:rPr lang="en-US" altLang="zh-CN" baseline="-25000" dirty="0"/>
              <a:t>i,j</a:t>
            </a:r>
            <a:r>
              <a:rPr lang="zh-CN" altLang="en-US" dirty="0"/>
              <a:t>（</a:t>
            </a:r>
            <a:r>
              <a:rPr lang="en-US" altLang="zh-CN" dirty="0"/>
              <a:t>1&lt;=</a:t>
            </a:r>
            <a:r>
              <a:rPr lang="en-US" altLang="zh-CN" dirty="0" err="1"/>
              <a:t>i</a:t>
            </a:r>
            <a:r>
              <a:rPr lang="en-US" altLang="zh-CN" dirty="0"/>
              <a:t>&lt;=j&lt;=10</a:t>
            </a:r>
            <a:r>
              <a:rPr lang="zh-CN" altLang="en-US"/>
              <a:t>）按列优先</a:t>
            </a:r>
            <a:r>
              <a:rPr lang="zh-CN" altLang="en-US" dirty="0"/>
              <a:t>存入</a:t>
            </a:r>
            <a:r>
              <a:rPr lang="en-US" altLang="zh-CN" dirty="0"/>
              <a:t>C</a:t>
            </a:r>
            <a:r>
              <a:rPr lang="zh-CN" altLang="en-US" dirty="0"/>
              <a:t>语言的一维数组</a:t>
            </a:r>
            <a:r>
              <a:rPr lang="en-US" altLang="zh-CN" dirty="0"/>
              <a:t>N</a:t>
            </a:r>
            <a:r>
              <a:rPr lang="zh-CN" altLang="en-US" dirty="0"/>
              <a:t>中，元素</a:t>
            </a:r>
            <a:r>
              <a:rPr lang="en-US" altLang="zh-CN" dirty="0"/>
              <a:t>m</a:t>
            </a:r>
            <a:r>
              <a:rPr lang="en-US" altLang="zh-CN" baseline="-25000" dirty="0"/>
              <a:t>7,2</a:t>
            </a:r>
            <a:r>
              <a:rPr lang="zh-CN" altLang="en-US" dirty="0"/>
              <a:t>在</a:t>
            </a:r>
            <a:r>
              <a:rPr lang="en-US" altLang="zh-CN" dirty="0"/>
              <a:t>N</a:t>
            </a:r>
            <a:r>
              <a:rPr lang="zh-CN" altLang="en-US" dirty="0"/>
              <a:t>中的下标是（）。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23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9008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有一个</a:t>
            </a:r>
            <a:r>
              <a:rPr lang="en-US" altLang="zh-CN" dirty="0"/>
              <a:t>100</a:t>
            </a:r>
            <a:r>
              <a:rPr lang="zh-CN" altLang="en-US" dirty="0"/>
              <a:t>阶的三对角矩阵</a:t>
            </a:r>
            <a:r>
              <a:rPr lang="en-US" altLang="zh-CN" dirty="0"/>
              <a:t>M</a:t>
            </a:r>
            <a:r>
              <a:rPr lang="zh-CN" altLang="en-US" dirty="0"/>
              <a:t>，其元素</a:t>
            </a:r>
            <a:r>
              <a:rPr lang="en-US" altLang="zh-CN" dirty="0"/>
              <a:t>m</a:t>
            </a:r>
            <a:r>
              <a:rPr lang="en-US" altLang="zh-CN" baseline="-25000" dirty="0"/>
              <a:t>i,j</a:t>
            </a:r>
            <a:r>
              <a:rPr lang="zh-CN" altLang="en-US" dirty="0"/>
              <a:t>（</a:t>
            </a:r>
            <a:r>
              <a:rPr lang="en-US" altLang="zh-CN" dirty="0"/>
              <a:t>1&lt;=</a:t>
            </a:r>
            <a:r>
              <a:rPr lang="en-US" altLang="zh-CN" dirty="0" err="1"/>
              <a:t>i,j</a:t>
            </a:r>
            <a:r>
              <a:rPr lang="en-US" altLang="zh-CN" dirty="0"/>
              <a:t>&lt;=100</a:t>
            </a:r>
            <a:r>
              <a:rPr lang="zh-CN" altLang="en-US" dirty="0"/>
              <a:t>）按行优先依次压缩存入下标从</a:t>
            </a:r>
            <a:r>
              <a:rPr lang="en-US" altLang="zh-CN" dirty="0"/>
              <a:t>0</a:t>
            </a:r>
            <a:r>
              <a:rPr lang="zh-CN" altLang="en-US" dirty="0"/>
              <a:t>开始的一维数组</a:t>
            </a:r>
            <a:r>
              <a:rPr lang="en-US" altLang="zh-CN" dirty="0"/>
              <a:t>N</a:t>
            </a:r>
            <a:r>
              <a:rPr lang="zh-CN" altLang="en-US" dirty="0"/>
              <a:t>中。元素</a:t>
            </a:r>
            <a:r>
              <a:rPr lang="en-US" altLang="zh-CN" dirty="0"/>
              <a:t>m</a:t>
            </a:r>
            <a:r>
              <a:rPr lang="en-US" altLang="zh-CN" baseline="-25000" dirty="0"/>
              <a:t>30,30</a:t>
            </a:r>
            <a:r>
              <a:rPr lang="zh-CN" altLang="en-US" dirty="0"/>
              <a:t>在</a:t>
            </a:r>
            <a:r>
              <a:rPr lang="en-US" altLang="zh-CN" dirty="0"/>
              <a:t>N</a:t>
            </a:r>
            <a:r>
              <a:rPr lang="zh-CN" altLang="en-US" dirty="0"/>
              <a:t>中的下标是（）。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86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87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88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89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8703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若采用三元组表存储结构存储稀疏矩阵</a:t>
            </a:r>
            <a:r>
              <a:rPr lang="en-US" altLang="zh-CN" dirty="0"/>
              <a:t>M</a:t>
            </a:r>
            <a:r>
              <a:rPr lang="zh-CN" altLang="en-US" dirty="0"/>
              <a:t>，则除三元组表外，下列数据中还需要保存的是（）。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I. M</a:t>
            </a:r>
            <a:r>
              <a:rPr lang="zh-CN" altLang="en-US" dirty="0"/>
              <a:t>的行数 </a:t>
            </a:r>
            <a:r>
              <a:rPr lang="en-US" altLang="zh-CN" dirty="0"/>
              <a:t>	II. M</a:t>
            </a:r>
            <a:r>
              <a:rPr lang="zh-CN" altLang="en-US" dirty="0"/>
              <a:t>中包含非零元素的行数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III. M</a:t>
            </a:r>
            <a:r>
              <a:rPr lang="zh-CN" altLang="en-US" dirty="0"/>
              <a:t>的列数</a:t>
            </a:r>
            <a:r>
              <a:rPr lang="en-US" altLang="zh-CN" dirty="0"/>
              <a:t>	IV. M</a:t>
            </a:r>
            <a:r>
              <a:rPr lang="zh-CN" altLang="en-US" dirty="0"/>
              <a:t>中包含非零元素的列数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I, III		B. </a:t>
            </a:r>
            <a:r>
              <a:rPr lang="zh-CN" altLang="en-US" dirty="0"/>
              <a:t>仅</a:t>
            </a:r>
            <a:r>
              <a:rPr lang="en-US" altLang="zh-CN" dirty="0"/>
              <a:t>I, IV	C. </a:t>
            </a:r>
            <a:r>
              <a:rPr lang="zh-CN" altLang="en-US" dirty="0"/>
              <a:t>仅</a:t>
            </a:r>
            <a:r>
              <a:rPr lang="en-US" altLang="zh-CN" dirty="0"/>
              <a:t>II, IV	D.</a:t>
            </a:r>
            <a:r>
              <a:rPr lang="zh-CN" altLang="en-US" dirty="0"/>
              <a:t> </a:t>
            </a:r>
            <a:r>
              <a:rPr lang="en-US" altLang="zh-CN" dirty="0"/>
              <a:t>I, II, III, 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507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已知字符串</a:t>
            </a:r>
            <a:r>
              <a:rPr lang="en-US" altLang="zh-CN" dirty="0"/>
              <a:t>S</a:t>
            </a:r>
            <a:r>
              <a:rPr lang="zh-CN" altLang="en-US" dirty="0"/>
              <a:t>为</a:t>
            </a:r>
            <a:r>
              <a:rPr lang="en-US" altLang="zh-CN" dirty="0"/>
              <a:t>”</a:t>
            </a:r>
            <a:r>
              <a:rPr lang="en-US" altLang="zh-CN" dirty="0" err="1"/>
              <a:t>abaabaabacacaabaabcc</a:t>
            </a:r>
            <a:r>
              <a:rPr lang="en-US" altLang="zh-CN" dirty="0"/>
              <a:t>”</a:t>
            </a:r>
            <a:r>
              <a:rPr lang="zh-CN" altLang="en-US" dirty="0"/>
              <a:t>，模式串</a:t>
            </a:r>
            <a:r>
              <a:rPr lang="en-US" altLang="zh-CN" dirty="0"/>
              <a:t>t</a:t>
            </a:r>
            <a:r>
              <a:rPr lang="zh-CN" altLang="en-US" dirty="0"/>
              <a:t>为</a:t>
            </a:r>
            <a:r>
              <a:rPr lang="en-US" altLang="zh-CN" dirty="0"/>
              <a:t>”</a:t>
            </a:r>
            <a:r>
              <a:rPr lang="en-US" altLang="zh-CN" dirty="0" err="1"/>
              <a:t>abaabc</a:t>
            </a:r>
            <a:r>
              <a:rPr lang="en-US" altLang="zh-CN" dirty="0"/>
              <a:t>”</a:t>
            </a:r>
            <a:r>
              <a:rPr lang="zh-CN" altLang="en-US" dirty="0"/>
              <a:t>。采用</a:t>
            </a:r>
            <a:r>
              <a:rPr lang="en-US" altLang="zh-CN" dirty="0"/>
              <a:t>KMP</a:t>
            </a:r>
            <a:r>
              <a:rPr lang="zh-CN" altLang="en-US" dirty="0"/>
              <a:t>算法进行匹配，第一次出现失配（</a:t>
            </a:r>
            <a:r>
              <a:rPr lang="en-US" altLang="zh-CN" dirty="0"/>
              <a:t>s[</a:t>
            </a:r>
            <a:r>
              <a:rPr lang="en-US" altLang="zh-CN" dirty="0" err="1"/>
              <a:t>i</a:t>
            </a:r>
            <a:r>
              <a:rPr lang="en-US" altLang="zh-CN" dirty="0"/>
              <a:t>]≠t[j]</a:t>
            </a:r>
            <a:r>
              <a:rPr lang="zh-CN" altLang="en-US" dirty="0"/>
              <a:t>）时，</a:t>
            </a:r>
            <a:r>
              <a:rPr lang="en-US" altLang="zh-CN" dirty="0" err="1"/>
              <a:t>i</a:t>
            </a:r>
            <a:r>
              <a:rPr lang="en-US" altLang="zh-CN" dirty="0"/>
              <a:t>=j=5</a:t>
            </a:r>
            <a:r>
              <a:rPr lang="zh-CN" altLang="en-US" dirty="0"/>
              <a:t>，则下次开始匹配时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  <a:r>
              <a:rPr lang="zh-CN" altLang="en-US" dirty="0"/>
              <a:t>的值分别是（）。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i</a:t>
            </a:r>
            <a:r>
              <a:rPr lang="en-US" altLang="zh-CN" dirty="0"/>
              <a:t>=1,j=0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i</a:t>
            </a:r>
            <a:r>
              <a:rPr lang="en-US" altLang="zh-CN" dirty="0"/>
              <a:t>=5,j=0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i</a:t>
            </a:r>
            <a:r>
              <a:rPr lang="en-US" altLang="zh-CN" dirty="0"/>
              <a:t>=5,j=2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i</a:t>
            </a:r>
            <a:r>
              <a:rPr lang="en-US" altLang="zh-CN" dirty="0"/>
              <a:t>=6,j=2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5494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已知字符串</a:t>
            </a:r>
            <a:r>
              <a:rPr lang="en-US" altLang="zh-CN" dirty="0"/>
              <a:t>S</a:t>
            </a:r>
            <a:r>
              <a:rPr lang="zh-CN" altLang="en-US" dirty="0"/>
              <a:t>为</a:t>
            </a:r>
            <a:r>
              <a:rPr lang="en-US" altLang="zh-CN" dirty="0"/>
              <a:t>”</a:t>
            </a:r>
            <a:r>
              <a:rPr lang="en-US" altLang="zh-CN" dirty="0" err="1"/>
              <a:t>abaabaabcabaabc</a:t>
            </a:r>
            <a:r>
              <a:rPr lang="en-US" altLang="zh-CN" dirty="0"/>
              <a:t>”</a:t>
            </a:r>
            <a:r>
              <a:rPr lang="zh-CN" altLang="en-US" dirty="0"/>
              <a:t>，模式串</a:t>
            </a:r>
            <a:r>
              <a:rPr lang="en-US" altLang="zh-CN" dirty="0"/>
              <a:t>t</a:t>
            </a:r>
            <a:r>
              <a:rPr lang="zh-CN" altLang="en-US" dirty="0"/>
              <a:t>为</a:t>
            </a:r>
            <a:r>
              <a:rPr lang="en-US" altLang="zh-CN" dirty="0"/>
              <a:t>”</a:t>
            </a:r>
            <a:r>
              <a:rPr lang="en-US" altLang="zh-CN" dirty="0" err="1"/>
              <a:t>abaabc</a:t>
            </a:r>
            <a:r>
              <a:rPr lang="en-US" altLang="zh-CN" dirty="0"/>
              <a:t>”</a:t>
            </a:r>
            <a:r>
              <a:rPr lang="zh-CN" altLang="en-US" dirty="0"/>
              <a:t>。采用</a:t>
            </a:r>
            <a:r>
              <a:rPr lang="en-US" altLang="zh-CN" dirty="0"/>
              <a:t>KMP</a:t>
            </a:r>
            <a:r>
              <a:rPr lang="zh-CN" altLang="en-US" dirty="0"/>
              <a:t>算法进行匹配，到匹配成功时为止，在匹配过程中进行的单个字符间比较次数是（）。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9430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在一棵度为</a:t>
            </a:r>
            <a:r>
              <a:rPr lang="en-US" altLang="zh-CN" dirty="0"/>
              <a:t>4</a:t>
            </a:r>
            <a:r>
              <a:rPr lang="zh-CN" altLang="en-US" dirty="0"/>
              <a:t>的树</a:t>
            </a:r>
            <a:r>
              <a:rPr lang="en-US" altLang="zh-CN" dirty="0"/>
              <a:t>T</a:t>
            </a:r>
            <a:r>
              <a:rPr lang="zh-CN" altLang="en-US" dirty="0"/>
              <a:t>中，若有</a:t>
            </a:r>
            <a:r>
              <a:rPr lang="en-US" altLang="zh-CN" dirty="0"/>
              <a:t>20</a:t>
            </a:r>
            <a:r>
              <a:rPr lang="zh-CN" altLang="en-US" dirty="0"/>
              <a:t>个度为</a:t>
            </a:r>
            <a:r>
              <a:rPr lang="en-US" altLang="zh-CN" dirty="0"/>
              <a:t>4</a:t>
            </a:r>
            <a:r>
              <a:rPr lang="zh-CN" altLang="en-US" dirty="0"/>
              <a:t>的节点，</a:t>
            </a:r>
            <a:r>
              <a:rPr lang="en-US" altLang="zh-CN" dirty="0"/>
              <a:t>10</a:t>
            </a:r>
            <a:r>
              <a:rPr lang="zh-CN" altLang="en-US" dirty="0"/>
              <a:t>个度为</a:t>
            </a:r>
            <a:r>
              <a:rPr lang="en-US" altLang="zh-CN" dirty="0"/>
              <a:t>3</a:t>
            </a:r>
            <a:r>
              <a:rPr lang="zh-CN" altLang="en-US" dirty="0"/>
              <a:t>的节点，</a:t>
            </a:r>
            <a:r>
              <a:rPr lang="en-US" altLang="zh-CN" dirty="0"/>
              <a:t>1</a:t>
            </a:r>
            <a:r>
              <a:rPr lang="zh-CN" altLang="en-US" dirty="0"/>
              <a:t>个度为</a:t>
            </a:r>
            <a:r>
              <a:rPr lang="en-US" altLang="zh-CN" dirty="0"/>
              <a:t>2</a:t>
            </a:r>
            <a:r>
              <a:rPr lang="zh-CN" altLang="en-US" dirty="0"/>
              <a:t>的节点，</a:t>
            </a:r>
            <a:r>
              <a:rPr lang="en-US" altLang="zh-CN" dirty="0"/>
              <a:t>10</a:t>
            </a:r>
            <a:r>
              <a:rPr lang="zh-CN" altLang="en-US" dirty="0"/>
              <a:t>个度为</a:t>
            </a:r>
            <a:r>
              <a:rPr lang="en-US" altLang="zh-CN" dirty="0"/>
              <a:t>1</a:t>
            </a:r>
            <a:r>
              <a:rPr lang="zh-CN" altLang="en-US" dirty="0"/>
              <a:t>的节点，则树</a:t>
            </a:r>
            <a:r>
              <a:rPr lang="en-US" altLang="zh-CN" dirty="0"/>
              <a:t>T</a:t>
            </a:r>
            <a:r>
              <a:rPr lang="zh-CN" altLang="en-US" dirty="0"/>
              <a:t>的叶子节点个数为（）。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122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692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若三叉树</a:t>
            </a:r>
            <a:r>
              <a:rPr lang="en-US" altLang="zh-CN" dirty="0"/>
              <a:t>T</a:t>
            </a:r>
            <a:r>
              <a:rPr lang="zh-CN" altLang="en-US" dirty="0"/>
              <a:t>中有</a:t>
            </a:r>
            <a:r>
              <a:rPr lang="en-US" altLang="zh-CN" dirty="0"/>
              <a:t>244</a:t>
            </a:r>
            <a:r>
              <a:rPr lang="zh-CN" altLang="en-US" dirty="0"/>
              <a:t>个结点，叶结点高度为</a:t>
            </a:r>
            <a:r>
              <a:rPr lang="en-US" altLang="zh-CN" dirty="0"/>
              <a:t>1</a:t>
            </a:r>
            <a:r>
              <a:rPr lang="zh-CN" altLang="en-US" dirty="0"/>
              <a:t>，则</a:t>
            </a:r>
            <a:r>
              <a:rPr lang="en-US" altLang="zh-CN" dirty="0"/>
              <a:t>T</a:t>
            </a:r>
            <a:r>
              <a:rPr lang="zh-CN" altLang="en-US" dirty="0"/>
              <a:t>的高度至少为（）。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3396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已知一棵完全二叉树的第</a:t>
            </a:r>
            <a:r>
              <a:rPr lang="en-US" altLang="zh-CN" dirty="0"/>
              <a:t>6</a:t>
            </a:r>
            <a:r>
              <a:rPr lang="zh-CN" altLang="en-US" dirty="0"/>
              <a:t>层（设根为第一层）有</a:t>
            </a:r>
            <a:r>
              <a:rPr lang="en-US" altLang="zh-CN" dirty="0"/>
              <a:t>8</a:t>
            </a:r>
            <a:r>
              <a:rPr lang="zh-CN" altLang="en-US" dirty="0"/>
              <a:t>个叶子节点，则该完全二叉树的节点个数最多为（）。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2670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若一棵完全二叉树有</a:t>
            </a:r>
            <a:r>
              <a:rPr lang="en-US" altLang="zh-CN" dirty="0"/>
              <a:t>768</a:t>
            </a:r>
            <a:r>
              <a:rPr lang="zh-CN" altLang="en-US" dirty="0"/>
              <a:t>个节点，则该二叉树中叶子节点个数为（）。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257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258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384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385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5727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设一棵非空完全二叉树</a:t>
            </a:r>
            <a:r>
              <a:rPr lang="en-US" altLang="zh-CN" dirty="0"/>
              <a:t>T</a:t>
            </a:r>
            <a:r>
              <a:rPr lang="zh-CN" altLang="en-US" dirty="0"/>
              <a:t>的所有叶子节点都在同一层，且每个非叶子节点都有</a:t>
            </a:r>
            <a:r>
              <a:rPr lang="en-US" altLang="zh-CN" dirty="0"/>
              <a:t>2</a:t>
            </a:r>
            <a:r>
              <a:rPr lang="zh-CN" altLang="en-US" dirty="0"/>
              <a:t>个子节点。若</a:t>
            </a:r>
            <a:r>
              <a:rPr lang="en-US" altLang="zh-CN" dirty="0"/>
              <a:t>T</a:t>
            </a:r>
            <a:r>
              <a:rPr lang="zh-CN" altLang="en-US" dirty="0"/>
              <a:t>有</a:t>
            </a:r>
            <a:r>
              <a:rPr lang="en-US" altLang="zh-CN" dirty="0"/>
              <a:t>k</a:t>
            </a:r>
            <a:r>
              <a:rPr lang="zh-CN" altLang="en-US" dirty="0"/>
              <a:t>个叶节点，则</a:t>
            </a:r>
            <a:r>
              <a:rPr lang="en-US" altLang="zh-CN" dirty="0"/>
              <a:t>T</a:t>
            </a:r>
            <a:r>
              <a:rPr lang="zh-CN" altLang="en-US" dirty="0"/>
              <a:t>的节点总数为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2K-1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2K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K^2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2^K - 1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1936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对于任意一棵高度为</a:t>
            </a:r>
            <a:r>
              <a:rPr lang="en-US" altLang="zh-CN" dirty="0"/>
              <a:t>5</a:t>
            </a:r>
            <a:r>
              <a:rPr lang="zh-CN" altLang="en-US" dirty="0"/>
              <a:t>且有</a:t>
            </a:r>
            <a:r>
              <a:rPr lang="en-US" altLang="zh-CN" dirty="0"/>
              <a:t>10</a:t>
            </a:r>
            <a:r>
              <a:rPr lang="zh-CN" altLang="en-US" dirty="0"/>
              <a:t>个节点的二叉树，若采用顺序存储结构保存，每个节点占</a:t>
            </a:r>
            <a:r>
              <a:rPr lang="en-US" altLang="zh-CN" dirty="0"/>
              <a:t>1</a:t>
            </a:r>
            <a:r>
              <a:rPr lang="zh-CN" altLang="en-US" dirty="0"/>
              <a:t>个存储单元（仅存放节点的数据信息），则存放该二叉树需要的存储单元数量至少是（）。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7816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若一棵二叉树的前序遍历序列为</a:t>
            </a:r>
            <a:r>
              <a:rPr lang="en-US" altLang="zh-CN" dirty="0"/>
              <a:t>AEBDC</a:t>
            </a:r>
            <a:r>
              <a:rPr lang="zh-CN" altLang="en-US" dirty="0"/>
              <a:t>，后序遍历序列为</a:t>
            </a:r>
            <a:r>
              <a:rPr lang="en-US" altLang="zh-CN" dirty="0"/>
              <a:t>BCDEA</a:t>
            </a:r>
            <a:r>
              <a:rPr lang="zh-CN" altLang="en-US" dirty="0"/>
              <a:t>，则根节点的孩子节点为（）。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只有</a:t>
            </a:r>
            <a:r>
              <a:rPr lang="en-US" altLang="zh-CN" dirty="0"/>
              <a:t>E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有</a:t>
            </a:r>
            <a:r>
              <a:rPr lang="en-US" altLang="zh-CN" dirty="0"/>
              <a:t>EB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有</a:t>
            </a:r>
            <a:r>
              <a:rPr lang="en-US" altLang="zh-CN" dirty="0"/>
              <a:t>EC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无法确定</a:t>
            </a:r>
          </a:p>
        </p:txBody>
      </p:sp>
    </p:spTree>
    <p:extLst>
      <p:ext uri="{BB962C8B-B14F-4D97-AF65-F5344CB8AC3E}">
        <p14:creationId xmlns:p14="http://schemas.microsoft.com/office/powerpoint/2010/main" val="26982860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要使一棵非空二叉树的前序序列和中序系列相同，其所有非叶子节点必须满足的条件是（）。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只有左子树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只有右子树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节点度均为</a:t>
            </a: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节点度均为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209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前序序列为</a:t>
            </a:r>
            <a:r>
              <a:rPr lang="en-US" altLang="zh-CN" dirty="0" err="1"/>
              <a:t>abcd</a:t>
            </a:r>
            <a:r>
              <a:rPr lang="zh-CN" altLang="en-US" dirty="0"/>
              <a:t>的不同二叉树个数为（）。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1039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 </a:t>
            </a:r>
            <a:r>
              <a:rPr lang="en-US" altLang="zh-CN" dirty="0"/>
              <a:t>p</a:t>
            </a:r>
            <a:r>
              <a:rPr lang="zh-CN" altLang="en-US" dirty="0"/>
              <a:t>、</a:t>
            </a:r>
            <a:r>
              <a:rPr lang="en-US" altLang="zh-CN" dirty="0"/>
              <a:t>q </a:t>
            </a:r>
            <a:r>
              <a:rPr lang="zh-CN" altLang="en-US" dirty="0"/>
              <a:t>和 </a:t>
            </a:r>
            <a:r>
              <a:rPr lang="en-US" altLang="zh-CN" dirty="0"/>
              <a:t>v </a:t>
            </a:r>
            <a:r>
              <a:rPr lang="zh-CN" altLang="en-US" dirty="0"/>
              <a:t>均为二叉树 </a:t>
            </a:r>
            <a:r>
              <a:rPr lang="en-US" altLang="zh-CN" dirty="0"/>
              <a:t>T </a:t>
            </a:r>
            <a:r>
              <a:rPr lang="zh-CN" altLang="en-US" dirty="0"/>
              <a:t>中的结点，</a:t>
            </a:r>
            <a:r>
              <a:rPr lang="en-US" altLang="zh-CN" dirty="0"/>
              <a:t>v </a:t>
            </a:r>
            <a:r>
              <a:rPr lang="zh-CN" altLang="en-US" dirty="0"/>
              <a:t>有两个孩子结点，</a:t>
            </a:r>
            <a:r>
              <a:rPr lang="en-US" altLang="zh-CN" dirty="0"/>
              <a:t>T </a:t>
            </a:r>
            <a:r>
              <a:rPr lang="zh-CN" altLang="en-US" dirty="0"/>
              <a:t>的中序遍历序列形如“</a:t>
            </a:r>
            <a:r>
              <a:rPr lang="en-US" altLang="zh-CN" dirty="0"/>
              <a:t>……p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，</a:t>
            </a:r>
            <a:r>
              <a:rPr lang="en-US" altLang="zh-CN" dirty="0"/>
              <a:t>q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”，则下列叙述中，正确的是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</a:t>
            </a:r>
            <a:r>
              <a:rPr lang="zh-CN" altLang="en-US" dirty="0"/>
              <a:t>没有右孩子，</a:t>
            </a:r>
            <a:r>
              <a:rPr lang="en-US" altLang="zh-CN" dirty="0"/>
              <a:t>q</a:t>
            </a:r>
            <a:r>
              <a:rPr lang="zh-CN" altLang="en-US" dirty="0"/>
              <a:t>没有左孩子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</a:t>
            </a:r>
            <a:r>
              <a:rPr lang="zh-CN" altLang="en-US" dirty="0"/>
              <a:t>没有右孩子，</a:t>
            </a:r>
            <a:r>
              <a:rPr lang="en-US" altLang="zh-CN" dirty="0"/>
              <a:t>q</a:t>
            </a:r>
            <a:r>
              <a:rPr lang="zh-CN" altLang="en-US" dirty="0"/>
              <a:t>有左孩子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</a:t>
            </a:r>
            <a:r>
              <a:rPr lang="zh-CN" altLang="en-US" dirty="0"/>
              <a:t>有右孩子，</a:t>
            </a:r>
            <a:r>
              <a:rPr lang="en-US" altLang="zh-CN" dirty="0"/>
              <a:t>q</a:t>
            </a:r>
            <a:r>
              <a:rPr lang="zh-CN" altLang="en-US" dirty="0"/>
              <a:t>没有左孩子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</a:t>
            </a:r>
            <a:r>
              <a:rPr lang="zh-CN" altLang="en-US" dirty="0"/>
              <a:t>有右孩子，</a:t>
            </a:r>
            <a:r>
              <a:rPr lang="en-US" altLang="zh-CN" dirty="0"/>
              <a:t>q</a:t>
            </a:r>
            <a:r>
              <a:rPr lang="zh-CN" altLang="en-US" dirty="0"/>
              <a:t>有左孩子</a:t>
            </a:r>
          </a:p>
        </p:txBody>
      </p:sp>
    </p:spTree>
    <p:extLst>
      <p:ext uri="{BB962C8B-B14F-4D97-AF65-F5344CB8AC3E}">
        <p14:creationId xmlns:p14="http://schemas.microsoft.com/office/powerpoint/2010/main" val="14934122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</a:t>
            </a:r>
            <a:r>
              <a:rPr lang="en-US" altLang="zh-CN" dirty="0"/>
              <a:t>X</a:t>
            </a:r>
            <a:r>
              <a:rPr lang="zh-CN" altLang="en-US" dirty="0"/>
              <a:t>是后序线索二叉树中的叶节点，且</a:t>
            </a:r>
            <a:r>
              <a:rPr lang="en-US" altLang="zh-CN" dirty="0"/>
              <a:t>X</a:t>
            </a:r>
            <a:r>
              <a:rPr lang="zh-CN" altLang="en-US" dirty="0"/>
              <a:t>存在左兄弟节点</a:t>
            </a:r>
            <a:r>
              <a:rPr lang="en-US" altLang="zh-CN" dirty="0"/>
              <a:t>Y</a:t>
            </a:r>
            <a:r>
              <a:rPr lang="zh-CN" altLang="en-US" dirty="0"/>
              <a:t>，则</a:t>
            </a:r>
            <a:r>
              <a:rPr lang="en-US" altLang="zh-CN" dirty="0"/>
              <a:t>X</a:t>
            </a:r>
            <a:r>
              <a:rPr lang="zh-CN" altLang="en-US" dirty="0"/>
              <a:t>的右线索指向的是（）。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X</a:t>
            </a:r>
            <a:r>
              <a:rPr lang="zh-CN" altLang="en-US" dirty="0"/>
              <a:t>的父节点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以</a:t>
            </a:r>
            <a:r>
              <a:rPr lang="en-US" altLang="zh-CN" dirty="0"/>
              <a:t>Y</a:t>
            </a:r>
            <a:r>
              <a:rPr lang="zh-CN" altLang="en-US" dirty="0"/>
              <a:t>为根的子树的最左下节点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X</a:t>
            </a:r>
            <a:r>
              <a:rPr lang="zh-CN" altLang="en-US" dirty="0"/>
              <a:t>的左兄弟节点</a:t>
            </a:r>
            <a:r>
              <a:rPr lang="en-US" altLang="zh-CN" dirty="0"/>
              <a:t>Y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以</a:t>
            </a:r>
            <a:r>
              <a:rPr lang="en-US" altLang="zh-CN" dirty="0"/>
              <a:t>Y</a:t>
            </a:r>
            <a:r>
              <a:rPr lang="zh-CN" altLang="en-US" dirty="0"/>
              <a:t>为根的子树的最右下节点</a:t>
            </a:r>
          </a:p>
        </p:txBody>
      </p:sp>
    </p:spTree>
    <p:extLst>
      <p:ext uri="{BB962C8B-B14F-4D97-AF65-F5344CB8AC3E}">
        <p14:creationId xmlns:p14="http://schemas.microsoft.com/office/powerpoint/2010/main" val="3317538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下列线索二叉树中（用虚线表示线索），符合后序线索树定义的是（）。</a:t>
            </a:r>
          </a:p>
        </p:txBody>
      </p:sp>
      <p:pic>
        <p:nvPicPr>
          <p:cNvPr id="7" name="内容占位符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06160" y="3068960"/>
            <a:ext cx="10363200" cy="314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45777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线索二叉树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若对右图所示的二叉树进行中序线索化，则结点</a:t>
            </a:r>
            <a:r>
              <a:rPr lang="en-US" altLang="zh-CN" dirty="0"/>
              <a:t>X</a:t>
            </a:r>
            <a:r>
              <a:rPr lang="zh-CN" altLang="en-US" dirty="0"/>
              <a:t>的左右线索指向结点分别是（）。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e, c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e, a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d, c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b, a</a:t>
            </a:r>
            <a:endParaRPr lang="zh-CN" altLang="en-US" dirty="0"/>
          </a:p>
        </p:txBody>
      </p:sp>
      <p:pic>
        <p:nvPicPr>
          <p:cNvPr id="11" name="内容占位符 10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64152" y="2060848"/>
            <a:ext cx="3226820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02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若森林</a:t>
            </a:r>
            <a:r>
              <a:rPr lang="en-US" altLang="zh-CN" dirty="0"/>
              <a:t>F</a:t>
            </a:r>
            <a:r>
              <a:rPr lang="zh-CN" altLang="en-US" dirty="0"/>
              <a:t>有</a:t>
            </a:r>
            <a:r>
              <a:rPr lang="en-US" altLang="zh-CN" dirty="0"/>
              <a:t>15</a:t>
            </a:r>
            <a:r>
              <a:rPr lang="zh-CN" altLang="en-US" dirty="0"/>
              <a:t>条边，</a:t>
            </a:r>
            <a:r>
              <a:rPr lang="en-US" altLang="zh-CN" dirty="0"/>
              <a:t>25</a:t>
            </a:r>
            <a:r>
              <a:rPr lang="zh-CN" altLang="en-US" dirty="0"/>
              <a:t>个结点，则</a:t>
            </a:r>
            <a:r>
              <a:rPr lang="en-US" altLang="zh-CN" dirty="0"/>
              <a:t>F</a:t>
            </a:r>
            <a:r>
              <a:rPr lang="zh-CN" altLang="en-US" dirty="0"/>
              <a:t>包含树的个数是（）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006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树和二叉树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已知一棵有</a:t>
            </a:r>
            <a:r>
              <a:rPr lang="en-US" altLang="zh-CN" dirty="0"/>
              <a:t>2011</a:t>
            </a:r>
            <a:r>
              <a:rPr lang="zh-CN" altLang="en-US" dirty="0"/>
              <a:t>个结点的树，其叶子结点个数为</a:t>
            </a:r>
            <a:r>
              <a:rPr lang="en-US" altLang="zh-CN" dirty="0"/>
              <a:t>116</a:t>
            </a:r>
            <a:r>
              <a:rPr lang="zh-CN" altLang="en-US" dirty="0"/>
              <a:t>，该树对应的二叉树中无右孩子的结点个数是（）。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1895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1896</a:t>
            </a:r>
          </a:p>
        </p:txBody>
      </p:sp>
    </p:spTree>
    <p:extLst>
      <p:ext uri="{BB962C8B-B14F-4D97-AF65-F5344CB8AC3E}">
        <p14:creationId xmlns:p14="http://schemas.microsoft.com/office/powerpoint/2010/main" val="2489220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树与二叉树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若将一棵树</a:t>
            </a:r>
            <a:r>
              <a:rPr lang="en-US" altLang="zh-CN" dirty="0"/>
              <a:t>T</a:t>
            </a:r>
            <a:r>
              <a:rPr lang="zh-CN" altLang="en-US" dirty="0"/>
              <a:t>转化为对应的二叉树</a:t>
            </a:r>
            <a:r>
              <a:rPr lang="en-US" altLang="zh-CN" dirty="0"/>
              <a:t>BT</a:t>
            </a:r>
            <a:r>
              <a:rPr lang="zh-CN" altLang="en-US" dirty="0"/>
              <a:t>，则下列对</a:t>
            </a:r>
            <a:r>
              <a:rPr lang="en-US" altLang="zh-CN" dirty="0"/>
              <a:t>BT</a:t>
            </a:r>
            <a:r>
              <a:rPr lang="zh-CN" altLang="en-US" dirty="0"/>
              <a:t>的遍历中，其遍历序列与</a:t>
            </a:r>
            <a:r>
              <a:rPr lang="en-US" altLang="zh-CN" dirty="0"/>
              <a:t>T</a:t>
            </a:r>
            <a:r>
              <a:rPr lang="zh-CN" altLang="en-US" dirty="0"/>
              <a:t>的后根遍历序列相同的是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前序遍历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中序遍历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后序遍历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按层遍历</a:t>
            </a:r>
          </a:p>
        </p:txBody>
      </p:sp>
    </p:spTree>
    <p:extLst>
      <p:ext uri="{BB962C8B-B14F-4D97-AF65-F5344CB8AC3E}">
        <p14:creationId xmlns:p14="http://schemas.microsoft.com/office/powerpoint/2010/main" val="35980667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森林和二叉树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将森林</a:t>
            </a:r>
            <a:r>
              <a:rPr lang="en-US" altLang="zh-CN" dirty="0"/>
              <a:t>F</a:t>
            </a:r>
            <a:r>
              <a:rPr lang="zh-CN" altLang="en-US" dirty="0"/>
              <a:t>转化为对应的二叉树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zh-CN" altLang="en-US" dirty="0"/>
              <a:t>中叶子结点的个数等于（）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T</a:t>
            </a:r>
            <a:r>
              <a:rPr lang="zh-CN" altLang="en-US" dirty="0"/>
              <a:t>中叶子结点的个数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T</a:t>
            </a:r>
            <a:r>
              <a:rPr lang="zh-CN" altLang="en-US" dirty="0"/>
              <a:t>中度为</a:t>
            </a:r>
            <a:r>
              <a:rPr lang="en-US" altLang="zh-CN" dirty="0"/>
              <a:t>1</a:t>
            </a:r>
            <a:r>
              <a:rPr lang="zh-CN" altLang="en-US" dirty="0"/>
              <a:t>的结点个数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T</a:t>
            </a:r>
            <a:r>
              <a:rPr lang="zh-CN" altLang="en-US" dirty="0"/>
              <a:t>中左孩子指针为空的结点个数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T</a:t>
            </a:r>
            <a:r>
              <a:rPr lang="zh-CN" altLang="en-US" dirty="0"/>
              <a:t>中右孩子指针为空的结点个数</a:t>
            </a:r>
          </a:p>
        </p:txBody>
      </p:sp>
    </p:spTree>
    <p:extLst>
      <p:ext uri="{BB962C8B-B14F-4D97-AF65-F5344CB8AC3E}">
        <p14:creationId xmlns:p14="http://schemas.microsoft.com/office/powerpoint/2010/main" val="973321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森林与二叉树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将森林转化为二叉树，若在二叉树中，节点</a:t>
            </a:r>
            <a:r>
              <a:rPr lang="en-US" altLang="zh-CN" dirty="0"/>
              <a:t>u</a:t>
            </a:r>
            <a:r>
              <a:rPr lang="zh-CN" altLang="en-US" dirty="0"/>
              <a:t>是节点</a:t>
            </a:r>
            <a:r>
              <a:rPr lang="en-US" altLang="zh-CN" dirty="0"/>
              <a:t>v</a:t>
            </a:r>
            <a:r>
              <a:rPr lang="zh-CN" altLang="en-US" dirty="0"/>
              <a:t>的父节点的父节点，则在原来的森林中，</a:t>
            </a:r>
            <a:r>
              <a:rPr lang="en-US" altLang="zh-CN" dirty="0"/>
              <a:t>u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可能具有的关系是（）。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父子关系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兄弟关系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en-US" altLang="zh-CN" dirty="0"/>
              <a:t>u</a:t>
            </a:r>
            <a:r>
              <a:rPr lang="zh-CN" altLang="en-US" dirty="0"/>
              <a:t>的父节点与</a:t>
            </a:r>
            <a:r>
              <a:rPr lang="en-US" altLang="zh-CN" dirty="0"/>
              <a:t>v</a:t>
            </a:r>
            <a:r>
              <a:rPr lang="zh-CN" altLang="en-US" dirty="0"/>
              <a:t>的父节点是兄弟关系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只有</a:t>
            </a:r>
            <a:r>
              <a:rPr lang="en-US" altLang="zh-CN" dirty="0"/>
              <a:t>II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I</a:t>
            </a:r>
            <a:r>
              <a:rPr lang="zh-CN" altLang="en-US" dirty="0"/>
              <a:t>和</a:t>
            </a:r>
            <a:r>
              <a:rPr lang="en-US" altLang="zh-CN" dirty="0"/>
              <a:t>II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I</a:t>
            </a:r>
            <a:r>
              <a:rPr lang="zh-CN" altLang="en-US" dirty="0"/>
              <a:t>和</a:t>
            </a:r>
            <a:r>
              <a:rPr lang="en-US" altLang="zh-CN" dirty="0"/>
              <a:t>III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II</a:t>
            </a:r>
            <a:r>
              <a:rPr lang="zh-CN" altLang="en-US" dirty="0"/>
              <a:t>和</a:t>
            </a:r>
            <a:r>
              <a:rPr lang="en-US" altLang="zh-CN" dirty="0"/>
              <a:t>III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87939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森林与二叉树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已知森林</a:t>
            </a:r>
            <a:r>
              <a:rPr lang="en-US" altLang="zh-CN" dirty="0"/>
              <a:t>F</a:t>
            </a:r>
            <a:r>
              <a:rPr lang="zh-CN" altLang="en-US" dirty="0"/>
              <a:t>及与之对应的二叉树</a:t>
            </a:r>
            <a:r>
              <a:rPr lang="en-US" altLang="zh-CN" dirty="0"/>
              <a:t>T</a:t>
            </a:r>
            <a:r>
              <a:rPr lang="zh-CN" altLang="en-US" dirty="0"/>
              <a:t>，若</a:t>
            </a:r>
            <a:r>
              <a:rPr lang="en-US" altLang="zh-CN" dirty="0"/>
              <a:t>F</a:t>
            </a:r>
            <a:r>
              <a:rPr lang="zh-CN" altLang="en-US" dirty="0"/>
              <a:t>的先根遍历序列是</a:t>
            </a:r>
            <a:r>
              <a:rPr lang="en-US" altLang="zh-CN" dirty="0" err="1"/>
              <a:t>abcdef</a:t>
            </a:r>
            <a:r>
              <a:rPr lang="zh-CN" altLang="en-US" dirty="0"/>
              <a:t>，后根遍历序列是</a:t>
            </a:r>
            <a:r>
              <a:rPr lang="en-US" altLang="zh-CN" dirty="0" err="1"/>
              <a:t>badfec</a:t>
            </a:r>
            <a:r>
              <a:rPr lang="zh-CN" altLang="en-US" dirty="0"/>
              <a:t>，则</a:t>
            </a:r>
            <a:r>
              <a:rPr lang="en-US" altLang="zh-CN" dirty="0"/>
              <a:t>T</a:t>
            </a:r>
            <a:r>
              <a:rPr lang="zh-CN" altLang="en-US" dirty="0"/>
              <a:t>的后序遍历序列是（）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badfec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bdfeca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bfedca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fedcba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94637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并查集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并查集的结构是一种（）。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二叉链表存储的二叉树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双亲表示法存储的树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顺序存储的二叉树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孩子表示法存储的树</a:t>
            </a:r>
          </a:p>
        </p:txBody>
      </p:sp>
    </p:spTree>
    <p:extLst>
      <p:ext uri="{BB962C8B-B14F-4D97-AF65-F5344CB8AC3E}">
        <p14:creationId xmlns:p14="http://schemas.microsoft.com/office/powerpoint/2010/main" val="626131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并查集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假设初始长度为</a:t>
            </a:r>
            <a:r>
              <a:rPr lang="en-US" altLang="zh-CN" dirty="0"/>
              <a:t>10</a:t>
            </a:r>
            <a:r>
              <a:rPr lang="zh-CN" altLang="en-US" dirty="0"/>
              <a:t>（</a:t>
            </a:r>
            <a:r>
              <a:rPr lang="en-US" altLang="zh-CN" dirty="0"/>
              <a:t>0-9</a:t>
            </a:r>
            <a:r>
              <a:rPr lang="zh-CN" altLang="en-US" dirty="0"/>
              <a:t>）的并查集，按</a:t>
            </a:r>
            <a:r>
              <a:rPr lang="en-US" altLang="zh-CN" dirty="0"/>
              <a:t>1-2</a:t>
            </a:r>
            <a:r>
              <a:rPr lang="zh-CN" altLang="en-US" dirty="0"/>
              <a:t>，</a:t>
            </a:r>
            <a:r>
              <a:rPr lang="en-US" altLang="zh-CN" dirty="0"/>
              <a:t>3-4</a:t>
            </a:r>
            <a:r>
              <a:rPr lang="zh-CN" altLang="en-US" dirty="0"/>
              <a:t>，</a:t>
            </a:r>
            <a:r>
              <a:rPr lang="en-US" altLang="zh-CN" dirty="0"/>
              <a:t>5-6</a:t>
            </a:r>
            <a:r>
              <a:rPr lang="zh-CN" altLang="en-US" dirty="0"/>
              <a:t>，</a:t>
            </a:r>
            <a:r>
              <a:rPr lang="en-US" altLang="zh-CN" dirty="0"/>
              <a:t>7-8</a:t>
            </a:r>
            <a:r>
              <a:rPr lang="zh-CN" altLang="en-US" dirty="0"/>
              <a:t>，</a:t>
            </a:r>
            <a:r>
              <a:rPr lang="en-US" altLang="zh-CN" dirty="0"/>
              <a:t>8-9</a:t>
            </a:r>
            <a:r>
              <a:rPr lang="zh-CN" altLang="en-US" dirty="0"/>
              <a:t>，</a:t>
            </a:r>
            <a:r>
              <a:rPr lang="en-US" altLang="zh-CN" dirty="0"/>
              <a:t>1-8</a:t>
            </a:r>
            <a:r>
              <a:rPr lang="zh-CN" altLang="en-US" dirty="0"/>
              <a:t>，</a:t>
            </a:r>
            <a:r>
              <a:rPr lang="en-US" altLang="zh-CN" dirty="0"/>
              <a:t>0-5</a:t>
            </a:r>
            <a:r>
              <a:rPr lang="zh-CN" altLang="en-US" dirty="0"/>
              <a:t>，</a:t>
            </a:r>
            <a:r>
              <a:rPr lang="en-US" altLang="zh-CN" dirty="0"/>
              <a:t>1-9</a:t>
            </a:r>
            <a:r>
              <a:rPr lang="zh-CN" altLang="en-US" dirty="0"/>
              <a:t>的顺序进行查找和合并，最终并查集共有（）个集合。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7598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并查集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下列并查集的说法中，正确的是（）。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并查集不能检测图中是否存在环路的问题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通过路径优化后的并查集在最坏情况下的高度仍是</a:t>
            </a:r>
            <a:r>
              <a:rPr lang="en-US" altLang="zh-CN" dirty="0"/>
              <a:t>O(n)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Find</a:t>
            </a:r>
            <a:r>
              <a:rPr lang="zh-CN" altLang="en-US" dirty="0"/>
              <a:t>操作返回集合中元素个数的相反数，它用来作为某个集合的标志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并查集基于树的双亲表示法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3185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并查集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下列关于并查集的叙述中，（）是错误的。</a:t>
            </a:r>
            <a:endParaRPr lang="en-US" altLang="zh-CN" dirty="0"/>
          </a:p>
          <a:p>
            <a:pPr lvl="1"/>
            <a:r>
              <a:rPr lang="zh-CN" altLang="en-US" dirty="0"/>
              <a:t>并查集是用双亲表示法存储的树</a:t>
            </a:r>
            <a:endParaRPr lang="en-US" altLang="zh-CN" dirty="0"/>
          </a:p>
          <a:p>
            <a:pPr lvl="1"/>
            <a:r>
              <a:rPr lang="zh-CN" altLang="en-US" dirty="0"/>
              <a:t>并查集可以用于实现</a:t>
            </a:r>
            <a:r>
              <a:rPr lang="en-US" altLang="zh-CN" dirty="0" err="1"/>
              <a:t>Kruskal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zh-CN" altLang="en-US" dirty="0"/>
              <a:t>并查集可以用于判断无向图的连通性</a:t>
            </a:r>
            <a:endParaRPr lang="en-US" altLang="zh-CN" dirty="0"/>
          </a:p>
          <a:p>
            <a:pPr lvl="1"/>
            <a:r>
              <a:rPr lang="zh-CN" altLang="en-US" dirty="0"/>
              <a:t>在长度为</a:t>
            </a:r>
            <a:r>
              <a:rPr lang="en-US" altLang="zh-CN" dirty="0"/>
              <a:t>n</a:t>
            </a:r>
            <a:r>
              <a:rPr lang="zh-CN" altLang="en-US" dirty="0"/>
              <a:t>的并查集中进行查找操作的时间复杂度为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8925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n&gt;=2</a:t>
            </a:r>
            <a:r>
              <a:rPr lang="zh-CN" altLang="en-US" dirty="0"/>
              <a:t>）个权值均不相同的字符构成哈夫曼树，关于该树的叙述中，错误的是（）。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该树一定是一棵完全二叉树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树中一定没有度为</a:t>
            </a:r>
            <a:r>
              <a:rPr lang="en-US" altLang="zh-CN" dirty="0"/>
              <a:t>1</a:t>
            </a:r>
            <a:r>
              <a:rPr lang="zh-CN" altLang="en-US" dirty="0"/>
              <a:t>的结点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树中两个权值最小的结点一定是兄弟结点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树中任一非叶结点的权值一定不小于下一层任一结点的权值</a:t>
            </a:r>
          </a:p>
        </p:txBody>
      </p:sp>
    </p:spTree>
    <p:extLst>
      <p:ext uri="{BB962C8B-B14F-4D97-AF65-F5344CB8AC3E}">
        <p14:creationId xmlns:p14="http://schemas.microsoft.com/office/powerpoint/2010/main" val="18333632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在有</a:t>
            </a:r>
            <a:r>
              <a:rPr lang="en-US" altLang="zh-CN" dirty="0"/>
              <a:t>n</a:t>
            </a:r>
            <a:r>
              <a:rPr lang="zh-CN" altLang="en-US" dirty="0"/>
              <a:t>个叶子结点的哈夫曼树中，非叶子结点的总数是（）。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n-1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n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2n-1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67534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</a:t>
            </a:r>
            <a:r>
              <a:rPr lang="en-US" altLang="zh-CN" dirty="0"/>
              <a:t>n</a:t>
            </a:r>
            <a:r>
              <a:rPr lang="zh-CN" altLang="en-US" dirty="0"/>
              <a:t>个互不相同的符号进行哈夫曼编码。若生产的哈夫曼树共有</a:t>
            </a:r>
            <a:r>
              <a:rPr lang="en-US" altLang="zh-CN" dirty="0"/>
              <a:t>115</a:t>
            </a:r>
            <a:r>
              <a:rPr lang="zh-CN" altLang="en-US" dirty="0"/>
              <a:t>个结点，则</a:t>
            </a:r>
            <a:r>
              <a:rPr lang="en-US" altLang="zh-CN" dirty="0"/>
              <a:t>n</a:t>
            </a:r>
            <a:r>
              <a:rPr lang="zh-CN" altLang="en-US" dirty="0"/>
              <a:t>的值是（）。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14788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个字符有如下</a:t>
            </a:r>
            <a:r>
              <a:rPr lang="en-US" altLang="zh-CN" dirty="0"/>
              <a:t>4</a:t>
            </a:r>
            <a:r>
              <a:rPr lang="zh-CN" altLang="en-US" dirty="0"/>
              <a:t>种编码方案，不是前缀编码的是（）。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01, 0000, 0001, 001, 1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011, 000, 001, 010, 1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000, 001, 010, 011, 100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0, 100, 110, 1110, 1100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30559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下列选项给出的是从根分别到达两个叶子结点路径上的权值序列，属于同一棵哈夫曼树的是（）。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和</a:t>
            </a: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14</a:t>
            </a:r>
            <a:r>
              <a:rPr lang="zh-CN" altLang="en-US" dirty="0"/>
              <a:t>、</a:t>
            </a:r>
            <a:r>
              <a:rPr lang="en-US" altLang="zh-CN" dirty="0"/>
              <a:t>11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和</a:t>
            </a: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14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27126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已知字符集｛</a:t>
            </a:r>
            <a:r>
              <a:rPr lang="en-US" altLang="zh-CN" dirty="0"/>
              <a:t>a, b, c, d, e, f, g, h</a:t>
            </a:r>
            <a:r>
              <a:rPr lang="zh-CN" altLang="en-US" dirty="0"/>
              <a:t>｝，若各字符的哈夫曼编码依次是</a:t>
            </a:r>
            <a:r>
              <a:rPr lang="en-US" altLang="zh-CN" dirty="0"/>
              <a:t>0100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0000</a:t>
            </a:r>
            <a:r>
              <a:rPr lang="zh-CN" altLang="en-US" dirty="0"/>
              <a:t>，</a:t>
            </a:r>
            <a:r>
              <a:rPr lang="en-US" altLang="zh-CN" dirty="0"/>
              <a:t>0101</a:t>
            </a:r>
            <a:r>
              <a:rPr lang="zh-CN" altLang="en-US" dirty="0"/>
              <a:t>，</a:t>
            </a:r>
            <a:r>
              <a:rPr lang="en-US" altLang="zh-CN" dirty="0"/>
              <a:t>001</a:t>
            </a:r>
            <a:r>
              <a:rPr lang="zh-CN" altLang="en-US" dirty="0"/>
              <a:t>，</a:t>
            </a:r>
            <a:r>
              <a:rPr lang="en-US" altLang="zh-CN" dirty="0"/>
              <a:t>011</a:t>
            </a:r>
            <a:r>
              <a:rPr lang="zh-CN" altLang="en-US" dirty="0"/>
              <a:t>，</a:t>
            </a:r>
            <a:r>
              <a:rPr lang="en-US" altLang="zh-CN" dirty="0"/>
              <a:t>11</a:t>
            </a:r>
            <a:r>
              <a:rPr lang="zh-CN" altLang="en-US" dirty="0"/>
              <a:t>，</a:t>
            </a:r>
            <a:r>
              <a:rPr lang="en-US" altLang="zh-CN" dirty="0"/>
              <a:t>0001</a:t>
            </a:r>
            <a:r>
              <a:rPr lang="zh-CN" altLang="en-US" dirty="0"/>
              <a:t>，则编码序列</a:t>
            </a:r>
            <a:r>
              <a:rPr lang="en-US" altLang="zh-CN" dirty="0"/>
              <a:t>0100011001001011110101</a:t>
            </a:r>
            <a:r>
              <a:rPr lang="zh-CN" altLang="en-US" dirty="0"/>
              <a:t>的译码结果是（）。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a c g a b f h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a d b a g b </a:t>
            </a:r>
            <a:r>
              <a:rPr lang="en-US" altLang="zh-CN" dirty="0" err="1"/>
              <a:t>b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a f b e a g d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a f e </a:t>
            </a:r>
            <a:r>
              <a:rPr lang="en-US" altLang="zh-CN" dirty="0" err="1"/>
              <a:t>e</a:t>
            </a:r>
            <a:r>
              <a:rPr lang="en-US" altLang="zh-CN" dirty="0"/>
              <a:t> f g d</a:t>
            </a:r>
          </a:p>
          <a:p>
            <a:pPr marL="914400" lvl="1" indent="-457200">
              <a:buFont typeface="+mj-lt"/>
              <a:buAutoNum type="alphaU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55635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已知字符集｛</a:t>
            </a:r>
            <a:r>
              <a:rPr lang="en-US" altLang="zh-CN" dirty="0"/>
              <a:t>a, b, c, d, e, f</a:t>
            </a:r>
            <a:r>
              <a:rPr lang="zh-CN" altLang="en-US" dirty="0"/>
              <a:t>｝，若各字符出现的次数分别为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，则对应字符集中各字符的哈夫曼编码可能是（）。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00, 1011, 01, 1010, 11, 100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00, 100, 110, 0000, 0010, 01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10, 1011, 11, 0011, 00, 010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0011, 10, 11, 0010, 01 ,000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99202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哈夫曼树（变型）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己知三叉树</a:t>
            </a:r>
            <a:r>
              <a:rPr lang="en-US" altLang="zh-CN" dirty="0"/>
              <a:t>T</a:t>
            </a:r>
            <a:r>
              <a:rPr lang="zh-CN" altLang="en-US" dirty="0"/>
              <a:t>中</a:t>
            </a:r>
            <a:r>
              <a:rPr lang="en-US" altLang="zh-CN" dirty="0"/>
              <a:t>6</a:t>
            </a:r>
            <a:r>
              <a:rPr lang="zh-CN" altLang="en-US" dirty="0"/>
              <a:t>个叶结点的权分别是 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的带权（外部）路径长度最小是（）。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48806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若某二叉树有</a:t>
            </a:r>
            <a:r>
              <a:rPr lang="en-US" altLang="zh-CN" dirty="0"/>
              <a:t>5</a:t>
            </a:r>
            <a:r>
              <a:rPr lang="zh-CN" altLang="en-US" dirty="0"/>
              <a:t>个叶结点，其权值分别为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21</a:t>
            </a:r>
            <a:r>
              <a:rPr lang="zh-CN" altLang="en-US" dirty="0"/>
              <a:t>，</a:t>
            </a:r>
            <a:r>
              <a:rPr lang="en-US" altLang="zh-CN" dirty="0"/>
              <a:t>30</a:t>
            </a:r>
            <a:r>
              <a:rPr lang="zh-CN" altLang="en-US" dirty="0"/>
              <a:t>，则其最小的带权路径长度为（）。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200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208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289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53499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对任意给定的含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n&gt;2</a:t>
            </a:r>
            <a:r>
              <a:rPr lang="zh-CN" altLang="en-US" dirty="0"/>
              <a:t>）个字符的有限集</a:t>
            </a:r>
            <a:r>
              <a:rPr lang="en-US" altLang="zh-CN" dirty="0"/>
              <a:t>S</a:t>
            </a:r>
            <a:r>
              <a:rPr lang="zh-CN" altLang="en-US" dirty="0"/>
              <a:t>，用二叉树表示</a:t>
            </a:r>
            <a:r>
              <a:rPr lang="en-US" altLang="zh-CN" dirty="0"/>
              <a:t>S</a:t>
            </a:r>
            <a:r>
              <a:rPr lang="zh-CN" altLang="en-US" dirty="0"/>
              <a:t>的哈夫曼编码集和定长编码集，分别得到二叉树</a:t>
            </a: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T2</a:t>
            </a:r>
            <a:r>
              <a:rPr lang="zh-CN" altLang="en-US" dirty="0"/>
              <a:t>。下列描述中，正确的是（）。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T2</a:t>
            </a:r>
            <a:r>
              <a:rPr lang="zh-CN" altLang="en-US" dirty="0"/>
              <a:t>的结点数相同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T1</a:t>
            </a:r>
            <a:r>
              <a:rPr lang="zh-CN" altLang="en-US" dirty="0"/>
              <a:t>的高度大于</a:t>
            </a:r>
            <a:r>
              <a:rPr lang="en-US" altLang="zh-CN" dirty="0"/>
              <a:t>T2</a:t>
            </a:r>
            <a:r>
              <a:rPr lang="zh-CN" altLang="en-US" dirty="0"/>
              <a:t>的高度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出现频次不同的字符在</a:t>
            </a:r>
            <a:r>
              <a:rPr lang="en-US" altLang="zh-CN" dirty="0"/>
              <a:t>T1</a:t>
            </a:r>
            <a:r>
              <a:rPr lang="zh-CN" altLang="en-US" dirty="0"/>
              <a:t>中处于不同的层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出现频次不同的字符在</a:t>
            </a:r>
            <a:r>
              <a:rPr lang="en-US" altLang="zh-CN" dirty="0"/>
              <a:t>T2</a:t>
            </a:r>
            <a:r>
              <a:rPr lang="zh-CN" altLang="en-US" dirty="0"/>
              <a:t>中处于不同的层</a:t>
            </a:r>
          </a:p>
        </p:txBody>
      </p:sp>
    </p:spTree>
    <p:extLst>
      <p:ext uri="{BB962C8B-B14F-4D97-AF65-F5344CB8AC3E}">
        <p14:creationId xmlns:p14="http://schemas.microsoft.com/office/powerpoint/2010/main" val="8976108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在由</a:t>
            </a:r>
            <a:r>
              <a:rPr lang="en-US" altLang="zh-CN" dirty="0"/>
              <a:t>6</a:t>
            </a:r>
            <a:r>
              <a:rPr lang="zh-CN" altLang="en-US" dirty="0"/>
              <a:t>个字符组成的字符集</a:t>
            </a:r>
            <a:r>
              <a:rPr lang="en-US" altLang="zh-CN" dirty="0"/>
              <a:t>S</a:t>
            </a:r>
            <a:r>
              <a:rPr lang="zh-CN" altLang="en-US" dirty="0"/>
              <a:t>中，各字符出现的频次分别为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，为</a:t>
            </a:r>
            <a:r>
              <a:rPr lang="en-US" altLang="zh-CN" dirty="0"/>
              <a:t>S</a:t>
            </a:r>
            <a:r>
              <a:rPr lang="zh-CN" altLang="en-US" dirty="0"/>
              <a:t>构造的哈夫曼编码的加权平均长度为（）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2.4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2.5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2.67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2.75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39584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无向图</a:t>
            </a:r>
            <a:r>
              <a:rPr lang="en-US" altLang="zh-CN" dirty="0"/>
              <a:t>G</a:t>
            </a:r>
            <a:r>
              <a:rPr lang="zh-CN" altLang="en-US" dirty="0"/>
              <a:t>有</a:t>
            </a:r>
            <a:r>
              <a:rPr lang="en-US" altLang="zh-CN" dirty="0"/>
              <a:t>16</a:t>
            </a:r>
            <a:r>
              <a:rPr lang="zh-CN" altLang="en-US" dirty="0"/>
              <a:t>条边，其中度为</a:t>
            </a:r>
            <a:r>
              <a:rPr lang="en-US" altLang="zh-CN" dirty="0"/>
              <a:t>4</a:t>
            </a:r>
            <a:r>
              <a:rPr lang="zh-CN" altLang="en-US" dirty="0"/>
              <a:t>的顶点个数为</a:t>
            </a:r>
            <a:r>
              <a:rPr lang="en-US" altLang="zh-CN" dirty="0"/>
              <a:t>3</a:t>
            </a:r>
            <a:r>
              <a:rPr lang="zh-CN" altLang="en-US" dirty="0"/>
              <a:t>，度为</a:t>
            </a:r>
            <a:r>
              <a:rPr lang="en-US" altLang="zh-CN" dirty="0"/>
              <a:t>3</a:t>
            </a:r>
            <a:r>
              <a:rPr lang="zh-CN" altLang="en-US" dirty="0"/>
              <a:t>的顶点个数是</a:t>
            </a:r>
            <a:r>
              <a:rPr lang="en-US" altLang="zh-CN" dirty="0"/>
              <a:t>4</a:t>
            </a:r>
            <a:r>
              <a:rPr lang="zh-CN" altLang="en-US" dirty="0"/>
              <a:t>，其他顶点的度均小于</a:t>
            </a:r>
            <a:r>
              <a:rPr lang="en-US" altLang="zh-CN" dirty="0"/>
              <a:t>3</a:t>
            </a:r>
            <a:r>
              <a:rPr lang="zh-CN" altLang="en-US" dirty="0"/>
              <a:t>。图</a:t>
            </a:r>
            <a:r>
              <a:rPr lang="en-US" altLang="zh-CN" dirty="0"/>
              <a:t>G</a:t>
            </a:r>
            <a:r>
              <a:rPr lang="zh-CN" altLang="en-US" dirty="0"/>
              <a:t>所含顶点个数至少是（）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97142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</a:t>
            </a:r>
            <a:r>
              <a:rPr lang="en-US" altLang="zh-CN" dirty="0"/>
              <a:t>G</a:t>
            </a:r>
            <a:r>
              <a:rPr lang="zh-CN" altLang="en-US" dirty="0"/>
              <a:t>是一个有</a:t>
            </a:r>
            <a:r>
              <a:rPr lang="en-US" altLang="zh-CN" dirty="0"/>
              <a:t>36</a:t>
            </a:r>
            <a:r>
              <a:rPr lang="zh-CN" altLang="en-US" dirty="0"/>
              <a:t>条边的非连通简单无向图，则图</a:t>
            </a:r>
            <a:r>
              <a:rPr lang="en-US" altLang="zh-CN" dirty="0"/>
              <a:t>G</a:t>
            </a:r>
            <a:r>
              <a:rPr lang="zh-CN" altLang="en-US" dirty="0"/>
              <a:t>的顶点数至少是（）。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04466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若无向图</a:t>
            </a:r>
            <a:r>
              <a:rPr lang="en-US" altLang="zh-CN" dirty="0"/>
              <a:t>G=</a:t>
            </a:r>
            <a:r>
              <a:rPr lang="zh-CN" altLang="en-US" dirty="0"/>
              <a:t>（</a:t>
            </a:r>
            <a:r>
              <a:rPr lang="en-US" altLang="zh-CN" dirty="0"/>
              <a:t>V, E</a:t>
            </a:r>
            <a:r>
              <a:rPr lang="zh-CN" altLang="en-US" dirty="0"/>
              <a:t>）中含有</a:t>
            </a:r>
            <a:r>
              <a:rPr lang="en-US" altLang="zh-CN" dirty="0"/>
              <a:t>7</a:t>
            </a:r>
            <a:r>
              <a:rPr lang="zh-CN" altLang="en-US" dirty="0"/>
              <a:t>个顶点，要保证图</a:t>
            </a:r>
            <a:r>
              <a:rPr lang="en-US" altLang="zh-CN" dirty="0"/>
              <a:t>G</a:t>
            </a:r>
            <a:r>
              <a:rPr lang="zh-CN" altLang="en-US" dirty="0"/>
              <a:t>在任何情况下都是连通的，则需要的边数最少是（）。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79539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下列关于无向连通图的叙述中，正确的是（） 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所有顶点的度之和为偶数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边数大于顶点个数减</a:t>
            </a:r>
            <a:r>
              <a:rPr lang="en-US" altLang="zh-CN" dirty="0"/>
              <a:t>1</a:t>
            </a:r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至少有一个顶点的度为</a:t>
            </a: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     B. </a:t>
            </a:r>
            <a:r>
              <a:rPr lang="zh-CN" altLang="en-US" dirty="0"/>
              <a:t>仅</a:t>
            </a:r>
            <a:r>
              <a:rPr lang="en-US" altLang="zh-CN" dirty="0"/>
              <a:t>II    C.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和</a:t>
            </a:r>
            <a:r>
              <a:rPr lang="en-US" altLang="zh-CN" dirty="0"/>
              <a:t>II    D.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和</a:t>
            </a:r>
            <a:r>
              <a:rPr lang="en-US" altLang="zh-CN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1496894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E9D30-053C-7C81-99F8-C0A3B9D3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D733F-6D3D-62D9-03A1-CA126D6FA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对于无向图</a:t>
            </a:r>
            <a:r>
              <a:rPr lang="en-US" altLang="zh-CN" dirty="0"/>
              <a:t>G=(V,E)</a:t>
            </a:r>
            <a:r>
              <a:rPr lang="zh-CN" altLang="en-US" dirty="0"/>
              <a:t>，下列选项中，正确的是（）。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当</a:t>
            </a:r>
            <a:r>
              <a:rPr lang="en-US" altLang="zh-CN" dirty="0"/>
              <a:t>|V|&gt;|E|</a:t>
            </a:r>
            <a:r>
              <a:rPr lang="zh-CN" altLang="en-US" dirty="0"/>
              <a:t>时，</a:t>
            </a:r>
            <a:r>
              <a:rPr lang="en-US" altLang="zh-CN" dirty="0"/>
              <a:t>G</a:t>
            </a:r>
            <a:r>
              <a:rPr lang="zh-CN" altLang="en-US" dirty="0"/>
              <a:t>一定是连通的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当</a:t>
            </a:r>
            <a:r>
              <a:rPr lang="en-US" altLang="zh-CN" dirty="0"/>
              <a:t>|V|&lt;|E|</a:t>
            </a:r>
            <a:r>
              <a:rPr lang="zh-CN" altLang="en-US" dirty="0"/>
              <a:t>时，</a:t>
            </a:r>
            <a:r>
              <a:rPr lang="en-US" altLang="zh-CN" dirty="0"/>
              <a:t>G</a:t>
            </a:r>
            <a:r>
              <a:rPr lang="zh-CN" altLang="en-US" dirty="0"/>
              <a:t>一定是连通的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当</a:t>
            </a:r>
            <a:r>
              <a:rPr lang="en-US" altLang="zh-CN" dirty="0"/>
              <a:t>|V|=|E|-1</a:t>
            </a:r>
            <a:r>
              <a:rPr lang="zh-CN" altLang="en-US" dirty="0"/>
              <a:t>时，</a:t>
            </a:r>
            <a:r>
              <a:rPr lang="en-US" altLang="zh-CN" dirty="0"/>
              <a:t>G</a:t>
            </a:r>
            <a:r>
              <a:rPr lang="zh-CN" altLang="en-US" dirty="0"/>
              <a:t>一定是不连通的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当</a:t>
            </a:r>
            <a:r>
              <a:rPr lang="en-US" altLang="zh-CN" dirty="0"/>
              <a:t>|V|&gt;|E|-1</a:t>
            </a:r>
            <a:r>
              <a:rPr lang="zh-CN" altLang="en-US" dirty="0"/>
              <a:t>时，</a:t>
            </a:r>
            <a:r>
              <a:rPr lang="en-US" altLang="zh-CN" dirty="0"/>
              <a:t>G</a:t>
            </a:r>
            <a:r>
              <a:rPr lang="zh-CN" altLang="en-US" dirty="0"/>
              <a:t>一定是不连通的</a:t>
            </a:r>
          </a:p>
        </p:txBody>
      </p:sp>
    </p:spTree>
    <p:extLst>
      <p:ext uri="{BB962C8B-B14F-4D97-AF65-F5344CB8AC3E}">
        <p14:creationId xmlns:p14="http://schemas.microsoft.com/office/powerpoint/2010/main" val="31790767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若对如下无向图进行遍历，则下列选项中，不是广度优先遍历序列的是（）。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h, c, a, b, d, e, g, f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e, a, f, g, b, h, c, d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d, b, c, a, h, e, f, g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a, b, c, d, h, e, f, g</a:t>
            </a:r>
            <a:endParaRPr lang="zh-CN" altLang="en-US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2289617"/>
            <a:ext cx="5080000" cy="334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224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下列选项中，不是下图深度优先遍历序列的是（）。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V1, V5, V4, V3, V2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V1, V3, V2, V5, V4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V1, V2, V5, V4, V3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V1, V2, V3, V4, V5</a:t>
            </a:r>
            <a:endParaRPr lang="zh-CN" altLang="en-US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73900" y="2566987"/>
            <a:ext cx="37338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005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905000"/>
            <a:ext cx="10363200" cy="4114800"/>
          </a:xfrm>
        </p:spPr>
        <p:txBody>
          <a:bodyPr/>
          <a:lstStyle/>
          <a:p>
            <a:r>
              <a:rPr lang="zh-CN" altLang="en-US" dirty="0"/>
              <a:t>设有向图</a:t>
            </a:r>
            <a:r>
              <a:rPr lang="en-US" altLang="zh-CN" dirty="0"/>
              <a:t>G=(V, E)</a:t>
            </a:r>
            <a:r>
              <a:rPr lang="zh-CN" altLang="en-US" dirty="0"/>
              <a:t>，顶点集</a:t>
            </a:r>
            <a:r>
              <a:rPr lang="en-US" altLang="zh-CN" dirty="0"/>
              <a:t>V={v0, v1, v2, v3}</a:t>
            </a:r>
            <a:r>
              <a:rPr lang="zh-CN" altLang="en-US" dirty="0"/>
              <a:t>，边集</a:t>
            </a:r>
            <a:r>
              <a:rPr lang="en-US" altLang="zh-CN" dirty="0"/>
              <a:t>E={&lt;v0,v1&gt;, &lt;v0,v2&gt;,&lt;v0,v3&gt;,&lt;v1,v3&gt;}</a:t>
            </a:r>
            <a:r>
              <a:rPr lang="zh-CN" altLang="en-US" dirty="0"/>
              <a:t>。若从顶点</a:t>
            </a:r>
            <a:r>
              <a:rPr lang="en-US" altLang="zh-CN" dirty="0"/>
              <a:t>v0</a:t>
            </a:r>
            <a:r>
              <a:rPr lang="zh-CN" altLang="en-US" dirty="0"/>
              <a:t>开始对图进行深度优先遍历，则可能得到的不同遍历序列个数是（）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92079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下列关于最小生成树的叙述中，正确的是（）。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最小生成树的代价唯一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所有权值最小的边一定会出现在所有的最小生成树中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使用</a:t>
            </a:r>
            <a:r>
              <a:rPr lang="en-US" altLang="zh-CN" dirty="0"/>
              <a:t>Prim</a:t>
            </a:r>
            <a:r>
              <a:rPr lang="zh-CN" altLang="en-US" dirty="0"/>
              <a:t>算法从不同顶点开始的最小生成树一定相同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使用</a:t>
            </a:r>
            <a:r>
              <a:rPr lang="en-US" altLang="zh-CN" dirty="0"/>
              <a:t>Prime</a:t>
            </a:r>
            <a:r>
              <a:rPr lang="zh-CN" altLang="en-US" dirty="0"/>
              <a:t>和</a:t>
            </a:r>
            <a:r>
              <a:rPr lang="en-US" altLang="zh-CN" dirty="0" err="1"/>
              <a:t>Kruskal</a:t>
            </a:r>
            <a:r>
              <a:rPr lang="zh-CN" altLang="en-US" dirty="0"/>
              <a:t>算法得到的最小生成树总不相同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   B. </a:t>
            </a:r>
            <a:r>
              <a:rPr lang="zh-CN" altLang="en-US" dirty="0"/>
              <a:t>仅</a:t>
            </a:r>
            <a:r>
              <a:rPr lang="en-US" altLang="zh-CN" dirty="0"/>
              <a:t>II   C. </a:t>
            </a:r>
            <a:r>
              <a:rPr lang="zh-CN" altLang="en-US" dirty="0"/>
              <a:t>仅</a:t>
            </a:r>
            <a:r>
              <a:rPr lang="en-US" altLang="zh-CN" dirty="0"/>
              <a:t>I, III   D. </a:t>
            </a:r>
            <a:r>
              <a:rPr lang="zh-CN" altLang="en-US" dirty="0"/>
              <a:t>仅</a:t>
            </a:r>
            <a:r>
              <a:rPr lang="en-US" altLang="zh-CN" dirty="0"/>
              <a:t>II, 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26233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求右图的最小生成树时，可能是</a:t>
            </a:r>
            <a:r>
              <a:rPr lang="en-US" altLang="zh-CN" dirty="0" err="1"/>
              <a:t>Kruskal</a:t>
            </a:r>
            <a:r>
              <a:rPr lang="zh-CN" altLang="en-US" dirty="0"/>
              <a:t>算法第</a:t>
            </a:r>
            <a:r>
              <a:rPr lang="en-US" altLang="zh-CN" dirty="0"/>
              <a:t>2</a:t>
            </a:r>
            <a:r>
              <a:rPr lang="zh-CN" altLang="en-US" dirty="0"/>
              <a:t>次选中但不是</a:t>
            </a:r>
            <a:r>
              <a:rPr lang="en-US" altLang="zh-CN" dirty="0"/>
              <a:t>Prim</a:t>
            </a:r>
            <a:r>
              <a:rPr lang="zh-CN" altLang="en-US" dirty="0"/>
              <a:t>算法（从</a:t>
            </a:r>
            <a:r>
              <a:rPr lang="en-US" altLang="zh-CN" dirty="0"/>
              <a:t>V4</a:t>
            </a:r>
            <a:r>
              <a:rPr lang="zh-CN" altLang="en-US" dirty="0"/>
              <a:t>开始）第</a:t>
            </a:r>
            <a:r>
              <a:rPr lang="en-US" altLang="zh-CN" dirty="0"/>
              <a:t>2</a:t>
            </a:r>
            <a:r>
              <a:rPr lang="zh-CN" altLang="en-US" dirty="0"/>
              <a:t>次选中的边是（）。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(V1, V3)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(V1, V4)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(V2, V3)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(V3, V4)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60096" y="2276872"/>
            <a:ext cx="40005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534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已知无向图</a:t>
            </a:r>
            <a:r>
              <a:rPr lang="en-US" altLang="zh-CN" dirty="0"/>
              <a:t>G</a:t>
            </a:r>
            <a:r>
              <a:rPr lang="zh-CN" altLang="en-US" dirty="0"/>
              <a:t>如右所示，使用</a:t>
            </a:r>
            <a:r>
              <a:rPr lang="en-US" altLang="zh-CN" dirty="0" err="1"/>
              <a:t>Kruskal</a:t>
            </a:r>
            <a:r>
              <a:rPr lang="zh-CN" altLang="en-US" dirty="0"/>
              <a:t>算法求图</a:t>
            </a:r>
            <a:r>
              <a:rPr lang="en-US" altLang="zh-CN" dirty="0"/>
              <a:t>G</a:t>
            </a:r>
            <a:r>
              <a:rPr lang="zh-CN" altLang="en-US" dirty="0"/>
              <a:t>的最小生成树，加到最小生成树中的边依次是（）。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bf, </a:t>
            </a:r>
            <a:r>
              <a:rPr lang="en-US" altLang="zh-CN" dirty="0" err="1"/>
              <a:t>bd</a:t>
            </a:r>
            <a:r>
              <a:rPr lang="en-US" altLang="zh-CN" dirty="0"/>
              <a:t>, ae, </a:t>
            </a:r>
            <a:r>
              <a:rPr lang="en-US" altLang="zh-CN" dirty="0" err="1"/>
              <a:t>ce</a:t>
            </a:r>
            <a:r>
              <a:rPr lang="en-US" altLang="zh-CN" dirty="0"/>
              <a:t>, be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bf, </a:t>
            </a:r>
            <a:r>
              <a:rPr lang="en-US" altLang="zh-CN" dirty="0" err="1"/>
              <a:t>bd</a:t>
            </a:r>
            <a:r>
              <a:rPr lang="en-US" altLang="zh-CN" dirty="0"/>
              <a:t>, be, ae, </a:t>
            </a:r>
            <a:r>
              <a:rPr lang="en-US" altLang="zh-CN" dirty="0" err="1"/>
              <a:t>ce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ae, be, </a:t>
            </a:r>
            <a:r>
              <a:rPr lang="en-US" altLang="zh-CN" dirty="0" err="1"/>
              <a:t>ce</a:t>
            </a:r>
            <a:r>
              <a:rPr lang="en-US" altLang="zh-CN" dirty="0"/>
              <a:t>, </a:t>
            </a:r>
            <a:r>
              <a:rPr lang="en-US" altLang="zh-CN" dirty="0" err="1"/>
              <a:t>bd</a:t>
            </a:r>
            <a:r>
              <a:rPr lang="en-US" altLang="zh-CN" dirty="0"/>
              <a:t>, bf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ae, </a:t>
            </a:r>
            <a:r>
              <a:rPr lang="en-US" altLang="zh-CN" dirty="0" err="1"/>
              <a:t>ce</a:t>
            </a:r>
            <a:r>
              <a:rPr lang="en-US" altLang="zh-CN" dirty="0"/>
              <a:t>, be, bf, </a:t>
            </a:r>
            <a:r>
              <a:rPr lang="en-US" altLang="zh-CN" dirty="0" err="1"/>
              <a:t>bd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50025" y="2743200"/>
            <a:ext cx="47815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878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下列关于广度优先算法的说法中，正确的是（） 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当各边的权值相等时，广度优先算法可以解决单源最短路径问题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当各边的权值不相等时，广度优先算法可以解决单源最短路径问题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广度优先遍历算法类似于树中的后序遍历算法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实现图的广度优先算法时，使用的数据结构是队列</a:t>
            </a:r>
            <a:endParaRPr lang="en-US" altLang="zh-CN" dirty="0"/>
          </a:p>
          <a:p>
            <a:pPr marL="914400" lvl="1" indent="-45720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I, IV     B. II, III, IV    C. II, IV    D. I, III, IV</a:t>
            </a:r>
          </a:p>
        </p:txBody>
      </p:sp>
    </p:spTree>
    <p:extLst>
      <p:ext uri="{BB962C8B-B14F-4D97-AF65-F5344CB8AC3E}">
        <p14:creationId xmlns:p14="http://schemas.microsoft.com/office/powerpoint/2010/main" val="9184955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2400" dirty="0"/>
              <a:t>对下图所示的有向带权图，若采用</a:t>
            </a:r>
            <a:r>
              <a:rPr lang="en-US" altLang="zh-CN" sz="2400" dirty="0" err="1"/>
              <a:t>Dijkstra</a:t>
            </a:r>
            <a:r>
              <a:rPr lang="zh-CN" altLang="en-US" sz="2400" dirty="0"/>
              <a:t>算法从源点</a:t>
            </a:r>
            <a:r>
              <a:rPr lang="en-US" altLang="zh-CN" sz="2400" dirty="0"/>
              <a:t>a</a:t>
            </a:r>
            <a:r>
              <a:rPr lang="zh-CN" altLang="en-US" sz="2400" dirty="0"/>
              <a:t>到其他各顶点的最短路径，则得到的第一条最短路径的目标顶点是</a:t>
            </a:r>
            <a:r>
              <a:rPr lang="en-US" altLang="zh-CN" sz="2400" dirty="0"/>
              <a:t>b</a:t>
            </a:r>
            <a:r>
              <a:rPr lang="zh-CN" altLang="en-US" sz="2400" dirty="0"/>
              <a:t>，第二条最短路径的目标顶点是</a:t>
            </a:r>
            <a:r>
              <a:rPr lang="en-US" altLang="zh-CN" sz="2400" dirty="0"/>
              <a:t>c</a:t>
            </a:r>
            <a:r>
              <a:rPr lang="zh-CN" altLang="en-US" sz="2400" dirty="0"/>
              <a:t>，后序得到的其余各最短路径的目标顶点依次是（）。</a:t>
            </a:r>
            <a:endParaRPr lang="en-US" altLang="zh-CN" sz="2400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sz="2000" dirty="0"/>
              <a:t>d, e, f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sz="2000" dirty="0"/>
              <a:t>e, d, f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sz="2000" dirty="0"/>
              <a:t>f, d, 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sz="2000" dirty="0"/>
              <a:t>f, e, d</a:t>
            </a:r>
            <a:endParaRPr lang="zh-CN" altLang="en-US" sz="2000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2981489"/>
            <a:ext cx="5080000" cy="196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033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Dijkstra</a:t>
            </a:r>
            <a:r>
              <a:rPr lang="zh-CN" altLang="en-US" dirty="0"/>
              <a:t>算法求下图中从顶点</a:t>
            </a:r>
            <a:r>
              <a:rPr lang="en-US" altLang="zh-CN" dirty="0"/>
              <a:t>1</a:t>
            </a:r>
            <a:r>
              <a:rPr lang="zh-CN" altLang="en-US" dirty="0"/>
              <a:t>到其他各顶点的最短路径，依次得到的各最短路径的目标顶点是（）。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3034394"/>
            <a:ext cx="5080000" cy="185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966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Dijkstra</a:t>
            </a:r>
            <a:r>
              <a:rPr lang="zh-CN" altLang="en-US" dirty="0"/>
              <a:t>算法求下图中从顶点</a:t>
            </a:r>
            <a:r>
              <a:rPr lang="en-US" altLang="zh-CN" dirty="0"/>
              <a:t>1</a:t>
            </a:r>
            <a:r>
              <a:rPr lang="zh-CN" altLang="en-US" dirty="0"/>
              <a:t>到其余各顶点的最短路径，将当前找到的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的最短路径长度保存在数组</a:t>
            </a:r>
            <a:r>
              <a:rPr lang="en-US" altLang="zh-CN" dirty="0" err="1"/>
              <a:t>dist</a:t>
            </a:r>
            <a:r>
              <a:rPr lang="zh-CN" altLang="en-US" dirty="0"/>
              <a:t>中，求出第二条最短路径后，</a:t>
            </a:r>
            <a:r>
              <a:rPr lang="en-US" altLang="zh-CN" dirty="0" err="1"/>
              <a:t>dist</a:t>
            </a:r>
            <a:r>
              <a:rPr lang="zh-CN" altLang="en-US" dirty="0"/>
              <a:t>中的内容更新为（）。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26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25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184" y="3378550"/>
            <a:ext cx="3153577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537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Prim</a:t>
            </a:r>
            <a:r>
              <a:rPr lang="zh-CN" altLang="en-US" dirty="0"/>
              <a:t>算法中，边上权重可以为负数吗？如果可以，请说明理由，如果不可以，请举例说明。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Floyd</a:t>
            </a:r>
            <a:r>
              <a:rPr lang="zh-CN" altLang="en-US" dirty="0"/>
              <a:t>算法中，边上权重可以为负数吗？如果可以，请说明理由，如果不可以，请举例说明。</a:t>
            </a:r>
          </a:p>
        </p:txBody>
      </p:sp>
    </p:spTree>
    <p:extLst>
      <p:ext uri="{BB962C8B-B14F-4D97-AF65-F5344CB8AC3E}">
        <p14:creationId xmlns:p14="http://schemas.microsoft.com/office/powerpoint/2010/main" val="38921803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有向无环图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用有向无环图描述表达式</a:t>
            </a:r>
            <a:r>
              <a:rPr lang="en-US" altLang="zh-CN" dirty="0"/>
              <a:t>(</a:t>
            </a:r>
            <a:r>
              <a:rPr lang="en-US" altLang="zh-CN" dirty="0" err="1"/>
              <a:t>x+y</a:t>
            </a:r>
            <a:r>
              <a:rPr lang="en-US" altLang="zh-CN" dirty="0"/>
              <a:t>)((</a:t>
            </a:r>
            <a:r>
              <a:rPr lang="en-US" altLang="zh-CN" dirty="0" err="1"/>
              <a:t>x+y</a:t>
            </a:r>
            <a:r>
              <a:rPr lang="en-US" altLang="zh-CN" dirty="0"/>
              <a:t>)/x)</a:t>
            </a:r>
            <a:r>
              <a:rPr lang="zh-CN" altLang="en-US" dirty="0"/>
              <a:t>，需要的顶点个数至少是（）。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</a:t>
            </a:r>
          </a:p>
          <a:p>
            <a:pPr marL="914400" lvl="1" indent="-457200">
              <a:buFont typeface="+mj-lt"/>
              <a:buAutoNum type="alphaU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8114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有向无环图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修改递归方式实现的图的</a:t>
            </a:r>
            <a:r>
              <a:rPr lang="en-US" altLang="zh-CN" dirty="0"/>
              <a:t>DFD</a:t>
            </a:r>
            <a:r>
              <a:rPr lang="zh-CN" altLang="en-US" dirty="0"/>
              <a:t>算法，将输出（访问）顶点信息的语句移到退出递归前（即执行输出语句后立刻退出递归）。采用修改后的算法遍历有向无环图</a:t>
            </a:r>
            <a:r>
              <a:rPr lang="en-US" altLang="zh-CN" dirty="0"/>
              <a:t>G</a:t>
            </a:r>
            <a:r>
              <a:rPr lang="zh-CN" altLang="en-US" dirty="0"/>
              <a:t>，若输出结果中包含的全部顶点，则输出的顶点序列是</a:t>
            </a:r>
            <a:r>
              <a:rPr lang="en-US" altLang="zh-CN" dirty="0"/>
              <a:t>G</a:t>
            </a:r>
            <a:r>
              <a:rPr lang="zh-CN" altLang="en-US" dirty="0"/>
              <a:t>的（）。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拓扑有序序列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逆拓扑有序序列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广度优先搜索序列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深度优先搜索序列</a:t>
            </a:r>
          </a:p>
        </p:txBody>
      </p:sp>
    </p:spTree>
    <p:extLst>
      <p:ext uri="{BB962C8B-B14F-4D97-AF65-F5344CB8AC3E}">
        <p14:creationId xmlns:p14="http://schemas.microsoft.com/office/powerpoint/2010/main" val="29793794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下列关于图的叙述中，正确的是（） 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回路是简单路径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存储稀疏图，</a:t>
            </a:r>
            <a:r>
              <a:rPr lang="zh-CN" altLang="en-US"/>
              <a:t>用邻接矩阵比邻接</a:t>
            </a:r>
            <a:r>
              <a:rPr lang="zh-CN" altLang="en-US" dirty="0"/>
              <a:t>表更省空间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若有向图中存在拓扑序列，则该图不存在回路</a:t>
            </a:r>
            <a:endParaRPr lang="en-US" altLang="zh-CN" dirty="0"/>
          </a:p>
          <a:p>
            <a:pPr marL="914400" lvl="1" indent="-45720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II     B.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II    C. </a:t>
            </a:r>
            <a:r>
              <a:rPr lang="zh-CN" altLang="en-US" dirty="0"/>
              <a:t>仅</a:t>
            </a:r>
            <a:r>
              <a:rPr lang="en-US" altLang="zh-CN" dirty="0"/>
              <a:t>III    D.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32161145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若对</a:t>
            </a:r>
            <a:r>
              <a:rPr lang="en-US" altLang="zh-CN" dirty="0"/>
              <a:t>n</a:t>
            </a:r>
            <a:r>
              <a:rPr lang="zh-CN" altLang="en-US" dirty="0"/>
              <a:t>个顶点、</a:t>
            </a:r>
            <a:r>
              <a:rPr lang="en-US" altLang="zh-CN" dirty="0"/>
              <a:t>e</a:t>
            </a:r>
            <a:r>
              <a:rPr lang="zh-CN" altLang="en-US" dirty="0"/>
              <a:t>条弧的有向图采用邻接表存储，则拓扑排序算法的时间复杂度是（）。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</a:t>
            </a:r>
            <a:r>
              <a:rPr lang="en-US" altLang="zh-CN" dirty="0" err="1"/>
              <a:t>n+e</a:t>
            </a:r>
            <a:r>
              <a:rPr lang="en-US" altLang="zh-CN" dirty="0"/>
              <a:t>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O(ne)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40052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以下关于拓扑排序的说法中，错误的是（）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若某有向图存在环路，则该有向图一定不存在拓扑排序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在拓扑排序算法中为暂存入度为零的顶点，可以使用栈，也可以使用队列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若有向图的拓扑排序序列唯一，则图中每个顶点的入度和出度最多为</a:t>
            </a:r>
            <a:r>
              <a:rPr lang="en-US" altLang="zh-CN" dirty="0"/>
              <a:t>1</a:t>
            </a:r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I, III    B. II, III    C. II    D. III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3686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若用邻接矩阵存储有向图，矩阵主对角线以下的元素全为</a:t>
            </a:r>
            <a:r>
              <a:rPr lang="en-US" altLang="zh-CN" dirty="0"/>
              <a:t>0</a:t>
            </a:r>
            <a:r>
              <a:rPr lang="zh-CN" altLang="en-US" dirty="0"/>
              <a:t>，则关于该图拓扑排序的结论是（）。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存在，且唯一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存在，且不唯一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存在，可能不唯一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无法确定是否存在</a:t>
            </a:r>
          </a:p>
        </p:txBody>
      </p:sp>
    </p:spTree>
    <p:extLst>
      <p:ext uri="{BB962C8B-B14F-4D97-AF65-F5344CB8AC3E}">
        <p14:creationId xmlns:p14="http://schemas.microsoft.com/office/powerpoint/2010/main" val="39950397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对下图进行拓扑排序，可得到不同拓扑排序的个数是（）。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2" name="内容占位符 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72064" y="2886075"/>
            <a:ext cx="45624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79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对下图所示的有向图进行拓扑排序，得到的拓扑序列可能是（）。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endParaRPr lang="zh-CN" altLang="en-US" dirty="0"/>
          </a:p>
        </p:txBody>
      </p:sp>
      <p:pic>
        <p:nvPicPr>
          <p:cNvPr id="3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60096" y="2132856"/>
            <a:ext cx="36957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9642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下列选项中，不是右图拓扑排序序列的是（）。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56040" y="2060848"/>
            <a:ext cx="5080000" cy="263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3193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若使用</a:t>
            </a:r>
            <a:r>
              <a:rPr lang="en-US" altLang="zh-CN" dirty="0"/>
              <a:t>AOE</a:t>
            </a:r>
            <a:r>
              <a:rPr lang="zh-CN" altLang="en-US" dirty="0"/>
              <a:t>网估算工程进度，则下列叙述中正确的是（）。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关键路径是从源点到汇点边数最多的一条路径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关键路径是从源点到汇点路径长度最长的路径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增加任一关键活动的时间不会延长工程的工期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缩减任一关键活动的时间将会缩短工程的工期</a:t>
            </a:r>
          </a:p>
        </p:txBody>
      </p:sp>
    </p:spTree>
    <p:extLst>
      <p:ext uri="{BB962C8B-B14F-4D97-AF65-F5344CB8AC3E}">
        <p14:creationId xmlns:p14="http://schemas.microsoft.com/office/powerpoint/2010/main" val="118830283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下列</a:t>
            </a:r>
            <a:r>
              <a:rPr lang="en-US" altLang="zh-CN" dirty="0"/>
              <a:t>AOE</a:t>
            </a:r>
            <a:r>
              <a:rPr lang="zh-CN" altLang="en-US" dirty="0"/>
              <a:t>网表示一项包含</a:t>
            </a:r>
            <a:r>
              <a:rPr lang="en-US" altLang="zh-CN" dirty="0"/>
              <a:t>8</a:t>
            </a:r>
            <a:r>
              <a:rPr lang="zh-CN" altLang="en-US" dirty="0"/>
              <a:t>个活动的工程。通过同时加快若干活动的进度可以缩短整个工程的工期。下列选项中，加快其进度就可以缩短工程工期的是（）。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d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f</a:t>
            </a:r>
            <a:r>
              <a:rPr lang="zh-CN" altLang="en-US" dirty="0"/>
              <a:t>和</a:t>
            </a:r>
            <a:r>
              <a:rPr lang="en-US" altLang="zh-CN" dirty="0"/>
              <a:t>d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f</a:t>
            </a:r>
            <a:r>
              <a:rPr lang="zh-CN" altLang="en-US" dirty="0"/>
              <a:t>和</a:t>
            </a:r>
            <a:r>
              <a:rPr lang="en-US" altLang="zh-CN" dirty="0"/>
              <a:t>h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2742129"/>
            <a:ext cx="5080000" cy="244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389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右图所示</a:t>
            </a:r>
            <a:r>
              <a:rPr lang="en-US" altLang="zh-CN" dirty="0"/>
              <a:t>AOE</a:t>
            </a:r>
            <a:r>
              <a:rPr lang="zh-CN" altLang="en-US" dirty="0"/>
              <a:t>网表示一项包括</a:t>
            </a:r>
            <a:r>
              <a:rPr lang="en-US" altLang="zh-CN" dirty="0"/>
              <a:t>8</a:t>
            </a:r>
            <a:r>
              <a:rPr lang="zh-CN" altLang="en-US" dirty="0"/>
              <a:t>个活动的工程。活动</a:t>
            </a:r>
            <a:r>
              <a:rPr lang="en-US" altLang="zh-CN" dirty="0"/>
              <a:t>d</a:t>
            </a:r>
            <a:r>
              <a:rPr lang="zh-CN" altLang="en-US" dirty="0"/>
              <a:t>最早开始和最迟开始时间分别是（）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12</a:t>
            </a:r>
            <a:r>
              <a:rPr lang="zh-CN" altLang="en-US" dirty="0"/>
              <a:t>和</a:t>
            </a:r>
            <a:r>
              <a:rPr lang="en-US" altLang="zh-CN" dirty="0"/>
              <a:t>12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12</a:t>
            </a:r>
            <a:r>
              <a:rPr lang="zh-CN" altLang="en-US" dirty="0"/>
              <a:t>和</a:t>
            </a:r>
            <a:r>
              <a:rPr lang="en-US" altLang="zh-CN" dirty="0"/>
              <a:t>14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  <a:r>
              <a:rPr lang="zh-CN" altLang="en-US" dirty="0"/>
              <a:t>和</a:t>
            </a:r>
            <a:r>
              <a:rPr lang="en-US" altLang="zh-CN" dirty="0"/>
              <a:t>15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2959644"/>
            <a:ext cx="5080000" cy="200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702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不等概率查找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7600" y="1905000"/>
            <a:ext cx="10667032" cy="4114800"/>
          </a:xfrm>
        </p:spPr>
        <p:txBody>
          <a:bodyPr/>
          <a:lstStyle/>
          <a:p>
            <a:r>
              <a:rPr lang="zh-CN" altLang="en-US" dirty="0"/>
              <a:t>设包含</a:t>
            </a:r>
            <a:r>
              <a:rPr lang="en-US" altLang="zh-CN" dirty="0"/>
              <a:t>4</a:t>
            </a:r>
            <a:r>
              <a:rPr lang="zh-CN" altLang="en-US" dirty="0"/>
              <a:t>个数据元素的集合</a:t>
            </a:r>
            <a:r>
              <a:rPr lang="en-US" altLang="zh-CN" dirty="0"/>
              <a:t>S={ "do"</a:t>
            </a:r>
            <a:r>
              <a:rPr lang="zh-CN" altLang="en-US" dirty="0"/>
              <a:t>，</a:t>
            </a:r>
            <a:r>
              <a:rPr lang="en-US" altLang="zh-CN" dirty="0"/>
              <a:t>"for"</a:t>
            </a:r>
            <a:r>
              <a:rPr lang="zh-CN" altLang="en-US" dirty="0"/>
              <a:t>，</a:t>
            </a:r>
            <a:r>
              <a:rPr lang="en-US" altLang="zh-CN" dirty="0"/>
              <a:t>" repeat"</a:t>
            </a:r>
            <a:r>
              <a:rPr lang="zh-CN" altLang="en-US" dirty="0"/>
              <a:t>，</a:t>
            </a:r>
            <a:r>
              <a:rPr lang="en-US" altLang="zh-CN" dirty="0"/>
              <a:t>"while"}</a:t>
            </a:r>
            <a:r>
              <a:rPr lang="zh-CN" altLang="en-US" dirty="0"/>
              <a:t>，各元素的查找概率依次为：</a:t>
            </a:r>
            <a:r>
              <a:rPr lang="en-US" altLang="zh-CN" dirty="0"/>
              <a:t>p1=0.35</a:t>
            </a:r>
            <a:r>
              <a:rPr lang="zh-CN" altLang="en-US" dirty="0"/>
              <a:t>，</a:t>
            </a:r>
            <a:r>
              <a:rPr lang="en-US" altLang="zh-CN" dirty="0"/>
              <a:t>p2 = 0.15</a:t>
            </a:r>
            <a:r>
              <a:rPr lang="zh-CN" altLang="en-US" dirty="0"/>
              <a:t>，</a:t>
            </a:r>
            <a:r>
              <a:rPr lang="en-US" altLang="zh-CN" dirty="0"/>
              <a:t>p3=0. 15</a:t>
            </a:r>
            <a:r>
              <a:rPr lang="zh-CN" altLang="en-US" dirty="0"/>
              <a:t>，</a:t>
            </a:r>
            <a:r>
              <a:rPr lang="en-US" altLang="zh-CN" dirty="0"/>
              <a:t>p4=0.35</a:t>
            </a:r>
            <a:r>
              <a:rPr lang="zh-CN" altLang="en-US" dirty="0"/>
              <a:t>。将</a:t>
            </a:r>
            <a:r>
              <a:rPr lang="en-US" altLang="zh-CN" dirty="0"/>
              <a:t>S</a:t>
            </a:r>
            <a:r>
              <a:rPr lang="zh-CN" altLang="en-US" dirty="0"/>
              <a:t>保存在一个长度为</a:t>
            </a:r>
            <a:r>
              <a:rPr lang="en-US" altLang="zh-CN" dirty="0"/>
              <a:t>4</a:t>
            </a:r>
            <a:r>
              <a:rPr lang="zh-CN" altLang="en-US" dirty="0"/>
              <a:t>的顺序表中，采用折半查找法，查找成功时的平均查找长度为</a:t>
            </a:r>
            <a:r>
              <a:rPr lang="en-US" altLang="zh-CN" dirty="0"/>
              <a:t>2.2</a:t>
            </a:r>
            <a:r>
              <a:rPr lang="zh-CN" altLang="en-US" dirty="0"/>
              <a:t>。请回答：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）若采用顺序存储结构保存</a:t>
            </a:r>
            <a:r>
              <a:rPr lang="en-US" altLang="zh-CN" dirty="0"/>
              <a:t>S</a:t>
            </a:r>
            <a:r>
              <a:rPr lang="zh-CN" altLang="en-US" dirty="0"/>
              <a:t>，且要求平均查找长度更短，则元素应如何排列？应使用何种查找方法？查找成功时的平均查找长度是多少？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）若采用链式存储结构保存</a:t>
            </a:r>
            <a:r>
              <a:rPr lang="en-US" altLang="zh-CN" dirty="0"/>
              <a:t>S</a:t>
            </a:r>
            <a:r>
              <a:rPr lang="zh-CN" altLang="en-US" dirty="0"/>
              <a:t>，且要求平均查找长度更短，则元素应如何排列？应使用何种查找方法？查找成功时的平均查找长度是多少？</a:t>
            </a:r>
          </a:p>
        </p:txBody>
      </p:sp>
    </p:spTree>
    <p:extLst>
      <p:ext uri="{BB962C8B-B14F-4D97-AF65-F5344CB8AC3E}">
        <p14:creationId xmlns:p14="http://schemas.microsoft.com/office/powerpoint/2010/main" val="18441573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折半查找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已知一个长度为</a:t>
            </a:r>
            <a:r>
              <a:rPr lang="en-US" altLang="zh-CN" dirty="0"/>
              <a:t>16</a:t>
            </a:r>
            <a:r>
              <a:rPr lang="zh-CN" altLang="en-US" dirty="0"/>
              <a:t>的顺序表</a:t>
            </a:r>
            <a:r>
              <a:rPr lang="en-US" altLang="zh-CN" dirty="0"/>
              <a:t>L</a:t>
            </a:r>
            <a:r>
              <a:rPr lang="zh-CN" altLang="en-US" dirty="0"/>
              <a:t>，其元素按关键字有序排列，若采用折半查找法查找一个</a:t>
            </a:r>
            <a:r>
              <a:rPr lang="en-US" altLang="zh-CN" dirty="0"/>
              <a:t>L</a:t>
            </a:r>
            <a:r>
              <a:rPr lang="zh-CN" altLang="en-US" dirty="0"/>
              <a:t>中不存在的元素，则关键字的比较次数最多是（）。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7</a:t>
            </a:r>
          </a:p>
          <a:p>
            <a:pPr marL="914400" lvl="1" indent="-457200">
              <a:buFont typeface="+mj-lt"/>
              <a:buAutoNum type="alphaU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28251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下列选项中，不能构成折半查找中关键字比较序列的是（）。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500</a:t>
            </a:r>
            <a:r>
              <a:rPr lang="zh-CN" altLang="en-US" dirty="0"/>
              <a:t>，</a:t>
            </a:r>
            <a:r>
              <a:rPr lang="en-US" altLang="zh-CN" dirty="0"/>
              <a:t>200</a:t>
            </a:r>
            <a:r>
              <a:rPr lang="zh-CN" altLang="en-US" dirty="0"/>
              <a:t>，</a:t>
            </a:r>
            <a:r>
              <a:rPr lang="en-US" altLang="zh-CN" dirty="0"/>
              <a:t>415</a:t>
            </a:r>
            <a:r>
              <a:rPr lang="zh-CN" altLang="en-US" dirty="0"/>
              <a:t>，</a:t>
            </a:r>
            <a:r>
              <a:rPr lang="en-US" altLang="zh-CN" dirty="0"/>
              <a:t>180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500</a:t>
            </a:r>
            <a:r>
              <a:rPr lang="zh-CN" altLang="en-US" dirty="0"/>
              <a:t>，</a:t>
            </a:r>
            <a:r>
              <a:rPr lang="en-US" altLang="zh-CN" dirty="0"/>
              <a:t>450</a:t>
            </a:r>
            <a:r>
              <a:rPr lang="zh-CN" altLang="en-US" dirty="0"/>
              <a:t>，</a:t>
            </a:r>
            <a:r>
              <a:rPr lang="en-US" altLang="zh-CN" dirty="0"/>
              <a:t>200</a:t>
            </a:r>
            <a:r>
              <a:rPr lang="zh-CN" altLang="en-US" dirty="0"/>
              <a:t>，</a:t>
            </a:r>
            <a:r>
              <a:rPr lang="en-US" altLang="zh-CN" dirty="0"/>
              <a:t>180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180</a:t>
            </a:r>
            <a:r>
              <a:rPr lang="zh-CN" altLang="en-US" dirty="0"/>
              <a:t>，</a:t>
            </a:r>
            <a:r>
              <a:rPr lang="en-US" altLang="zh-CN" dirty="0"/>
              <a:t>500</a:t>
            </a:r>
            <a:r>
              <a:rPr lang="zh-CN" altLang="en-US" dirty="0"/>
              <a:t>，</a:t>
            </a:r>
            <a:r>
              <a:rPr lang="en-US" altLang="zh-CN" dirty="0"/>
              <a:t>200</a:t>
            </a:r>
            <a:r>
              <a:rPr lang="zh-CN" altLang="en-US" dirty="0"/>
              <a:t>，</a:t>
            </a:r>
            <a:r>
              <a:rPr lang="en-US" altLang="zh-CN" dirty="0"/>
              <a:t>450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180</a:t>
            </a:r>
            <a:r>
              <a:rPr lang="zh-CN" altLang="en-US" dirty="0"/>
              <a:t>，</a:t>
            </a:r>
            <a:r>
              <a:rPr lang="en-US" altLang="zh-CN" dirty="0"/>
              <a:t>200</a:t>
            </a:r>
            <a:r>
              <a:rPr lang="zh-CN" altLang="en-US" dirty="0"/>
              <a:t>，</a:t>
            </a:r>
            <a:r>
              <a:rPr lang="en-US" altLang="zh-CN" dirty="0"/>
              <a:t>500</a:t>
            </a:r>
            <a:r>
              <a:rPr lang="zh-CN" altLang="en-US" dirty="0"/>
              <a:t>，</a:t>
            </a:r>
            <a:r>
              <a:rPr lang="en-US" altLang="zh-CN" dirty="0"/>
              <a:t>450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49195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折半查找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sz="2400" dirty="0"/>
              <a:t>在有</a:t>
            </a:r>
            <a:r>
              <a:rPr lang="en-US" altLang="zh-CN" sz="2400" dirty="0"/>
              <a:t>n</a:t>
            </a:r>
            <a:r>
              <a:rPr lang="zh-CN" altLang="en-US" sz="2400" dirty="0"/>
              <a:t>（</a:t>
            </a:r>
            <a:r>
              <a:rPr lang="en-US" altLang="zh-CN" sz="2400" dirty="0"/>
              <a:t>n&gt;1000</a:t>
            </a:r>
            <a:r>
              <a:rPr lang="zh-CN" altLang="en-US" sz="2400" dirty="0"/>
              <a:t>）个元素的升序数组</a:t>
            </a:r>
            <a:r>
              <a:rPr lang="en-US" altLang="zh-CN" sz="2400" dirty="0"/>
              <a:t>A</a:t>
            </a:r>
            <a:r>
              <a:rPr lang="zh-CN" altLang="en-US" sz="2400" dirty="0"/>
              <a:t>中查找关键字</a:t>
            </a:r>
            <a:r>
              <a:rPr lang="en-US" altLang="zh-CN" sz="2400" dirty="0"/>
              <a:t>x</a:t>
            </a:r>
            <a:r>
              <a:rPr lang="zh-CN" altLang="en-US" sz="2400" dirty="0"/>
              <a:t>，查找算法的伪代码如右。本算法与折半查找相比，有可能具有更少比较次数的情形是（）。</a:t>
            </a:r>
            <a:endParaRPr lang="en-US" altLang="zh-CN" sz="2400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sz="2000" dirty="0"/>
              <a:t>当</a:t>
            </a:r>
            <a:r>
              <a:rPr lang="en-US" altLang="zh-CN" sz="2000" dirty="0"/>
              <a:t>x</a:t>
            </a:r>
            <a:r>
              <a:rPr lang="zh-CN" altLang="en-US" sz="2000" dirty="0"/>
              <a:t>不在数组中</a:t>
            </a:r>
            <a:endParaRPr lang="en-US" altLang="zh-CN" sz="2000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sz="2000" dirty="0"/>
              <a:t>当</a:t>
            </a:r>
            <a:r>
              <a:rPr lang="en-US" altLang="zh-CN" sz="2000" dirty="0"/>
              <a:t>x</a:t>
            </a:r>
            <a:r>
              <a:rPr lang="zh-CN" altLang="en-US" sz="2000" dirty="0"/>
              <a:t>接近数组开头处</a:t>
            </a:r>
            <a:endParaRPr lang="en-US" altLang="zh-CN" sz="2000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sz="2000" dirty="0"/>
              <a:t>当</a:t>
            </a:r>
            <a:r>
              <a:rPr lang="en-US" altLang="zh-CN" sz="2000" dirty="0"/>
              <a:t>x</a:t>
            </a:r>
            <a:r>
              <a:rPr lang="zh-CN" altLang="en-US" sz="2000" dirty="0"/>
              <a:t>接近数组结尾处</a:t>
            </a:r>
            <a:endParaRPr lang="en-US" altLang="zh-CN" sz="2000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sz="2000" dirty="0"/>
              <a:t>当</a:t>
            </a:r>
            <a:r>
              <a:rPr lang="en-US" altLang="zh-CN" sz="2000" dirty="0"/>
              <a:t>x</a:t>
            </a:r>
            <a:r>
              <a:rPr lang="zh-CN" altLang="en-US" sz="2000" dirty="0"/>
              <a:t>接近数组中间位置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3111301"/>
            <a:ext cx="5080000" cy="170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0349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折半查找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对含</a:t>
            </a:r>
            <a:r>
              <a:rPr lang="en-US" altLang="zh-CN" dirty="0"/>
              <a:t>600</a:t>
            </a:r>
            <a:r>
              <a:rPr lang="zh-CN" altLang="en-US" dirty="0"/>
              <a:t>个元素的有序顺序表进行折半查找，关键字间的比较次数最多是（）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524778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折半查找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下列数据结构中，不适合直接使用折半查找的是（）。</a:t>
            </a:r>
            <a:br>
              <a:rPr lang="en-US" altLang="zh-CN" dirty="0"/>
            </a:br>
            <a:r>
              <a:rPr lang="en-US" altLang="zh-CN" dirty="0"/>
              <a:t>I. </a:t>
            </a:r>
            <a:r>
              <a:rPr lang="zh-CN" altLang="en-US" dirty="0"/>
              <a:t>有序链表</a:t>
            </a:r>
            <a:r>
              <a:rPr lang="en-US" altLang="zh-CN" dirty="0"/>
              <a:t>	II. </a:t>
            </a:r>
            <a:r>
              <a:rPr lang="zh-CN" altLang="en-US" dirty="0"/>
              <a:t>无序数组</a:t>
            </a:r>
            <a:r>
              <a:rPr lang="en-US" altLang="zh-CN" dirty="0"/>
              <a:t>	III. </a:t>
            </a:r>
            <a:r>
              <a:rPr lang="zh-CN" altLang="en-US" dirty="0"/>
              <a:t>有序静态链表</a:t>
            </a:r>
            <a:br>
              <a:rPr lang="en-US" altLang="zh-CN" dirty="0"/>
            </a:br>
            <a:r>
              <a:rPr lang="en-US" altLang="zh-CN" dirty="0"/>
              <a:t>IV. </a:t>
            </a:r>
            <a:r>
              <a:rPr lang="zh-CN" altLang="en-US" dirty="0"/>
              <a:t>无序静态链表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A.</a:t>
            </a:r>
            <a:r>
              <a:rPr lang="zh-CN" altLang="en-US" dirty="0"/>
              <a:t>仅</a:t>
            </a:r>
            <a:r>
              <a:rPr lang="en-US" altLang="zh-CN" dirty="0"/>
              <a:t>I, III</a:t>
            </a:r>
            <a:br>
              <a:rPr lang="en-US" altLang="zh-CN" dirty="0"/>
            </a:br>
            <a:r>
              <a:rPr lang="en-US" altLang="zh-CN" dirty="0"/>
              <a:t>B. </a:t>
            </a:r>
            <a:r>
              <a:rPr lang="zh-CN" altLang="en-US" dirty="0"/>
              <a:t>仅</a:t>
            </a:r>
            <a:r>
              <a:rPr lang="en-US" altLang="zh-CN" dirty="0"/>
              <a:t>II, IV</a:t>
            </a:r>
            <a:br>
              <a:rPr lang="en-US" altLang="zh-CN" dirty="0"/>
            </a:br>
            <a:r>
              <a:rPr lang="en-US" altLang="zh-CN" dirty="0"/>
              <a:t>C. </a:t>
            </a:r>
            <a:r>
              <a:rPr lang="zh-CN" altLang="en-US" dirty="0"/>
              <a:t>仅</a:t>
            </a:r>
            <a:r>
              <a:rPr lang="en-US" altLang="zh-CN" dirty="0"/>
              <a:t>II, III, IV</a:t>
            </a:r>
            <a:br>
              <a:rPr lang="en-US" altLang="zh-CN" dirty="0"/>
            </a:br>
            <a:r>
              <a:rPr lang="en-US" altLang="zh-CN" dirty="0"/>
              <a:t>D. I, II, III, 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425697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BST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对于下列关键字序列，不可能构成某二叉排序树中一条查找路径的是（）。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95</a:t>
            </a:r>
            <a:r>
              <a:rPr lang="zh-CN" altLang="en-US" dirty="0"/>
              <a:t>、</a:t>
            </a:r>
            <a:r>
              <a:rPr lang="en-US" altLang="zh-CN" dirty="0"/>
              <a:t>22</a:t>
            </a:r>
            <a:r>
              <a:rPr lang="zh-CN" altLang="en-US" dirty="0"/>
              <a:t>、</a:t>
            </a:r>
            <a:r>
              <a:rPr lang="en-US" altLang="zh-CN" dirty="0"/>
              <a:t>91</a:t>
            </a:r>
            <a:r>
              <a:rPr lang="zh-CN" altLang="en-US" dirty="0"/>
              <a:t>、</a:t>
            </a:r>
            <a:r>
              <a:rPr lang="en-US" altLang="zh-CN" dirty="0"/>
              <a:t>24</a:t>
            </a:r>
            <a:r>
              <a:rPr lang="zh-CN" altLang="en-US" dirty="0"/>
              <a:t>、</a:t>
            </a:r>
            <a:r>
              <a:rPr lang="en-US" altLang="zh-CN" dirty="0"/>
              <a:t>94</a:t>
            </a:r>
            <a:r>
              <a:rPr lang="zh-CN" altLang="en-US" dirty="0"/>
              <a:t>、</a:t>
            </a:r>
            <a:r>
              <a:rPr lang="en-US" altLang="zh-CN" dirty="0"/>
              <a:t>71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92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、</a:t>
            </a:r>
            <a:r>
              <a:rPr lang="en-US" altLang="zh-CN" dirty="0"/>
              <a:t>91</a:t>
            </a:r>
            <a:r>
              <a:rPr lang="zh-CN" altLang="en-US" dirty="0"/>
              <a:t>、</a:t>
            </a:r>
            <a:r>
              <a:rPr lang="en-US" altLang="zh-CN" dirty="0"/>
              <a:t>34</a:t>
            </a:r>
            <a:r>
              <a:rPr lang="zh-CN" altLang="en-US" dirty="0"/>
              <a:t>、</a:t>
            </a:r>
            <a:r>
              <a:rPr lang="en-US" altLang="zh-CN" dirty="0"/>
              <a:t>88</a:t>
            </a:r>
            <a:r>
              <a:rPr lang="zh-CN" altLang="en-US" dirty="0"/>
              <a:t>、</a:t>
            </a:r>
            <a:r>
              <a:rPr lang="en-US" altLang="zh-CN" dirty="0"/>
              <a:t>35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21</a:t>
            </a:r>
            <a:r>
              <a:rPr lang="zh-CN" altLang="en-US" dirty="0"/>
              <a:t>、</a:t>
            </a:r>
            <a:r>
              <a:rPr lang="en-US" altLang="zh-CN" dirty="0"/>
              <a:t>89</a:t>
            </a:r>
            <a:r>
              <a:rPr lang="zh-CN" altLang="en-US" dirty="0"/>
              <a:t>、</a:t>
            </a:r>
            <a:r>
              <a:rPr lang="en-US" altLang="zh-CN" dirty="0"/>
              <a:t>77</a:t>
            </a:r>
            <a:r>
              <a:rPr lang="zh-CN" altLang="en-US" dirty="0"/>
              <a:t>、</a:t>
            </a:r>
            <a:r>
              <a:rPr lang="en-US" altLang="zh-CN" dirty="0"/>
              <a:t>29</a:t>
            </a:r>
            <a:r>
              <a:rPr lang="zh-CN" altLang="en-US" dirty="0"/>
              <a:t>、</a:t>
            </a:r>
            <a:r>
              <a:rPr lang="en-US" altLang="zh-CN" dirty="0"/>
              <a:t>36</a:t>
            </a:r>
            <a:r>
              <a:rPr lang="zh-CN" altLang="en-US" dirty="0"/>
              <a:t>、</a:t>
            </a:r>
            <a:r>
              <a:rPr lang="en-US" altLang="zh-CN" dirty="0"/>
              <a:t>38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25</a:t>
            </a:r>
            <a:r>
              <a:rPr lang="zh-CN" altLang="en-US" dirty="0"/>
              <a:t>、</a:t>
            </a:r>
            <a:r>
              <a:rPr lang="en-US" altLang="zh-CN" dirty="0"/>
              <a:t>71</a:t>
            </a:r>
            <a:r>
              <a:rPr lang="zh-CN" altLang="en-US" dirty="0"/>
              <a:t>、</a:t>
            </a:r>
            <a:r>
              <a:rPr lang="en-US" altLang="zh-CN" dirty="0"/>
              <a:t>68</a:t>
            </a:r>
            <a:r>
              <a:rPr lang="zh-CN" altLang="en-US" dirty="0"/>
              <a:t>、</a:t>
            </a:r>
            <a:r>
              <a:rPr lang="en-US" altLang="zh-CN" dirty="0"/>
              <a:t>33</a:t>
            </a:r>
            <a:r>
              <a:rPr lang="zh-CN" altLang="en-US" dirty="0"/>
              <a:t>、</a:t>
            </a:r>
            <a:r>
              <a:rPr lang="en-US" altLang="zh-CN" dirty="0"/>
              <a:t>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0114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BST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在任意一棵非空二叉排序树</a:t>
            </a:r>
            <a:r>
              <a:rPr lang="en-US" altLang="zh-CN" dirty="0"/>
              <a:t>T1</a:t>
            </a:r>
            <a:r>
              <a:rPr lang="zh-CN" altLang="en-US" dirty="0"/>
              <a:t>中，删除某结点</a:t>
            </a:r>
            <a:r>
              <a:rPr lang="en-US" altLang="zh-CN" dirty="0"/>
              <a:t>v</a:t>
            </a:r>
            <a:r>
              <a:rPr lang="zh-CN" altLang="en-US" dirty="0"/>
              <a:t>后形成二叉排序树</a:t>
            </a:r>
            <a:r>
              <a:rPr lang="en-US" altLang="zh-CN" dirty="0"/>
              <a:t>T2</a:t>
            </a:r>
            <a:r>
              <a:rPr lang="zh-CN" altLang="en-US" dirty="0"/>
              <a:t>，再将</a:t>
            </a:r>
            <a:r>
              <a:rPr lang="en-US" altLang="zh-CN" dirty="0"/>
              <a:t>v</a:t>
            </a:r>
            <a:r>
              <a:rPr lang="zh-CN" altLang="en-US" dirty="0"/>
              <a:t>插入</a:t>
            </a:r>
            <a:r>
              <a:rPr lang="en-US" altLang="zh-CN" dirty="0"/>
              <a:t>T2</a:t>
            </a:r>
            <a:r>
              <a:rPr lang="zh-CN" altLang="en-US" dirty="0"/>
              <a:t>形成二叉排序树</a:t>
            </a:r>
            <a:r>
              <a:rPr lang="en-US" altLang="zh-CN" dirty="0"/>
              <a:t>T3</a:t>
            </a:r>
            <a:r>
              <a:rPr lang="zh-CN" altLang="en-US" dirty="0"/>
              <a:t>。下列关于</a:t>
            </a:r>
            <a:r>
              <a:rPr lang="en-US" altLang="zh-CN" dirty="0"/>
              <a:t>T1</a:t>
            </a:r>
            <a:r>
              <a:rPr lang="zh-CN" altLang="en-US" dirty="0"/>
              <a:t>与</a:t>
            </a:r>
            <a:r>
              <a:rPr lang="en-US" altLang="zh-CN" dirty="0"/>
              <a:t>T3</a:t>
            </a:r>
            <a:r>
              <a:rPr lang="zh-CN" altLang="en-US" dirty="0"/>
              <a:t>的叙述中，正确的是（）。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</a:t>
            </a:r>
            <a:r>
              <a:rPr lang="en-US" altLang="zh-CN" dirty="0"/>
              <a:t>v</a:t>
            </a:r>
            <a:r>
              <a:rPr lang="zh-CN" altLang="en-US" dirty="0"/>
              <a:t>是</a:t>
            </a:r>
            <a:r>
              <a:rPr lang="en-US" altLang="zh-CN" dirty="0"/>
              <a:t>T1</a:t>
            </a:r>
            <a:r>
              <a:rPr lang="zh-CN" altLang="en-US" dirty="0"/>
              <a:t>的叶结点，则</a:t>
            </a: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T3</a:t>
            </a:r>
            <a:r>
              <a:rPr lang="zh-CN" altLang="en-US" dirty="0"/>
              <a:t>不同。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</a:t>
            </a:r>
            <a:r>
              <a:rPr lang="en-US" altLang="zh-CN" dirty="0"/>
              <a:t>v</a:t>
            </a:r>
            <a:r>
              <a:rPr lang="zh-CN" altLang="en-US" dirty="0"/>
              <a:t>是</a:t>
            </a:r>
            <a:r>
              <a:rPr lang="en-US" altLang="zh-CN" dirty="0"/>
              <a:t>T1</a:t>
            </a:r>
            <a:r>
              <a:rPr lang="zh-CN" altLang="en-US" dirty="0"/>
              <a:t>的叶结点，则</a:t>
            </a: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T3</a:t>
            </a:r>
            <a:r>
              <a:rPr lang="zh-CN" altLang="en-US" dirty="0"/>
              <a:t>相同。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</a:t>
            </a:r>
            <a:r>
              <a:rPr lang="en-US" altLang="zh-CN" dirty="0"/>
              <a:t>v</a:t>
            </a:r>
            <a:r>
              <a:rPr lang="zh-CN" altLang="en-US" dirty="0"/>
              <a:t>不是</a:t>
            </a:r>
            <a:r>
              <a:rPr lang="en-US" altLang="zh-CN" dirty="0"/>
              <a:t>T1</a:t>
            </a:r>
            <a:r>
              <a:rPr lang="zh-CN" altLang="en-US" dirty="0"/>
              <a:t>的叶结点，则</a:t>
            </a: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T3</a:t>
            </a:r>
            <a:r>
              <a:rPr lang="zh-CN" altLang="en-US" dirty="0"/>
              <a:t>不同。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</a:t>
            </a:r>
            <a:r>
              <a:rPr lang="en-US" altLang="zh-CN" dirty="0"/>
              <a:t>v</a:t>
            </a:r>
            <a:r>
              <a:rPr lang="zh-CN" altLang="en-US" dirty="0"/>
              <a:t>不是</a:t>
            </a:r>
            <a:r>
              <a:rPr lang="en-US" altLang="zh-CN" dirty="0"/>
              <a:t>T1</a:t>
            </a:r>
            <a:r>
              <a:rPr lang="zh-CN" altLang="en-US" dirty="0"/>
              <a:t>的叶结点，则</a:t>
            </a: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T3</a:t>
            </a:r>
            <a:r>
              <a:rPr lang="zh-CN" altLang="en-US" dirty="0"/>
              <a:t>相同。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III    B.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IV    C.</a:t>
            </a:r>
            <a:r>
              <a:rPr lang="zh-CN" altLang="en-US" dirty="0"/>
              <a:t>仅</a:t>
            </a:r>
            <a:r>
              <a:rPr lang="en-US" altLang="zh-CN" dirty="0"/>
              <a:t>II</a:t>
            </a:r>
            <a:r>
              <a:rPr lang="zh-CN" altLang="en-US" dirty="0"/>
              <a:t>、</a:t>
            </a:r>
            <a:r>
              <a:rPr lang="en-US" altLang="zh-CN" dirty="0"/>
              <a:t>III    D. </a:t>
            </a:r>
            <a:r>
              <a:rPr lang="zh-CN" altLang="en-US" dirty="0"/>
              <a:t>仅</a:t>
            </a:r>
            <a:r>
              <a:rPr lang="en-US" altLang="zh-CN" dirty="0"/>
              <a:t>II</a:t>
            </a:r>
            <a:r>
              <a:rPr lang="zh-CN" altLang="en-US" dirty="0"/>
              <a:t>、</a:t>
            </a:r>
            <a:r>
              <a:rPr lang="en-US" altLang="zh-CN" dirty="0"/>
              <a:t>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83911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BST</a:t>
            </a:r>
            <a:r>
              <a:rPr lang="zh-CN" altLang="en-US" dirty="0"/>
              <a:t>树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已知二叉排序树如图所示，元素之间应满足的大小关系是（）。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x1&lt;x2&lt;x5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x1&lt;x4&lt;x5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x3&lt;x5&lt;x4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x4&lt;x3&lt;x5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32104" y="2132856"/>
            <a:ext cx="393559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687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AVL</a:t>
            </a:r>
            <a:r>
              <a:rPr lang="zh-CN" altLang="en-US" dirty="0"/>
              <a:t>树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下列二叉树中，满足平衡二叉树定义的是（）。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701" y="2780928"/>
            <a:ext cx="8811398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2666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AVL</a:t>
            </a:r>
            <a:r>
              <a:rPr lang="zh-CN" altLang="en-US" dirty="0"/>
              <a:t>树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如图所示</a:t>
            </a:r>
            <a:r>
              <a:rPr lang="en-US" altLang="zh-CN" dirty="0"/>
              <a:t>AVL</a:t>
            </a:r>
            <a:r>
              <a:rPr lang="zh-CN" altLang="en-US" dirty="0"/>
              <a:t>树中插入关键字</a:t>
            </a:r>
            <a:r>
              <a:rPr lang="en-US" altLang="zh-CN" dirty="0"/>
              <a:t>48</a:t>
            </a:r>
            <a:r>
              <a:rPr lang="zh-CN" altLang="en-US" dirty="0"/>
              <a:t>后得到一棵新的</a:t>
            </a:r>
            <a:r>
              <a:rPr lang="en-US" altLang="zh-CN" dirty="0"/>
              <a:t>AVL</a:t>
            </a:r>
            <a:r>
              <a:rPr lang="zh-CN" altLang="en-US" dirty="0"/>
              <a:t>树，则新树中关键字</a:t>
            </a:r>
            <a:r>
              <a:rPr lang="en-US" altLang="zh-CN" dirty="0"/>
              <a:t>37</a:t>
            </a:r>
            <a:r>
              <a:rPr lang="zh-CN" altLang="en-US" dirty="0"/>
              <a:t>的左右子结点分别是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altLang="zh-CN" dirty="0"/>
              <a:t>48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</a:t>
            </a:r>
            <a:r>
              <a:rPr lang="zh-CN" altLang="en-US" dirty="0"/>
              <a:t>，</a:t>
            </a:r>
            <a:r>
              <a:rPr lang="en-US" altLang="zh-CN" dirty="0"/>
              <a:t>48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</a:t>
            </a:r>
            <a:r>
              <a:rPr lang="zh-CN" altLang="en-US" dirty="0"/>
              <a:t>，</a:t>
            </a:r>
            <a:r>
              <a:rPr lang="en-US" altLang="zh-CN" dirty="0"/>
              <a:t>53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</a:t>
            </a:r>
            <a:r>
              <a:rPr lang="zh-CN" altLang="en-US" dirty="0"/>
              <a:t>，</a:t>
            </a:r>
            <a:r>
              <a:rPr lang="en-US" altLang="zh-CN" dirty="0"/>
              <a:t>90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72064" y="2204864"/>
            <a:ext cx="4333311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0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AVL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若平衡二叉树的高度为</a:t>
            </a:r>
            <a:r>
              <a:rPr lang="en-US" altLang="zh-CN" dirty="0"/>
              <a:t>6</a:t>
            </a:r>
            <a:r>
              <a:rPr lang="zh-CN" altLang="en-US" dirty="0"/>
              <a:t>，且所有非叶子结点的平衡因子为</a:t>
            </a:r>
            <a:r>
              <a:rPr lang="en-US" altLang="zh-CN" dirty="0"/>
              <a:t>1</a:t>
            </a:r>
            <a:r>
              <a:rPr lang="zh-CN" altLang="en-US" dirty="0"/>
              <a:t>，则该平衡二叉树的结点总数为（）。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59920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AVL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若将关键字</a:t>
            </a:r>
            <a:r>
              <a:rPr lang="en-US" altLang="zh-CN" dirty="0"/>
              <a:t>1-7</a:t>
            </a:r>
            <a:r>
              <a:rPr lang="zh-CN" altLang="en-US" dirty="0"/>
              <a:t>依次插入初始为空的平衡二叉树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T</a:t>
            </a:r>
            <a:r>
              <a:rPr lang="zh-CN" altLang="en-US" dirty="0"/>
              <a:t>中平衡因子为</a:t>
            </a:r>
            <a:r>
              <a:rPr lang="en-US" altLang="zh-CN" dirty="0"/>
              <a:t>0</a:t>
            </a:r>
            <a:r>
              <a:rPr lang="zh-CN" altLang="en-US" dirty="0"/>
              <a:t>的分支结点的个数是（）。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02711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AVL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现有一棵无重复关键字的平衡二叉树，对其进行中序遍历可得到一个降序序列。下列关于该平衡二叉树的叙述中，正确的是（）。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根结点的度一定为</a:t>
            </a: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树中最小元素一定是叶结点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最后插入的元素一定是叶结点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树中最大元素一定是无左子树</a:t>
            </a:r>
          </a:p>
        </p:txBody>
      </p:sp>
    </p:spTree>
    <p:extLst>
      <p:ext uri="{BB962C8B-B14F-4D97-AF65-F5344CB8AC3E}">
        <p14:creationId xmlns:p14="http://schemas.microsoft.com/office/powerpoint/2010/main" val="58098759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AVL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在任意一棵非空平衡二叉树</a:t>
            </a:r>
            <a:r>
              <a:rPr lang="en-US" altLang="zh-CN" dirty="0"/>
              <a:t>T1</a:t>
            </a:r>
            <a:r>
              <a:rPr lang="zh-CN" altLang="en-US" dirty="0"/>
              <a:t>中，删除某结点</a:t>
            </a:r>
            <a:r>
              <a:rPr lang="en-US" altLang="zh-CN" dirty="0"/>
              <a:t>v</a:t>
            </a:r>
            <a:r>
              <a:rPr lang="zh-CN" altLang="en-US" dirty="0"/>
              <a:t>之后形成的平衡二叉树</a:t>
            </a:r>
            <a:r>
              <a:rPr lang="en-US" altLang="zh-CN" dirty="0"/>
              <a:t>T2</a:t>
            </a:r>
            <a:r>
              <a:rPr lang="zh-CN" altLang="en-US" dirty="0"/>
              <a:t>，再将</a:t>
            </a:r>
            <a:r>
              <a:rPr lang="en-US" altLang="zh-CN" dirty="0"/>
              <a:t>v</a:t>
            </a:r>
            <a:r>
              <a:rPr lang="zh-CN" altLang="en-US" dirty="0"/>
              <a:t>插入</a:t>
            </a:r>
            <a:r>
              <a:rPr lang="en-US" altLang="zh-CN" dirty="0"/>
              <a:t>T2</a:t>
            </a:r>
            <a:r>
              <a:rPr lang="zh-CN" altLang="en-US" dirty="0"/>
              <a:t>形成平衡二叉树</a:t>
            </a:r>
            <a:r>
              <a:rPr lang="en-US" altLang="zh-CN" dirty="0"/>
              <a:t>T3</a:t>
            </a:r>
            <a:r>
              <a:rPr lang="zh-CN" altLang="en-US" dirty="0"/>
              <a:t>。下列关于</a:t>
            </a:r>
            <a:r>
              <a:rPr lang="en-US" altLang="zh-CN" dirty="0"/>
              <a:t>T1</a:t>
            </a:r>
            <a:r>
              <a:rPr lang="zh-CN" altLang="en-US" dirty="0"/>
              <a:t>和</a:t>
            </a:r>
            <a:r>
              <a:rPr lang="en-US" altLang="zh-CN" dirty="0"/>
              <a:t>T3</a:t>
            </a:r>
            <a:r>
              <a:rPr lang="zh-CN" altLang="en-US" dirty="0"/>
              <a:t>的叙述中，正确的是（）。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</a:t>
            </a:r>
            <a:r>
              <a:rPr lang="en-US" altLang="zh-CN" dirty="0"/>
              <a:t>v</a:t>
            </a:r>
            <a:r>
              <a:rPr lang="zh-CN" altLang="en-US" dirty="0"/>
              <a:t>是</a:t>
            </a:r>
            <a:r>
              <a:rPr lang="en-US" altLang="zh-CN" dirty="0"/>
              <a:t>T1</a:t>
            </a:r>
            <a:r>
              <a:rPr lang="zh-CN" altLang="en-US" dirty="0"/>
              <a:t>的叶结点，则</a:t>
            </a:r>
            <a:r>
              <a:rPr lang="en-US" altLang="zh-CN" dirty="0"/>
              <a:t>T1</a:t>
            </a:r>
            <a:r>
              <a:rPr lang="zh-CN" altLang="en-US" dirty="0"/>
              <a:t>与</a:t>
            </a:r>
            <a:r>
              <a:rPr lang="en-US" altLang="zh-CN" dirty="0"/>
              <a:t>T3</a:t>
            </a:r>
            <a:r>
              <a:rPr lang="zh-CN" altLang="en-US" dirty="0"/>
              <a:t>可能不相同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</a:t>
            </a:r>
            <a:r>
              <a:rPr lang="en-US" altLang="zh-CN" dirty="0"/>
              <a:t>v</a:t>
            </a:r>
            <a:r>
              <a:rPr lang="zh-CN" altLang="en-US" dirty="0"/>
              <a:t>不是</a:t>
            </a:r>
            <a:r>
              <a:rPr lang="en-US" altLang="zh-CN" dirty="0"/>
              <a:t>T1</a:t>
            </a:r>
            <a:r>
              <a:rPr lang="zh-CN" altLang="en-US" dirty="0"/>
              <a:t>的叶结点，则</a:t>
            </a:r>
            <a:r>
              <a:rPr lang="en-US" altLang="zh-CN" dirty="0"/>
              <a:t>T1</a:t>
            </a:r>
            <a:r>
              <a:rPr lang="zh-CN" altLang="en-US" dirty="0"/>
              <a:t>与</a:t>
            </a:r>
            <a:r>
              <a:rPr lang="en-US" altLang="zh-CN" dirty="0"/>
              <a:t>T3</a:t>
            </a:r>
            <a:r>
              <a:rPr lang="zh-CN" altLang="en-US" dirty="0"/>
              <a:t>一定不相同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若</a:t>
            </a:r>
            <a:r>
              <a:rPr lang="en-US" altLang="zh-CN" dirty="0"/>
              <a:t>v</a:t>
            </a:r>
            <a:r>
              <a:rPr lang="zh-CN" altLang="en-US" dirty="0"/>
              <a:t>不是</a:t>
            </a:r>
            <a:r>
              <a:rPr lang="en-US" altLang="zh-CN" dirty="0"/>
              <a:t>T1</a:t>
            </a:r>
            <a:r>
              <a:rPr lang="zh-CN" altLang="en-US" dirty="0"/>
              <a:t>的叶结点，则</a:t>
            </a:r>
            <a:r>
              <a:rPr lang="en-US" altLang="zh-CN" dirty="0"/>
              <a:t>T1</a:t>
            </a:r>
            <a:r>
              <a:rPr lang="zh-CN" altLang="en-US" dirty="0"/>
              <a:t>与</a:t>
            </a:r>
            <a:r>
              <a:rPr lang="en-US" altLang="zh-CN" dirty="0"/>
              <a:t>T3</a:t>
            </a:r>
            <a:r>
              <a:rPr lang="zh-CN" altLang="en-US" dirty="0"/>
              <a:t>一定相同</a:t>
            </a:r>
            <a:endParaRPr lang="en-US" altLang="zh-CN" dirty="0"/>
          </a:p>
          <a:p>
            <a:pPr marL="914400" lvl="1" indent="-45720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     B. </a:t>
            </a:r>
            <a:r>
              <a:rPr lang="zh-CN" altLang="en-US" dirty="0"/>
              <a:t>仅</a:t>
            </a:r>
            <a:r>
              <a:rPr lang="en-US" altLang="zh-CN" dirty="0"/>
              <a:t>II    C.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II    D. </a:t>
            </a:r>
            <a:r>
              <a:rPr lang="zh-CN" altLang="en-US" dirty="0"/>
              <a:t>仅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III</a:t>
            </a:r>
          </a:p>
        </p:txBody>
      </p:sp>
    </p:spTree>
    <p:extLst>
      <p:ext uri="{BB962C8B-B14F-4D97-AF65-F5344CB8AC3E}">
        <p14:creationId xmlns:p14="http://schemas.microsoft.com/office/powerpoint/2010/main" val="33732301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下列关于红黑树和</a:t>
            </a:r>
            <a:r>
              <a:rPr lang="en-US" altLang="zh-CN" dirty="0"/>
              <a:t>AVL</a:t>
            </a:r>
            <a:r>
              <a:rPr lang="zh-CN" altLang="en-US" dirty="0"/>
              <a:t>树的说法中，不正确的是（）。</a:t>
            </a:r>
            <a:br>
              <a:rPr lang="en-US" altLang="zh-CN" dirty="0"/>
            </a:br>
            <a:r>
              <a:rPr lang="en-US" altLang="zh-CN" dirty="0"/>
              <a:t>I. </a:t>
            </a:r>
            <a:r>
              <a:rPr lang="zh-CN" altLang="en-US" dirty="0"/>
              <a:t>一棵含有</a:t>
            </a:r>
            <a:r>
              <a:rPr lang="en-US" altLang="zh-CN" dirty="0"/>
              <a:t>n</a:t>
            </a:r>
            <a:r>
              <a:rPr lang="zh-CN" altLang="en-US" dirty="0"/>
              <a:t>个节点的红黑树的高度至多为</a:t>
            </a:r>
            <a:r>
              <a:rPr lang="en-US" altLang="zh-CN" dirty="0"/>
              <a:t>2log</a:t>
            </a:r>
            <a:r>
              <a:rPr lang="en-US" altLang="zh-CN" baseline="-25000" dirty="0"/>
              <a:t>2</a:t>
            </a:r>
            <a:r>
              <a:rPr lang="en-US" altLang="zh-CN" dirty="0"/>
              <a:t>(n+1)</a:t>
            </a:r>
            <a:br>
              <a:rPr lang="en-US" altLang="zh-CN" dirty="0"/>
            </a:br>
            <a:r>
              <a:rPr lang="en-US" altLang="zh-CN" dirty="0"/>
              <a:t>II. </a:t>
            </a:r>
            <a:r>
              <a:rPr lang="zh-CN" altLang="en-US" dirty="0"/>
              <a:t>若一个节点为红色，则它的父节点和子节点都是黑色</a:t>
            </a:r>
            <a:br>
              <a:rPr lang="en-US" altLang="zh-CN" dirty="0"/>
            </a:br>
            <a:r>
              <a:rPr lang="en-US" altLang="zh-CN" dirty="0"/>
              <a:t>III. </a:t>
            </a:r>
            <a:r>
              <a:rPr lang="zh-CN" altLang="en-US" dirty="0"/>
              <a:t>红黑树的查询效率一般要优于含有相同结点数的</a:t>
            </a:r>
            <a:r>
              <a:rPr lang="en-US" altLang="zh-CN" dirty="0"/>
              <a:t>AVL</a:t>
            </a:r>
            <a:r>
              <a:rPr lang="zh-CN" altLang="en-US" dirty="0"/>
              <a:t>树</a:t>
            </a:r>
            <a:br>
              <a:rPr lang="en-US" altLang="zh-CN" dirty="0"/>
            </a:br>
            <a:r>
              <a:rPr lang="en-US" altLang="zh-CN" dirty="0"/>
              <a:t>IV. </a:t>
            </a:r>
            <a:r>
              <a:rPr lang="zh-CN" altLang="en-US" dirty="0"/>
              <a:t>若</a:t>
            </a:r>
            <a:r>
              <a:rPr lang="en-US" altLang="zh-CN" dirty="0"/>
              <a:t>AVL</a:t>
            </a:r>
            <a:r>
              <a:rPr lang="zh-CN" altLang="en-US" dirty="0"/>
              <a:t>树的某节点的左右孩子的平衡因子都是</a:t>
            </a:r>
            <a:r>
              <a:rPr lang="en-US" altLang="zh-CN" dirty="0"/>
              <a:t>0</a:t>
            </a:r>
            <a:r>
              <a:rPr lang="zh-CN" altLang="en-US" dirty="0"/>
              <a:t>，则该节点的平衡因子也是</a:t>
            </a:r>
            <a:r>
              <a:rPr lang="en-US" altLang="zh-CN" dirty="0"/>
              <a:t>0</a:t>
            </a:r>
            <a:br>
              <a:rPr lang="en-US" altLang="zh-CN" dirty="0"/>
            </a:b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A. I,III		B. III		C. II,IV	D. III,IV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1859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下列关于红黑树的说法中，正确的是（）。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红黑树的红节点的数目最多与黑节点的数目相同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若红黑树的所有节点都是黑色的，则它一定是一棵满二叉树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红黑树的任何一个分支节点都有两个非空孩子节点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红黑树的子树也一定是红黑树</a:t>
            </a:r>
          </a:p>
        </p:txBody>
      </p:sp>
    </p:spTree>
    <p:extLst>
      <p:ext uri="{BB962C8B-B14F-4D97-AF65-F5344CB8AC3E}">
        <p14:creationId xmlns:p14="http://schemas.microsoft.com/office/powerpoint/2010/main" val="115428180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</a:t>
            </a:r>
            <a:r>
              <a:rPr lang="en-US" altLang="zh-CN" dirty="0"/>
              <a:t>4</a:t>
            </a:r>
            <a:r>
              <a:rPr lang="zh-CN" altLang="en-US" dirty="0"/>
              <a:t>个选项中，满足红黑树定义的是（）。</a:t>
            </a:r>
            <a:br>
              <a:rPr lang="en-US" altLang="zh-CN" dirty="0"/>
            </a:br>
            <a:r>
              <a:rPr lang="en-US" altLang="zh-CN" dirty="0"/>
              <a:t>A				B 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C				D  </a:t>
            </a:r>
          </a:p>
          <a:p>
            <a:pPr marL="914400" lvl="1" indent="-457200">
              <a:buFont typeface="+mj-lt"/>
              <a:buAutoNum type="alphaUcPeriod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2636913"/>
            <a:ext cx="2417631" cy="151216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960" y="2672405"/>
            <a:ext cx="2930911" cy="14766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4581128"/>
            <a:ext cx="2465448" cy="16320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4581128"/>
            <a:ext cx="2686945" cy="179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5328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将关键字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依次插入初始为空的红黑树</a:t>
            </a:r>
            <a:r>
              <a:rPr lang="en-US" altLang="zh-CN" dirty="0"/>
              <a:t>T</a:t>
            </a:r>
            <a:r>
              <a:rPr lang="zh-CN" altLang="en-US" dirty="0"/>
              <a:t>，则</a:t>
            </a:r>
            <a:r>
              <a:rPr lang="en-US" altLang="zh-CN" dirty="0"/>
              <a:t>T</a:t>
            </a:r>
            <a:r>
              <a:rPr lang="zh-CN" altLang="en-US" dirty="0"/>
              <a:t>中红节点个数是（）。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171978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红黑树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在如图所示的红黑树中插入节点</a:t>
            </a:r>
            <a:r>
              <a:rPr lang="en-US" altLang="zh-CN" dirty="0"/>
              <a:t>2</a:t>
            </a:r>
            <a:r>
              <a:rPr lang="zh-CN" altLang="en-US" dirty="0"/>
              <a:t>且染成红色后，则下一步应进行的操作是（）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zh-CN" altLang="en-US" dirty="0"/>
              <a:t>左旋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zh-CN" altLang="en-US" dirty="0"/>
              <a:t>右旋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zh-CN" altLang="en-US" dirty="0"/>
              <a:t>变色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zh-CN" altLang="en-US" dirty="0"/>
              <a:t>无需调整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157" y="2917771"/>
            <a:ext cx="4591286" cy="2089257"/>
          </a:xfrm>
        </p:spPr>
      </p:pic>
    </p:spTree>
    <p:extLst>
      <p:ext uri="{BB962C8B-B14F-4D97-AF65-F5344CB8AC3E}">
        <p14:creationId xmlns:p14="http://schemas.microsoft.com/office/powerpoint/2010/main" val="32275911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下列叙述中，不符合</a:t>
            </a:r>
            <a:r>
              <a:rPr lang="en-US" altLang="zh-CN" dirty="0"/>
              <a:t>m</a:t>
            </a:r>
            <a:r>
              <a:rPr lang="zh-CN" altLang="en-US" dirty="0"/>
              <a:t>阶</a:t>
            </a:r>
            <a:r>
              <a:rPr lang="en-US" altLang="zh-CN" dirty="0"/>
              <a:t>B</a:t>
            </a:r>
            <a:r>
              <a:rPr lang="zh-CN" altLang="en-US" dirty="0"/>
              <a:t>树定义要求的是（）。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根结点至多有</a:t>
            </a:r>
            <a:r>
              <a:rPr lang="en-US" altLang="zh-CN" dirty="0"/>
              <a:t>m</a:t>
            </a:r>
            <a:r>
              <a:rPr lang="zh-CN" altLang="en-US" dirty="0"/>
              <a:t>棵子树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所有叶结点都在同一层上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各结点内关键字均升序或降序排列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叶结点之间通过指针链接</a:t>
            </a:r>
          </a:p>
        </p:txBody>
      </p:sp>
    </p:spTree>
    <p:extLst>
      <p:ext uri="{BB962C8B-B14F-4D97-AF65-F5344CB8AC3E}">
        <p14:creationId xmlns:p14="http://schemas.microsoft.com/office/powerpoint/2010/main" val="368306488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已知三阶</a:t>
            </a:r>
            <a:r>
              <a:rPr lang="en-US" altLang="zh-CN" dirty="0"/>
              <a:t>B</a:t>
            </a:r>
            <a:r>
              <a:rPr lang="zh-CN" altLang="en-US" dirty="0"/>
              <a:t>树如图，删除</a:t>
            </a:r>
            <a:r>
              <a:rPr lang="en-US" altLang="zh-CN" dirty="0"/>
              <a:t>78</a:t>
            </a:r>
            <a:r>
              <a:rPr lang="zh-CN" altLang="en-US" dirty="0"/>
              <a:t>后得到新</a:t>
            </a:r>
            <a:r>
              <a:rPr lang="en-US" altLang="zh-CN" dirty="0"/>
              <a:t>B</a:t>
            </a:r>
            <a:r>
              <a:rPr lang="zh-CN" altLang="en-US" dirty="0"/>
              <a:t>树，其最右叶结点中的关键字是（）。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60</a:t>
            </a:r>
            <a:r>
              <a:rPr lang="zh-CN" altLang="en-US" dirty="0"/>
              <a:t>，</a:t>
            </a:r>
            <a:r>
              <a:rPr lang="en-US" altLang="zh-CN" dirty="0"/>
              <a:t>62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62</a:t>
            </a:r>
            <a:r>
              <a:rPr lang="zh-CN" altLang="en-US" dirty="0"/>
              <a:t>，</a:t>
            </a:r>
            <a:r>
              <a:rPr lang="en-US" altLang="zh-CN" dirty="0"/>
              <a:t>65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65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01124" y="3027859"/>
            <a:ext cx="4479352" cy="18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4707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在一棵高度为</a:t>
            </a:r>
            <a:r>
              <a:rPr lang="en-US" altLang="zh-CN" dirty="0"/>
              <a:t>2</a:t>
            </a:r>
            <a:r>
              <a:rPr lang="zh-CN" altLang="en-US" dirty="0"/>
              <a:t>的</a:t>
            </a:r>
            <a:r>
              <a:rPr lang="en-US" altLang="zh-CN" dirty="0"/>
              <a:t>5</a:t>
            </a:r>
            <a:r>
              <a:rPr lang="zh-CN" altLang="en-US" dirty="0"/>
              <a:t>阶</a:t>
            </a:r>
            <a:r>
              <a:rPr lang="en-US" altLang="zh-CN" dirty="0"/>
              <a:t>B</a:t>
            </a:r>
            <a:r>
              <a:rPr lang="zh-CN" altLang="en-US" dirty="0"/>
              <a:t>树中，所含关键字的个数至少是（）。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7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25742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在一棵具有</a:t>
            </a:r>
            <a:r>
              <a:rPr lang="en-US" altLang="zh-CN" dirty="0"/>
              <a:t>15</a:t>
            </a:r>
            <a:r>
              <a:rPr lang="zh-CN" altLang="en-US" dirty="0"/>
              <a:t>个关键字的</a:t>
            </a:r>
            <a:r>
              <a:rPr lang="en-US" altLang="zh-CN" dirty="0"/>
              <a:t>4</a:t>
            </a:r>
            <a:r>
              <a:rPr lang="zh-CN" altLang="en-US" dirty="0"/>
              <a:t>阶</a:t>
            </a:r>
            <a:r>
              <a:rPr lang="en-US" altLang="zh-CN" dirty="0"/>
              <a:t>B</a:t>
            </a:r>
            <a:r>
              <a:rPr lang="zh-CN" altLang="en-US" dirty="0"/>
              <a:t>树中，含关键字的结点个数最多是（）。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336792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高度为</a:t>
            </a:r>
            <a:r>
              <a:rPr lang="en-US" altLang="zh-CN" dirty="0"/>
              <a:t>5</a:t>
            </a:r>
            <a:r>
              <a:rPr lang="zh-CN" altLang="en-US" dirty="0"/>
              <a:t>的</a:t>
            </a:r>
            <a:r>
              <a:rPr lang="en-US" altLang="zh-CN" dirty="0"/>
              <a:t>3</a:t>
            </a:r>
            <a:r>
              <a:rPr lang="zh-CN" altLang="en-US" dirty="0"/>
              <a:t>阶</a:t>
            </a:r>
            <a:r>
              <a:rPr lang="en-US" altLang="zh-CN" dirty="0"/>
              <a:t>B</a:t>
            </a:r>
            <a:r>
              <a:rPr lang="zh-CN" altLang="en-US" dirty="0"/>
              <a:t>树含有的关键字个数至少是（）。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242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17149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依次将关键字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13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插入初始为空的</a:t>
            </a:r>
            <a:r>
              <a:rPr lang="en-US" altLang="zh-CN" dirty="0"/>
              <a:t>4</a:t>
            </a:r>
            <a:r>
              <a:rPr lang="zh-CN" altLang="en-US" dirty="0"/>
              <a:t>阶</a:t>
            </a:r>
            <a:r>
              <a:rPr lang="en-US" altLang="zh-CN" dirty="0"/>
              <a:t>B</a:t>
            </a:r>
            <a:r>
              <a:rPr lang="zh-CN" altLang="en-US" dirty="0"/>
              <a:t>树后，根结点中包含的关键字是（）。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13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433337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B+</a:t>
            </a:r>
            <a:r>
              <a:rPr lang="zh-CN" altLang="en-US" dirty="0"/>
              <a:t>树不同于</a:t>
            </a:r>
            <a:r>
              <a:rPr lang="en-US" altLang="zh-CN" dirty="0"/>
              <a:t>B</a:t>
            </a:r>
            <a:r>
              <a:rPr lang="zh-CN" altLang="en-US" dirty="0"/>
              <a:t>树的特点之一是（）。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能支持顺序查找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结点中含有关键字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根结点至少有两个分支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所有叶结点都在同一层上</a:t>
            </a:r>
          </a:p>
        </p:txBody>
      </p:sp>
    </p:spTree>
    <p:extLst>
      <p:ext uri="{BB962C8B-B14F-4D97-AF65-F5344CB8AC3E}">
        <p14:creationId xmlns:p14="http://schemas.microsoft.com/office/powerpoint/2010/main" val="197178634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下列应用中，适合使用</a:t>
            </a:r>
            <a:r>
              <a:rPr lang="en-US" altLang="zh-CN" dirty="0"/>
              <a:t>B+</a:t>
            </a:r>
            <a:r>
              <a:rPr lang="zh-CN" altLang="en-US" dirty="0"/>
              <a:t>树的是（）。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编译器中的词法分析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关系数据库系统中的索引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网络中的路由表快速查找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操作系统的磁盘空闲块管理</a:t>
            </a:r>
          </a:p>
        </p:txBody>
      </p:sp>
    </p:spTree>
    <p:extLst>
      <p:ext uri="{BB962C8B-B14F-4D97-AF65-F5344CB8AC3E}">
        <p14:creationId xmlns:p14="http://schemas.microsoft.com/office/powerpoint/2010/main" val="334484987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60887-F223-675D-474F-28DB163A7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树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259E08-2EA5-7222-7D01-C336A84805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在如图所示的</a:t>
            </a:r>
            <a:r>
              <a:rPr lang="en-US" altLang="zh-CN" dirty="0"/>
              <a:t>5</a:t>
            </a:r>
            <a:r>
              <a:rPr lang="zh-CN" altLang="en-US" dirty="0"/>
              <a:t>阶</a:t>
            </a:r>
            <a:r>
              <a:rPr lang="en-US" altLang="zh-CN" dirty="0"/>
              <a:t>B</a:t>
            </a:r>
            <a:r>
              <a:rPr lang="zh-CN" altLang="en-US" dirty="0"/>
              <a:t>树</a:t>
            </a:r>
            <a:r>
              <a:rPr lang="en-US" altLang="zh-CN" dirty="0"/>
              <a:t>T</a:t>
            </a:r>
            <a:r>
              <a:rPr lang="zh-CN" altLang="en-US" dirty="0"/>
              <a:t>中，删除关键字</a:t>
            </a:r>
            <a:r>
              <a:rPr lang="en-US" altLang="zh-CN" dirty="0"/>
              <a:t>260</a:t>
            </a:r>
            <a:r>
              <a:rPr lang="zh-CN" altLang="en-US" dirty="0"/>
              <a:t>之后需要进行必要的调整，得到新树</a:t>
            </a:r>
            <a:r>
              <a:rPr lang="en-US" altLang="zh-CN" dirty="0"/>
              <a:t>T1.</a:t>
            </a:r>
            <a:r>
              <a:rPr lang="zh-CN" altLang="en-US" dirty="0"/>
              <a:t>下列选项中，不可能是</a:t>
            </a:r>
            <a:r>
              <a:rPr lang="en-US" altLang="zh-CN" dirty="0"/>
              <a:t>T1</a:t>
            </a:r>
            <a:r>
              <a:rPr lang="zh-CN" altLang="en-US" dirty="0"/>
              <a:t>根节点中关键字序列对是（）。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60</a:t>
            </a:r>
            <a:r>
              <a:rPr lang="zh-CN" altLang="en-US" dirty="0"/>
              <a:t>，</a:t>
            </a:r>
            <a:r>
              <a:rPr lang="en-US" altLang="zh-CN" dirty="0"/>
              <a:t>90</a:t>
            </a:r>
            <a:r>
              <a:rPr lang="zh-CN" altLang="en-US" dirty="0"/>
              <a:t>，</a:t>
            </a:r>
            <a:r>
              <a:rPr lang="en-US" altLang="zh-CN" dirty="0"/>
              <a:t>280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60</a:t>
            </a:r>
            <a:r>
              <a:rPr lang="zh-CN" altLang="en-US" dirty="0"/>
              <a:t>，</a:t>
            </a:r>
            <a:r>
              <a:rPr lang="en-US" altLang="zh-CN" dirty="0"/>
              <a:t>90</a:t>
            </a:r>
            <a:r>
              <a:rPr lang="zh-CN" altLang="en-US" dirty="0"/>
              <a:t>，</a:t>
            </a:r>
            <a:r>
              <a:rPr lang="en-US" altLang="zh-CN" dirty="0"/>
              <a:t>350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60</a:t>
            </a:r>
            <a:r>
              <a:rPr lang="zh-CN" altLang="en-US" dirty="0"/>
              <a:t>，</a:t>
            </a:r>
            <a:r>
              <a:rPr lang="en-US" altLang="zh-CN" dirty="0"/>
              <a:t>85</a:t>
            </a:r>
            <a:r>
              <a:rPr lang="zh-CN" altLang="en-US" dirty="0"/>
              <a:t>，</a:t>
            </a: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350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60</a:t>
            </a:r>
            <a:r>
              <a:rPr lang="zh-CN" altLang="en-US" dirty="0"/>
              <a:t>，</a:t>
            </a:r>
            <a:r>
              <a:rPr lang="en-US" altLang="zh-CN" dirty="0"/>
              <a:t>90</a:t>
            </a:r>
            <a:r>
              <a:rPr lang="zh-CN" altLang="en-US" dirty="0"/>
              <a:t>，</a:t>
            </a: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350</a:t>
            </a:r>
          </a:p>
          <a:p>
            <a:pPr marL="914400" lvl="1" indent="-457200">
              <a:buFont typeface="+mj-lt"/>
              <a:buAutoNum type="alphaUcPeriod"/>
            </a:pPr>
            <a:endParaRPr lang="zh-CN" altLang="en-US" dirty="0"/>
          </a:p>
        </p:txBody>
      </p:sp>
      <p:pic>
        <p:nvPicPr>
          <p:cNvPr id="7" name="内容占位符 6" descr="图片包含 图形用户界面&#10;&#10;描述已自动生成">
            <a:extLst>
              <a:ext uri="{FF2B5EF4-FFF2-40B4-BE49-F238E27FC236}">
                <a16:creationId xmlns:a16="http://schemas.microsoft.com/office/drawing/2014/main" id="{2C638F7C-62A0-DB4E-B16C-AB4A6BCF14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2743200"/>
            <a:ext cx="5080000" cy="1219200"/>
          </a:xfrm>
        </p:spPr>
      </p:pic>
    </p:spTree>
    <p:extLst>
      <p:ext uri="{BB962C8B-B14F-4D97-AF65-F5344CB8AC3E}">
        <p14:creationId xmlns:p14="http://schemas.microsoft.com/office/powerpoint/2010/main" val="312483846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为提高散列表的查找效率，可以采取的正确措施是（）。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增大装载因子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设计冲突少的散列函数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处理冲突时避免产生聚集现象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    B. </a:t>
            </a:r>
            <a:r>
              <a:rPr lang="zh-CN" altLang="en-US" dirty="0"/>
              <a:t>仅</a:t>
            </a:r>
            <a:r>
              <a:rPr lang="en-US" altLang="zh-CN" dirty="0"/>
              <a:t>II    C. </a:t>
            </a:r>
            <a:r>
              <a:rPr lang="zh-CN" altLang="en-US" dirty="0"/>
              <a:t>仅</a:t>
            </a:r>
            <a:r>
              <a:rPr lang="en-US" altLang="zh-CN" dirty="0"/>
              <a:t>I, II    D. </a:t>
            </a:r>
            <a:r>
              <a:rPr lang="zh-CN" altLang="en-US" dirty="0"/>
              <a:t>仅</a:t>
            </a:r>
            <a:r>
              <a:rPr lang="en-US" altLang="zh-CN" dirty="0"/>
              <a:t>II, III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71000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用哈希方法处理冲突时可能出现聚集现象，下列选项中，会受聚集现象直接影响的是（）。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存储效率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散列函数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装载因子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平均查找长度</a:t>
            </a:r>
          </a:p>
        </p:txBody>
      </p:sp>
    </p:spTree>
    <p:extLst>
      <p:ext uri="{BB962C8B-B14F-4D97-AF65-F5344CB8AC3E}">
        <p14:creationId xmlns:p14="http://schemas.microsoft.com/office/powerpoint/2010/main" val="87954058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现有长度为</a:t>
            </a:r>
            <a:r>
              <a:rPr lang="en-US" altLang="zh-CN" dirty="0"/>
              <a:t>7</a:t>
            </a:r>
            <a:r>
              <a:rPr lang="zh-CN" altLang="en-US" dirty="0"/>
              <a:t>，初始为空的散列表</a:t>
            </a:r>
            <a:r>
              <a:rPr lang="en-US" altLang="zh-CN" dirty="0"/>
              <a:t>HT</a:t>
            </a:r>
            <a:r>
              <a:rPr lang="zh-CN" altLang="en-US" dirty="0"/>
              <a:t>，散列函数</a:t>
            </a:r>
            <a:r>
              <a:rPr lang="en-US" altLang="zh-CN" dirty="0"/>
              <a:t>H(key) = key%7</a:t>
            </a:r>
            <a:r>
              <a:rPr lang="zh-CN" altLang="en-US" dirty="0"/>
              <a:t>，采用线性探测法解决冲突，将关键字</a:t>
            </a:r>
            <a:r>
              <a:rPr lang="en-US" altLang="zh-CN" dirty="0"/>
              <a:t>22</a:t>
            </a:r>
            <a:r>
              <a:rPr lang="zh-CN" altLang="en-US" dirty="0"/>
              <a:t>、</a:t>
            </a:r>
            <a:r>
              <a:rPr lang="en-US" altLang="zh-CN" dirty="0"/>
              <a:t>43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依次插入</a:t>
            </a:r>
            <a:r>
              <a:rPr lang="en-US" altLang="zh-CN" dirty="0"/>
              <a:t>HT</a:t>
            </a:r>
            <a:r>
              <a:rPr lang="zh-CN" altLang="en-US" dirty="0"/>
              <a:t>后，查找成功的平均查找长度为（）。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1.5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1.6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8885915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现有长度为</a:t>
            </a:r>
            <a:r>
              <a:rPr lang="en-US" altLang="zh-CN" dirty="0"/>
              <a:t>11</a:t>
            </a:r>
            <a:r>
              <a:rPr lang="zh-CN" altLang="en-US" dirty="0"/>
              <a:t>，初始为空的散列表</a:t>
            </a:r>
            <a:r>
              <a:rPr lang="en-US" altLang="zh-CN" dirty="0"/>
              <a:t>HT</a:t>
            </a:r>
            <a:r>
              <a:rPr lang="zh-CN" altLang="en-US" dirty="0"/>
              <a:t>，散列函数</a:t>
            </a:r>
            <a:r>
              <a:rPr lang="en-US" altLang="zh-CN" dirty="0"/>
              <a:t>H(key) = key%7</a:t>
            </a:r>
            <a:r>
              <a:rPr lang="zh-CN" altLang="en-US" dirty="0"/>
              <a:t>，采用线性探测法解决冲突，将关键字序列</a:t>
            </a:r>
            <a:r>
              <a:rPr lang="en-US" altLang="zh-CN" dirty="0"/>
              <a:t>87</a:t>
            </a:r>
            <a:r>
              <a:rPr lang="zh-CN" altLang="en-US" dirty="0"/>
              <a:t>、</a:t>
            </a:r>
            <a:r>
              <a:rPr lang="en-US" altLang="zh-CN" dirty="0"/>
              <a:t>40</a:t>
            </a:r>
            <a:r>
              <a:rPr lang="zh-CN" altLang="en-US" dirty="0"/>
              <a:t>、</a:t>
            </a:r>
            <a:r>
              <a:rPr lang="en-US" altLang="zh-CN" dirty="0"/>
              <a:t>30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11</a:t>
            </a:r>
            <a:r>
              <a:rPr lang="zh-CN" altLang="en-US" dirty="0"/>
              <a:t>、</a:t>
            </a:r>
            <a:r>
              <a:rPr lang="en-US" altLang="zh-CN" dirty="0"/>
              <a:t>22</a:t>
            </a:r>
            <a:r>
              <a:rPr lang="zh-CN" altLang="en-US" dirty="0"/>
              <a:t>、</a:t>
            </a:r>
            <a:r>
              <a:rPr lang="en-US" altLang="zh-CN" dirty="0"/>
              <a:t>98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依次插入</a:t>
            </a:r>
            <a:r>
              <a:rPr lang="en-US" altLang="zh-CN" dirty="0"/>
              <a:t>HT</a:t>
            </a:r>
            <a:r>
              <a:rPr lang="zh-CN" altLang="en-US" dirty="0"/>
              <a:t>后，查找失败的平均查找长度为（）。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5.25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6.29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14439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A8D65-B588-F7E6-DAF6-F0130DB2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A24FDB-F612-3387-865C-5A78C0932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现有长度为</a:t>
            </a:r>
            <a:r>
              <a:rPr lang="en-US" altLang="zh-CN" dirty="0"/>
              <a:t>5</a:t>
            </a:r>
            <a:r>
              <a:rPr lang="zh-CN" altLang="en-US" dirty="0"/>
              <a:t>、初始为空的散列表</a:t>
            </a:r>
            <a:r>
              <a:rPr lang="en-US" altLang="zh-CN" dirty="0"/>
              <a:t>HT</a:t>
            </a:r>
            <a:r>
              <a:rPr lang="zh-CN" altLang="en-US" dirty="0"/>
              <a:t>，散列函数</a:t>
            </a:r>
            <a:r>
              <a:rPr lang="en-US" altLang="zh-CN" dirty="0"/>
              <a:t>H(k) = (k+4) %5</a:t>
            </a:r>
            <a:r>
              <a:rPr lang="zh-CN" altLang="en-US" dirty="0"/>
              <a:t>，用线性探查再散列法解决冲突。若将关键字</a:t>
            </a:r>
            <a:r>
              <a:rPr lang="en-US" altLang="zh-CN" dirty="0"/>
              <a:t>2022,12,25</a:t>
            </a:r>
            <a:r>
              <a:rPr lang="zh-CN" altLang="en-US" dirty="0"/>
              <a:t>依次插入</a:t>
            </a:r>
            <a:r>
              <a:rPr lang="en-US" altLang="zh-CN" dirty="0"/>
              <a:t>HT</a:t>
            </a:r>
            <a:r>
              <a:rPr lang="zh-CN" altLang="en-US" dirty="0"/>
              <a:t>，然后删除关键字</a:t>
            </a:r>
            <a:r>
              <a:rPr lang="en-US" altLang="zh-CN" dirty="0"/>
              <a:t>25</a:t>
            </a:r>
            <a:r>
              <a:rPr lang="zh-CN" altLang="en-US" dirty="0"/>
              <a:t>，则</a:t>
            </a:r>
            <a:r>
              <a:rPr lang="en-US" altLang="zh-CN" dirty="0"/>
              <a:t>HT</a:t>
            </a:r>
            <a:r>
              <a:rPr lang="zh-CN" altLang="en-US" dirty="0"/>
              <a:t>中查找失败的平均查找长度是（）。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1.6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1.8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2.2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590772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将关键字数列 </a:t>
            </a:r>
            <a:r>
              <a:rPr lang="en-US" altLang="zh-CN" dirty="0"/>
              <a:t>20, 3, 11, 18, 9, 14, 7 </a:t>
            </a:r>
            <a:r>
              <a:rPr lang="zh-CN" altLang="en-US" dirty="0"/>
              <a:t>依次存储到初始值为空、长度为</a:t>
            </a:r>
            <a:r>
              <a:rPr lang="en-US" altLang="zh-CN" dirty="0"/>
              <a:t>11</a:t>
            </a:r>
            <a:r>
              <a:rPr lang="zh-CN" altLang="en-US" dirty="0"/>
              <a:t>的散列表</a:t>
            </a:r>
            <a:r>
              <a:rPr lang="en-US" altLang="zh-CN" dirty="0"/>
              <a:t>HT</a:t>
            </a:r>
            <a:r>
              <a:rPr lang="zh-CN" altLang="en-US" dirty="0"/>
              <a:t>中，散列函数</a:t>
            </a:r>
            <a:r>
              <a:rPr lang="en-US" altLang="zh-CN" dirty="0"/>
              <a:t>H(key)=(key*3)%11</a:t>
            </a:r>
            <a:r>
              <a:rPr lang="zh-CN" altLang="en-US" dirty="0"/>
              <a:t>，</a:t>
            </a:r>
            <a:r>
              <a:rPr lang="en-US" altLang="zh-CN" dirty="0"/>
              <a:t>H(key)</a:t>
            </a:r>
            <a:r>
              <a:rPr lang="zh-CN" altLang="en-US" dirty="0"/>
              <a:t>计算出的初始散列地址为</a:t>
            </a:r>
            <a:r>
              <a:rPr lang="en-US" altLang="zh-CN" dirty="0"/>
              <a:t>H</a:t>
            </a:r>
            <a:r>
              <a:rPr lang="en-US" altLang="zh-CN" baseline="-25000" dirty="0"/>
              <a:t>0</a:t>
            </a:r>
            <a:r>
              <a:rPr lang="zh-CN" altLang="en-US" dirty="0"/>
              <a:t>，发生冲突时探查地址序列是</a:t>
            </a:r>
            <a:r>
              <a:rPr lang="en-US" altLang="zh-CN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, H</a:t>
            </a:r>
            <a:r>
              <a:rPr lang="en-US" altLang="zh-CN" baseline="-25000" dirty="0"/>
              <a:t>2</a:t>
            </a:r>
            <a:r>
              <a:rPr lang="en-US" altLang="zh-CN" dirty="0"/>
              <a:t>, H</a:t>
            </a:r>
            <a:r>
              <a:rPr lang="en-US" altLang="zh-CN" baseline="-25000" dirty="0"/>
              <a:t>3</a:t>
            </a:r>
            <a:r>
              <a:rPr lang="zh-CN" altLang="en-US" dirty="0"/>
              <a:t>，其中</a:t>
            </a:r>
            <a:r>
              <a:rPr lang="en-US" altLang="zh-CN" dirty="0" err="1"/>
              <a:t>H</a:t>
            </a:r>
            <a:r>
              <a:rPr lang="en-US" altLang="zh-CN" baseline="-25000" dirty="0" err="1"/>
              <a:t>k</a:t>
            </a:r>
            <a:r>
              <a:rPr lang="en-US" altLang="zh-CN" dirty="0"/>
              <a:t>=(H</a:t>
            </a:r>
            <a:r>
              <a:rPr lang="en-US" altLang="zh-CN" baseline="-25000" dirty="0"/>
              <a:t>0</a:t>
            </a:r>
            <a:r>
              <a:rPr lang="en-US" altLang="zh-CN" dirty="0"/>
              <a:t>+k</a:t>
            </a:r>
            <a:r>
              <a:rPr lang="en-US" altLang="zh-CN" baseline="30000" dirty="0"/>
              <a:t>2</a:t>
            </a:r>
            <a:r>
              <a:rPr lang="en-US" altLang="zh-CN" dirty="0"/>
              <a:t>)%11</a:t>
            </a:r>
            <a:r>
              <a:rPr lang="zh-CN" altLang="en-US" dirty="0"/>
              <a:t>，</a:t>
            </a:r>
            <a:r>
              <a:rPr lang="en-US" altLang="zh-CN" dirty="0"/>
              <a:t>k=1,2,3…</a:t>
            </a:r>
            <a:r>
              <a:rPr lang="zh-CN" altLang="en-US" dirty="0"/>
              <a:t> 。请回答下列问题。</a:t>
            </a:r>
            <a:endParaRPr lang="en-US" altLang="zh-CN" dirty="0"/>
          </a:p>
          <a:p>
            <a:pPr lvl="1"/>
            <a:r>
              <a:rPr lang="zh-CN" altLang="en-US" dirty="0"/>
              <a:t>画出所构造的</a:t>
            </a:r>
            <a:r>
              <a:rPr lang="en-US" altLang="zh-CN" dirty="0"/>
              <a:t>HT</a:t>
            </a:r>
            <a:r>
              <a:rPr lang="zh-CN" altLang="en-US" dirty="0"/>
              <a:t>，并计算</a:t>
            </a:r>
            <a:r>
              <a:rPr lang="en-US" altLang="zh-CN" dirty="0"/>
              <a:t>HT</a:t>
            </a:r>
            <a:r>
              <a:rPr lang="zh-CN" altLang="en-US" dirty="0"/>
              <a:t>的填装因子。</a:t>
            </a:r>
            <a:endParaRPr lang="en-US" altLang="zh-CN" dirty="0"/>
          </a:p>
          <a:p>
            <a:pPr lvl="1"/>
            <a:r>
              <a:rPr lang="zh-CN" altLang="en-US" dirty="0"/>
              <a:t>给出在</a:t>
            </a:r>
            <a:r>
              <a:rPr lang="en-US" altLang="zh-CN" dirty="0"/>
              <a:t>HT</a:t>
            </a:r>
            <a:r>
              <a:rPr lang="zh-CN" altLang="en-US" dirty="0"/>
              <a:t>中查找关键字</a:t>
            </a:r>
            <a:r>
              <a:rPr lang="en-US" altLang="zh-CN" dirty="0"/>
              <a:t>14</a:t>
            </a:r>
            <a:r>
              <a:rPr lang="zh-CN" altLang="en-US" dirty="0"/>
              <a:t>的关键字比较序列。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HT</a:t>
            </a:r>
            <a:r>
              <a:rPr lang="zh-CN" altLang="en-US" dirty="0"/>
              <a:t>中查找关键字</a:t>
            </a:r>
            <a:r>
              <a:rPr lang="en-US" altLang="zh-CN" dirty="0"/>
              <a:t>8</a:t>
            </a:r>
            <a:r>
              <a:rPr lang="zh-CN" altLang="en-US" dirty="0"/>
              <a:t>，确认查找失败时散列地址是多少？</a:t>
            </a:r>
          </a:p>
        </p:txBody>
      </p:sp>
    </p:spTree>
    <p:extLst>
      <p:ext uri="{BB962C8B-B14F-4D97-AF65-F5344CB8AC3E}">
        <p14:creationId xmlns:p14="http://schemas.microsoft.com/office/powerpoint/2010/main" val="120774005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对同一待排序序列分别进行折半插入排序和直接插入排序，两者之间可能的不同之处是（）。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排序的总趟数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元素的移动次数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使用辅助空间的数量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元素之间的比较次数</a:t>
            </a:r>
          </a:p>
        </p:txBody>
      </p:sp>
    </p:spTree>
    <p:extLst>
      <p:ext uri="{BB962C8B-B14F-4D97-AF65-F5344CB8AC3E}">
        <p14:creationId xmlns:p14="http://schemas.microsoft.com/office/powerpoint/2010/main" val="19805359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F5923-246B-7C26-FA82-2BBC17FD7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706D61-7645-9961-FDA5-B5237AE46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用直接插入排序方法对下面四个序列进行排序</a:t>
            </a:r>
            <a:r>
              <a:rPr lang="en-US" altLang="zh-CN" dirty="0"/>
              <a:t>(</a:t>
            </a:r>
            <a:r>
              <a:rPr lang="zh-CN" altLang="en-US" dirty="0"/>
              <a:t>由小到大 </a:t>
            </a:r>
            <a:r>
              <a:rPr lang="en-US" altLang="zh-CN" dirty="0"/>
              <a:t>)</a:t>
            </a:r>
            <a:r>
              <a:rPr lang="zh-CN" altLang="en-US" dirty="0"/>
              <a:t>，元素比较次数最少的是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98</a:t>
            </a:r>
            <a:r>
              <a:rPr lang="zh-CN" altLang="en-US" dirty="0"/>
              <a:t>、</a:t>
            </a:r>
            <a:r>
              <a:rPr lang="en-US" altLang="zh-CN" dirty="0"/>
              <a:t>27</a:t>
            </a:r>
            <a:r>
              <a:rPr lang="zh-CN" altLang="en-US" dirty="0"/>
              <a:t>、</a:t>
            </a:r>
            <a:r>
              <a:rPr lang="en-US" altLang="zh-CN" dirty="0"/>
              <a:t>36</a:t>
            </a:r>
            <a:r>
              <a:rPr lang="zh-CN" altLang="en-US" dirty="0"/>
              <a:t>、</a:t>
            </a:r>
            <a:r>
              <a:rPr lang="en-US" altLang="zh-CN" dirty="0"/>
              <a:t>83</a:t>
            </a:r>
            <a:r>
              <a:rPr lang="zh-CN" altLang="en-US" dirty="0"/>
              <a:t>、</a:t>
            </a:r>
            <a:r>
              <a:rPr lang="en-US" altLang="zh-CN" dirty="0"/>
              <a:t>74</a:t>
            </a:r>
            <a:r>
              <a:rPr lang="zh-CN" altLang="en-US" dirty="0"/>
              <a:t>、</a:t>
            </a:r>
            <a:r>
              <a:rPr lang="en-US" altLang="zh-CN" dirty="0"/>
              <a:t>52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61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27</a:t>
            </a:r>
            <a:r>
              <a:rPr lang="zh-CN" altLang="en-US" dirty="0"/>
              <a:t>、</a:t>
            </a:r>
            <a:r>
              <a:rPr lang="en-US" altLang="zh-CN" dirty="0"/>
              <a:t>36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52</a:t>
            </a:r>
            <a:r>
              <a:rPr lang="zh-CN" altLang="en-US" dirty="0"/>
              <a:t>、</a:t>
            </a:r>
            <a:r>
              <a:rPr lang="en-US" altLang="zh-CN" dirty="0"/>
              <a:t>61</a:t>
            </a:r>
            <a:r>
              <a:rPr lang="zh-CN" altLang="en-US" dirty="0"/>
              <a:t>、</a:t>
            </a:r>
            <a:r>
              <a:rPr lang="en-US" altLang="zh-CN" dirty="0"/>
              <a:t>98</a:t>
            </a:r>
            <a:r>
              <a:rPr lang="zh-CN" altLang="en-US" dirty="0"/>
              <a:t>、</a:t>
            </a:r>
            <a:r>
              <a:rPr lang="en-US" altLang="zh-CN" dirty="0"/>
              <a:t>83</a:t>
            </a:r>
            <a:r>
              <a:rPr lang="zh-CN" altLang="en-US" dirty="0"/>
              <a:t>、</a:t>
            </a:r>
            <a:r>
              <a:rPr lang="en-US" altLang="zh-CN" dirty="0"/>
              <a:t>74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27</a:t>
            </a:r>
            <a:r>
              <a:rPr lang="zh-CN" altLang="en-US" dirty="0"/>
              <a:t>、</a:t>
            </a:r>
            <a:r>
              <a:rPr lang="en-US" altLang="zh-CN" dirty="0"/>
              <a:t>52</a:t>
            </a:r>
            <a:r>
              <a:rPr lang="zh-CN" altLang="en-US" dirty="0"/>
              <a:t>、</a:t>
            </a:r>
            <a:r>
              <a:rPr lang="en-US" altLang="zh-CN" dirty="0"/>
              <a:t>36</a:t>
            </a:r>
            <a:r>
              <a:rPr lang="zh-CN" altLang="en-US" dirty="0"/>
              <a:t>、</a:t>
            </a:r>
            <a:r>
              <a:rPr lang="en-US" altLang="zh-CN" dirty="0"/>
              <a:t>74</a:t>
            </a:r>
            <a:r>
              <a:rPr lang="zh-CN" altLang="en-US" dirty="0"/>
              <a:t>、</a:t>
            </a:r>
            <a:r>
              <a:rPr lang="en-US" altLang="zh-CN" dirty="0"/>
              <a:t>61</a:t>
            </a:r>
            <a:r>
              <a:rPr lang="zh-CN" altLang="en-US" dirty="0"/>
              <a:t>、</a:t>
            </a:r>
            <a:r>
              <a:rPr lang="en-US" altLang="zh-CN" dirty="0"/>
              <a:t>83</a:t>
            </a:r>
            <a:r>
              <a:rPr lang="zh-CN" altLang="en-US" dirty="0"/>
              <a:t>、</a:t>
            </a:r>
            <a:r>
              <a:rPr lang="en-US" altLang="zh-CN" dirty="0"/>
              <a:t>98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83</a:t>
            </a:r>
            <a:r>
              <a:rPr lang="zh-CN" altLang="en-US" dirty="0"/>
              <a:t>、</a:t>
            </a:r>
            <a:r>
              <a:rPr lang="en-US" altLang="zh-CN" dirty="0"/>
              <a:t>61</a:t>
            </a:r>
            <a:r>
              <a:rPr lang="zh-CN" altLang="en-US" dirty="0"/>
              <a:t>、</a:t>
            </a:r>
            <a:r>
              <a:rPr lang="en-US" altLang="zh-CN" dirty="0"/>
              <a:t>74</a:t>
            </a:r>
            <a:r>
              <a:rPr lang="zh-CN" altLang="en-US" dirty="0"/>
              <a:t>、</a:t>
            </a:r>
            <a:r>
              <a:rPr lang="en-US" altLang="zh-CN" dirty="0"/>
              <a:t>52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27</a:t>
            </a:r>
            <a:r>
              <a:rPr lang="zh-CN" altLang="en-US" dirty="0"/>
              <a:t>、</a:t>
            </a:r>
            <a:r>
              <a:rPr lang="en-US" altLang="zh-CN" dirty="0"/>
              <a:t>98</a:t>
            </a:r>
            <a:r>
              <a:rPr lang="zh-CN" altLang="en-US" dirty="0"/>
              <a:t>、</a:t>
            </a:r>
            <a:r>
              <a:rPr lang="en-US" altLang="zh-CN" dirty="0"/>
              <a:t>36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583078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希尔排序的组内排序用的是（）。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直接插入排序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折半插入排序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快速排序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归并排序</a:t>
            </a:r>
          </a:p>
        </p:txBody>
      </p:sp>
    </p:spTree>
    <p:extLst>
      <p:ext uri="{BB962C8B-B14F-4D97-AF65-F5344CB8AC3E}">
        <p14:creationId xmlns:p14="http://schemas.microsoft.com/office/powerpoint/2010/main" val="410855759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用希尔排序方法对一个序列进行排序时，若第一趟排序结果是</a:t>
            </a:r>
            <a:br>
              <a:rPr lang="en-US" altLang="zh-CN" dirty="0"/>
            </a:b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20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，</a:t>
            </a:r>
            <a:r>
              <a:rPr lang="en-US" altLang="zh-CN" dirty="0"/>
              <a:t>15</a:t>
            </a:r>
            <a:r>
              <a:rPr lang="zh-CN" altLang="en-US" dirty="0"/>
              <a:t>，则该趟排序采用的增量（间隔）可能是（）。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17379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对初始序列（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11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）进行希尔排序。若第一趟排序结果为（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11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），第二趟排序结果为（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11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9</a:t>
            </a:r>
            <a:r>
              <a:rPr lang="zh-CN" altLang="en-US" dirty="0"/>
              <a:t>），则两趟排序采用的增量（间隔）分别为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</a:p>
          <a:p>
            <a:pPr marL="858837" lvl="1" indent="-514350">
              <a:buFont typeface="+mj-lt"/>
              <a:buAutoNum type="alphaU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254999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为实现快速排序算法，待排序序列宜采用的存储方式是（）。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顺序存储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散列存储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链式存储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索引存储</a:t>
            </a:r>
          </a:p>
        </p:txBody>
      </p:sp>
    </p:spTree>
    <p:extLst>
      <p:ext uri="{BB962C8B-B14F-4D97-AF65-F5344CB8AC3E}">
        <p14:creationId xmlns:p14="http://schemas.microsoft.com/office/powerpoint/2010/main" val="270901886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采用递归方式对顺序表进行快速排序。下列关于递归次数的叙述中，正确的是（）。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zh-CN" altLang="en-US" dirty="0"/>
              <a:t>递归次数与初始数据的排列次数无关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zh-CN" altLang="en-US" dirty="0"/>
              <a:t>每次划分后，先处理较长的分区可以减少递归次数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zh-CN" altLang="en-US" dirty="0"/>
              <a:t>每次划分后，先处理较短的分区可以减少递归次数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zh-CN" altLang="en-US" dirty="0"/>
              <a:t>递归次数与每次划分后得到的分区的处理顺序无关</a:t>
            </a:r>
          </a:p>
        </p:txBody>
      </p:sp>
    </p:spTree>
    <p:extLst>
      <p:ext uri="{BB962C8B-B14F-4D97-AF65-F5344CB8AC3E}">
        <p14:creationId xmlns:p14="http://schemas.microsoft.com/office/powerpoint/2010/main" val="15806853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下列选项中，不可能是快速排序第</a:t>
            </a:r>
            <a:r>
              <a:rPr lang="en-US" altLang="zh-CN" dirty="0"/>
              <a:t>2</a:t>
            </a:r>
            <a:r>
              <a:rPr lang="zh-CN" altLang="en-US" dirty="0"/>
              <a:t>趟排序结果的是（）。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332498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下列选项中，不可能是快速排序第</a:t>
            </a:r>
            <a:r>
              <a:rPr lang="en-US" altLang="zh-CN" dirty="0"/>
              <a:t>2</a:t>
            </a:r>
            <a:r>
              <a:rPr lang="zh-CN" altLang="en-US" dirty="0"/>
              <a:t>趟排序结果的是（）。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28</a:t>
            </a:r>
            <a:r>
              <a:rPr lang="zh-CN" altLang="en-US" dirty="0"/>
              <a:t>，</a:t>
            </a:r>
            <a:r>
              <a:rPr lang="en-US" altLang="zh-CN" dirty="0"/>
              <a:t>60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72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28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60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72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28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72</a:t>
            </a:r>
            <a:r>
              <a:rPr lang="zh-CN" altLang="en-US" dirty="0"/>
              <a:t>，</a:t>
            </a:r>
            <a:r>
              <a:rPr lang="en-US" altLang="zh-CN" dirty="0"/>
              <a:t>60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28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72</a:t>
            </a:r>
            <a:r>
              <a:rPr lang="zh-CN" altLang="en-US" dirty="0"/>
              <a:t>，</a:t>
            </a:r>
            <a:r>
              <a:rPr lang="en-US" altLang="zh-CN" dirty="0"/>
              <a:t>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298132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已知由</a:t>
            </a:r>
            <a:r>
              <a:rPr lang="en-US" altLang="zh-CN" dirty="0"/>
              <a:t>n(n&gt;=2)</a:t>
            </a:r>
            <a:r>
              <a:rPr lang="zh-CN" altLang="en-US" dirty="0"/>
              <a:t>个正整数构成的集合</a:t>
            </a:r>
            <a:r>
              <a:rPr lang="en-US" altLang="zh-CN" dirty="0"/>
              <a:t>A = {a</a:t>
            </a:r>
            <a:r>
              <a:rPr lang="en-US" altLang="zh-CN" baseline="-25000" dirty="0"/>
              <a:t>k</a:t>
            </a:r>
            <a:r>
              <a:rPr lang="en-US" altLang="zh-CN" dirty="0"/>
              <a:t>|0&lt;=k&lt;n}</a:t>
            </a:r>
            <a:r>
              <a:rPr lang="zh-CN" altLang="en-US" dirty="0"/>
              <a:t>，将其划分为两个不相交的子集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，元素个数分别是</a:t>
            </a:r>
            <a:r>
              <a:rPr lang="en-US" altLang="zh-CN" dirty="0"/>
              <a:t>n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中的元素之和分别为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zh-CN" altLang="en-US" dirty="0"/>
              <a:t>。试设计一个尽可能高效的划分算法，满足</a:t>
            </a:r>
            <a:r>
              <a:rPr lang="en-US" altLang="zh-CN" dirty="0"/>
              <a:t>|n</a:t>
            </a:r>
            <a:r>
              <a:rPr lang="en-US" altLang="zh-CN" baseline="-25000" dirty="0"/>
              <a:t>1</a:t>
            </a:r>
            <a:r>
              <a:rPr lang="en-US" altLang="zh-CN" dirty="0"/>
              <a:t>-n</a:t>
            </a:r>
            <a:r>
              <a:rPr lang="en-US" altLang="zh-CN" baseline="-25000" dirty="0"/>
              <a:t>2</a:t>
            </a:r>
            <a:r>
              <a:rPr lang="en-US" altLang="zh-CN" dirty="0"/>
              <a:t>|</a:t>
            </a:r>
            <a:r>
              <a:rPr lang="zh-CN" altLang="en-US" dirty="0"/>
              <a:t>最小且</a:t>
            </a:r>
            <a:r>
              <a:rPr lang="en-US" altLang="zh-CN" dirty="0"/>
              <a:t>|S</a:t>
            </a:r>
            <a:r>
              <a:rPr lang="en-US" altLang="zh-CN" baseline="-25000" dirty="0"/>
              <a:t>1</a:t>
            </a:r>
            <a:r>
              <a:rPr lang="en-US" altLang="zh-CN" dirty="0"/>
              <a:t>-S</a:t>
            </a:r>
            <a:r>
              <a:rPr lang="en-US" altLang="zh-CN" baseline="-25000" dirty="0"/>
              <a:t>2</a:t>
            </a:r>
            <a:r>
              <a:rPr lang="en-US" altLang="zh-CN" dirty="0"/>
              <a:t>|</a:t>
            </a:r>
            <a:r>
              <a:rPr lang="zh-CN" altLang="en-US" dirty="0"/>
              <a:t>最大，并说明所设计算法的时间复杂度和空间复杂度。</a:t>
            </a:r>
          </a:p>
        </p:txBody>
      </p:sp>
    </p:spTree>
    <p:extLst>
      <p:ext uri="{BB962C8B-B14F-4D97-AF65-F5344CB8AC3E}">
        <p14:creationId xmlns:p14="http://schemas.microsoft.com/office/powerpoint/2010/main" val="386848059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FBE92-0642-49A2-40AE-CF5C3E26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22C4D-60C3-187F-2EE7-6A19EF0EA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使用快速排序算法对数据进行排序，若经过一次划分后得到的数据序列是</a:t>
            </a:r>
            <a:r>
              <a:rPr lang="en-US" altLang="zh-CN" dirty="0"/>
              <a:t>68,11,70,23,80,77,48,81,93,88</a:t>
            </a:r>
            <a:r>
              <a:rPr lang="zh-CN" altLang="en-US" dirty="0"/>
              <a:t>，则该次划分的枢轴是（）。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70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020515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DA901-44CC-E059-3E03-58A18D07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F5A522-32F5-6502-8817-F1A159D7E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使用快速排序对含 </a:t>
            </a:r>
            <a:r>
              <a:rPr lang="en-US" altLang="zh-CN" dirty="0"/>
              <a:t>n(n≥3) </a:t>
            </a:r>
            <a:r>
              <a:rPr lang="zh-CN" altLang="en-US" dirty="0"/>
              <a:t>个元素的数组</a:t>
            </a:r>
            <a:r>
              <a:rPr lang="en-US" altLang="zh-CN" dirty="0"/>
              <a:t>M</a:t>
            </a:r>
            <a:r>
              <a:rPr lang="zh-CN" altLang="en-US" dirty="0"/>
              <a:t>进行排序，若第一趟排序将除</a:t>
            </a:r>
            <a:r>
              <a:rPr lang="en-US" altLang="zh-CN" dirty="0"/>
              <a:t>M</a:t>
            </a:r>
            <a:r>
              <a:rPr lang="zh-CN" altLang="en-US" dirty="0"/>
              <a:t>中枢轴外的</a:t>
            </a:r>
            <a:r>
              <a:rPr lang="en-US" altLang="zh-CN" dirty="0"/>
              <a:t>n-1</a:t>
            </a:r>
            <a:r>
              <a:rPr lang="zh-CN" altLang="en-US" dirty="0"/>
              <a:t>个元素划分为均不为空的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两个块，则下列叙述中，正确的是（）。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</a:t>
            </a:r>
            <a:r>
              <a:rPr lang="zh-CN" altLang="en-US" dirty="0"/>
              <a:t> 和 </a:t>
            </a:r>
            <a:r>
              <a:rPr lang="en-US" altLang="zh-CN" dirty="0"/>
              <a:t>Q </a:t>
            </a:r>
            <a:r>
              <a:rPr lang="zh-CN" altLang="en-US" dirty="0"/>
              <a:t>块间有序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Q </a:t>
            </a:r>
            <a:r>
              <a:rPr lang="zh-CN" altLang="en-US" dirty="0"/>
              <a:t>均块内有序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Q </a:t>
            </a:r>
            <a:r>
              <a:rPr lang="zh-CN" altLang="en-US" dirty="0"/>
              <a:t>的元素个数大致相等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Q </a:t>
            </a:r>
            <a:r>
              <a:rPr lang="zh-CN" altLang="en-US" dirty="0"/>
              <a:t>中均不存在相等的元素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355936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FCE00-0ABA-4A7C-D7D4-5B281DC3E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653E5-164D-5C0A-2687-C2C267C39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对序列</a:t>
            </a:r>
            <a:r>
              <a:rPr lang="en-US" altLang="zh-CN" dirty="0"/>
              <a:t>27,19,8,11,32,1,5}</a:t>
            </a:r>
            <a:r>
              <a:rPr lang="zh-CN" altLang="en-US" dirty="0"/>
              <a:t>进行排序</a:t>
            </a:r>
            <a:r>
              <a:rPr lang="en-US" altLang="zh-CN" dirty="0"/>
              <a:t>,</a:t>
            </a:r>
            <a:r>
              <a:rPr lang="zh-CN" altLang="en-US" dirty="0"/>
              <a:t>进行一趟后数据的排列变为</a:t>
            </a:r>
            <a:r>
              <a:rPr lang="en-US" altLang="zh-CN" dirty="0"/>
              <a:t>{5,19,1,11,32,8,27};</a:t>
            </a:r>
            <a:r>
              <a:rPr lang="zh-CN" altLang="en-US" dirty="0"/>
              <a:t>则采用的是</a:t>
            </a:r>
            <a:r>
              <a:rPr lang="en-US" altLang="zh-CN" dirty="0"/>
              <a:t>()</a:t>
            </a:r>
            <a:r>
              <a:rPr lang="zh-CN" altLang="en-US" dirty="0"/>
              <a:t>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希尔排序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选择排序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冒泡排序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快速排序</a:t>
            </a:r>
          </a:p>
        </p:txBody>
      </p:sp>
    </p:spTree>
    <p:extLst>
      <p:ext uri="{BB962C8B-B14F-4D97-AF65-F5344CB8AC3E}">
        <p14:creationId xmlns:p14="http://schemas.microsoft.com/office/powerpoint/2010/main" val="374312891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下列关于大根堆（至少</a:t>
            </a:r>
            <a:r>
              <a:rPr lang="en-US" altLang="zh-CN" dirty="0"/>
              <a:t>2</a:t>
            </a:r>
            <a:r>
              <a:rPr lang="zh-CN" altLang="en-US" dirty="0"/>
              <a:t>个元素）的叙述中，正确的是（）。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可以将堆视为一棵完全二叉树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可以采用顺序存储方式保存堆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可以将堆视为一棵二叉排序树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堆中的次大值一定在根的下一层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I, II   B. </a:t>
            </a:r>
            <a:r>
              <a:rPr lang="zh-CN" altLang="en-US" dirty="0"/>
              <a:t>仅</a:t>
            </a:r>
            <a:r>
              <a:rPr lang="en-US" altLang="zh-CN" dirty="0"/>
              <a:t>II, III   C. </a:t>
            </a:r>
            <a:r>
              <a:rPr lang="zh-CN" altLang="en-US" dirty="0"/>
              <a:t>仅</a:t>
            </a:r>
            <a:r>
              <a:rPr lang="en-US" altLang="zh-CN" dirty="0"/>
              <a:t>I, II, IV   D. </a:t>
            </a:r>
            <a:r>
              <a:rPr lang="zh-CN" altLang="en-US" dirty="0"/>
              <a:t>仅</a:t>
            </a:r>
            <a:r>
              <a:rPr lang="en-US" altLang="zh-CN" dirty="0"/>
              <a:t>I, III, 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97408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已知关键字序列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19</a:t>
            </a:r>
            <a:r>
              <a:rPr lang="zh-CN" altLang="en-US" dirty="0"/>
              <a:t>、</a:t>
            </a:r>
            <a:r>
              <a:rPr lang="en-US" altLang="zh-CN" dirty="0"/>
              <a:t>28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22</a:t>
            </a:r>
            <a:r>
              <a:rPr lang="zh-CN" altLang="en-US" dirty="0"/>
              <a:t>是小根堆，插入关键字</a:t>
            </a:r>
            <a:r>
              <a:rPr lang="en-US" altLang="zh-CN" dirty="0"/>
              <a:t>3</a:t>
            </a:r>
            <a:r>
              <a:rPr lang="zh-CN" altLang="en-US" dirty="0"/>
              <a:t>，调整后得到的小根堆是（）。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28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22</a:t>
            </a:r>
            <a:r>
              <a:rPr lang="zh-CN" altLang="en-US" dirty="0"/>
              <a:t>、</a:t>
            </a:r>
            <a:r>
              <a:rPr lang="en-US" altLang="zh-CN" dirty="0"/>
              <a:t>19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19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22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28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22</a:t>
            </a:r>
            <a:r>
              <a:rPr lang="zh-CN" altLang="en-US" dirty="0"/>
              <a:t>、</a:t>
            </a:r>
            <a:r>
              <a:rPr lang="en-US" altLang="zh-CN" dirty="0"/>
              <a:t>28</a:t>
            </a:r>
            <a:r>
              <a:rPr lang="zh-CN" altLang="en-US" dirty="0"/>
              <a:t>、</a:t>
            </a:r>
            <a:r>
              <a:rPr lang="en-US" altLang="zh-CN" dirty="0"/>
              <a:t>19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28</a:t>
            </a:r>
            <a:r>
              <a:rPr lang="zh-CN" altLang="en-US" dirty="0"/>
              <a:t>、</a:t>
            </a:r>
            <a:r>
              <a:rPr lang="en-US" altLang="zh-CN" dirty="0"/>
              <a:t>20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22</a:t>
            </a:r>
            <a:r>
              <a:rPr lang="zh-CN" altLang="en-US" dirty="0"/>
              <a:t>、</a:t>
            </a:r>
            <a:r>
              <a:rPr lang="en-US" altLang="zh-CN" dirty="0"/>
              <a:t>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32033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已知小根堆为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15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21</a:t>
            </a:r>
            <a:r>
              <a:rPr lang="zh-CN" altLang="en-US" dirty="0"/>
              <a:t>、</a:t>
            </a:r>
            <a:r>
              <a:rPr lang="en-US" altLang="zh-CN" dirty="0"/>
              <a:t>34</a:t>
            </a:r>
            <a:r>
              <a:rPr lang="zh-CN" altLang="en-US" dirty="0"/>
              <a:t>、</a:t>
            </a:r>
            <a:r>
              <a:rPr lang="en-US" altLang="zh-CN" dirty="0"/>
              <a:t>16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，删除关键字</a:t>
            </a:r>
            <a:r>
              <a:rPr lang="en-US" altLang="zh-CN" dirty="0"/>
              <a:t>8</a:t>
            </a:r>
            <a:r>
              <a:rPr lang="zh-CN" altLang="en-US" dirty="0"/>
              <a:t>后需重建堆，在此过程中，关键字之间的比较次数为（）。</a:t>
            </a:r>
            <a:endParaRPr lang="en-US" altLang="zh-CN" dirty="0"/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858837" lvl="1" indent="-514350">
              <a:buFont typeface="+mj-lt"/>
              <a:buAutoNum type="alphaUcPeriod"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677202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已知序列</a:t>
            </a:r>
            <a:r>
              <a:rPr lang="en-US" altLang="zh-CN" dirty="0"/>
              <a:t>25</a:t>
            </a:r>
            <a:r>
              <a:rPr lang="zh-CN" altLang="en-US" dirty="0"/>
              <a:t>，</a:t>
            </a:r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是大根堆，在序列尾部插入新元素</a:t>
            </a:r>
            <a:r>
              <a:rPr lang="en-US" altLang="zh-CN" dirty="0"/>
              <a:t>18</a:t>
            </a:r>
            <a:r>
              <a:rPr lang="zh-CN" altLang="en-US" dirty="0"/>
              <a:t>，将其再调整为大根堆，</a:t>
            </a:r>
            <a:r>
              <a:rPr lang="zh-CN" altLang="en-US"/>
              <a:t>调整过程中元素</a:t>
            </a:r>
            <a:r>
              <a:rPr lang="zh-CN" altLang="en-US" dirty="0"/>
              <a:t>之间的比较次数是（）。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603168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在将数据序列（</a:t>
            </a:r>
            <a:r>
              <a:rPr lang="en-US" altLang="zh-CN" dirty="0"/>
              <a:t>6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）建成大根堆时，正确的序列变化过程是：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3284984"/>
            <a:ext cx="10209336" cy="166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2459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4F387-3A9C-F605-916F-2E73014C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C48B5-C03C-A2F1-2A03-67DDB2F9A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将关键字</a:t>
            </a:r>
            <a:r>
              <a:rPr lang="en-US" altLang="zh-CN" dirty="0"/>
              <a:t>6,9,1,5,8,4,7</a:t>
            </a:r>
            <a:r>
              <a:rPr lang="zh-CN" altLang="en-US" dirty="0"/>
              <a:t>依次插入初始为空的大根堆</a:t>
            </a:r>
            <a:r>
              <a:rPr lang="en-US" altLang="zh-CN" dirty="0"/>
              <a:t>H</a:t>
            </a:r>
            <a:r>
              <a:rPr lang="zh-CN" altLang="en-US" dirty="0"/>
              <a:t>，得到的</a:t>
            </a:r>
            <a:r>
              <a:rPr lang="en-US" altLang="zh-CN" dirty="0"/>
              <a:t>H</a:t>
            </a:r>
            <a:r>
              <a:rPr lang="zh-CN" altLang="en-US" dirty="0"/>
              <a:t>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9,8,7,6,5,4,1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9,8,7,5,6,1,4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9,8,7,5,6,4,1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9,6,7,5,8,4,1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70845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B8C12A-B0C9-B4C5-8BE1-CD7BF03B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D29211-9D7F-1BD4-1425-3E47262E0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已知关键字序列 </a:t>
            </a:r>
            <a:r>
              <a:rPr lang="en-US" altLang="zh-CN" dirty="0"/>
              <a:t>28, 22, 20, 19, 8, 12, 15, 5</a:t>
            </a:r>
            <a:r>
              <a:rPr lang="zh-CN" altLang="en-US" dirty="0"/>
              <a:t>是大根堆（最大堆），对该堆进行两次删除操作后，得到的新堆是（）。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20, 19, 15, 12, 8, 5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20, 19, 15, 5, 8, 12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20, 19, 12, 15, 8, 5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20, 19, 8, 12, 15, 5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08466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在内部排序时，如果选择了归并排序而并未选择插入排序，则可能的理由是（）。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归并排序的程序代码更短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归并排序的占用空间更少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归并排序的运行效率更高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II    B. </a:t>
            </a:r>
            <a:r>
              <a:rPr lang="zh-CN" altLang="en-US" dirty="0"/>
              <a:t>仅</a:t>
            </a:r>
            <a:r>
              <a:rPr lang="en-US" altLang="zh-CN" dirty="0"/>
              <a:t>III   C. </a:t>
            </a:r>
            <a:r>
              <a:rPr lang="zh-CN" altLang="en-US" dirty="0"/>
              <a:t>仅</a:t>
            </a:r>
            <a:r>
              <a:rPr lang="en-US" altLang="zh-CN" dirty="0"/>
              <a:t>I, II   D. </a:t>
            </a:r>
            <a:r>
              <a:rPr lang="zh-CN" altLang="en-US" dirty="0"/>
              <a:t>仅</a:t>
            </a:r>
            <a:r>
              <a:rPr lang="en-US" altLang="zh-CN" dirty="0"/>
              <a:t>I, III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96613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359C8-CD04-64DE-3F1A-D1AF1CA1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A3B3B4-A1C6-DB00-4D13-27B759D88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使用二路归并排序对含</a:t>
            </a:r>
            <a:r>
              <a:rPr lang="en-US" altLang="zh-CN" dirty="0"/>
              <a:t>n</a:t>
            </a:r>
            <a:r>
              <a:rPr lang="zh-CN" altLang="en-US" dirty="0"/>
              <a:t>个元素的数组</a:t>
            </a:r>
            <a:r>
              <a:rPr lang="en-US" altLang="zh-CN" dirty="0"/>
              <a:t>M</a:t>
            </a:r>
            <a:r>
              <a:rPr lang="zh-CN" altLang="en-US" dirty="0"/>
              <a:t>进行排序时，二路归并程序的功能是（）。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将两个有序表合并为一个新的有序表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将</a:t>
            </a:r>
            <a:r>
              <a:rPr lang="en-US" altLang="zh-CN" dirty="0"/>
              <a:t>M</a:t>
            </a:r>
            <a:r>
              <a:rPr lang="zh-CN" altLang="en-US" dirty="0"/>
              <a:t>划分为两部分，两部分的元素个数大致相等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将</a:t>
            </a:r>
            <a:r>
              <a:rPr lang="en-US" altLang="zh-CN" dirty="0"/>
              <a:t>M</a:t>
            </a:r>
            <a:r>
              <a:rPr lang="zh-CN" altLang="en-US" dirty="0"/>
              <a:t>划分为</a:t>
            </a:r>
            <a:r>
              <a:rPr lang="en-US" altLang="zh-CN" dirty="0"/>
              <a:t>n</a:t>
            </a:r>
            <a:r>
              <a:rPr lang="zh-CN" altLang="en-US" dirty="0"/>
              <a:t>部分，每个部分中仅含有一个元素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将</a:t>
            </a:r>
            <a:r>
              <a:rPr lang="en-US" altLang="zh-CN" dirty="0"/>
              <a:t>M</a:t>
            </a:r>
            <a:r>
              <a:rPr lang="zh-CN" altLang="en-US" dirty="0"/>
              <a:t>划分为两部分，一部分元素的值均小于另一部分元素的值</a:t>
            </a:r>
          </a:p>
        </p:txBody>
      </p:sp>
    </p:spTree>
    <p:extLst>
      <p:ext uri="{BB962C8B-B14F-4D97-AF65-F5344CB8AC3E}">
        <p14:creationId xmlns:p14="http://schemas.microsoft.com/office/powerpoint/2010/main" val="344411283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8F4FB-220C-5B0D-1F2D-F3AFBD6F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B5C189-AD78-404C-24D5-841436DE2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现有由关键字组成的</a:t>
            </a:r>
            <a:r>
              <a:rPr lang="en-US" altLang="zh-CN" dirty="0"/>
              <a:t>3</a:t>
            </a:r>
            <a:r>
              <a:rPr lang="zh-CN" altLang="en-US" dirty="0"/>
              <a:t>个有序序列 </a:t>
            </a:r>
            <a:r>
              <a:rPr lang="en-US" altLang="zh-CN" dirty="0"/>
              <a:t>(3,5), (7,9) </a:t>
            </a:r>
            <a:r>
              <a:rPr lang="zh-CN" altLang="en-US" dirty="0"/>
              <a:t>和 </a:t>
            </a:r>
            <a:r>
              <a:rPr lang="en-US" altLang="zh-CN" dirty="0"/>
              <a:t>(6)</a:t>
            </a:r>
            <a:r>
              <a:rPr lang="zh-CN" altLang="en-US" dirty="0"/>
              <a:t>，若按从左至右的次序选择有序序列进行二路归并排序，则关键字之间的总比较次数是（）。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104313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E439E-B751-A2C6-ECDA-C7BB36C3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A3BAAF-34FB-2FB6-3797-3D972BB41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</a:t>
            </a:r>
            <a:r>
              <a:rPr lang="zh-CN" altLang="en-US" dirty="0"/>
              <a:t>组经过第一趟</a:t>
            </a:r>
            <a:r>
              <a:rPr lang="en-US" altLang="zh-CN" dirty="0"/>
              <a:t>2</a:t>
            </a:r>
            <a:r>
              <a:rPr lang="zh-CN" altLang="en-US" dirty="0"/>
              <a:t>路归并排序后的记录的关键字是｛</a:t>
            </a:r>
            <a:r>
              <a:rPr lang="en-US" altLang="zh-CN" dirty="0"/>
              <a:t>25</a:t>
            </a:r>
            <a:r>
              <a:rPr lang="zh-CN" altLang="en-US" dirty="0"/>
              <a:t>，</a:t>
            </a:r>
            <a:r>
              <a:rPr lang="en-US" altLang="zh-CN" dirty="0"/>
              <a:t>50</a:t>
            </a:r>
            <a:r>
              <a:rPr lang="zh-CN" altLang="en-US" dirty="0"/>
              <a:t>，</a:t>
            </a:r>
            <a:r>
              <a:rPr lang="en-US" altLang="zh-CN" dirty="0"/>
              <a:t>15</a:t>
            </a:r>
            <a:r>
              <a:rPr lang="zh-CN" altLang="en-US" dirty="0"/>
              <a:t>，</a:t>
            </a:r>
            <a:r>
              <a:rPr lang="en-US" altLang="zh-CN" dirty="0"/>
              <a:t>35</a:t>
            </a:r>
            <a:r>
              <a:rPr lang="zh-CN" altLang="en-US" dirty="0"/>
              <a:t>，</a:t>
            </a:r>
            <a:r>
              <a:rPr lang="en-US" altLang="zh-CN" dirty="0"/>
              <a:t>80</a:t>
            </a:r>
            <a:r>
              <a:rPr lang="zh-CN" altLang="en-US" dirty="0"/>
              <a:t>，</a:t>
            </a:r>
            <a:r>
              <a:rPr lang="en-US" altLang="zh-CN" dirty="0"/>
              <a:t>85</a:t>
            </a:r>
            <a:r>
              <a:rPr lang="zh-CN" altLang="en-US" dirty="0"/>
              <a:t>，</a:t>
            </a:r>
            <a:r>
              <a:rPr lang="en-US" altLang="zh-CN" dirty="0"/>
              <a:t>20</a:t>
            </a:r>
            <a:r>
              <a:rPr lang="zh-CN" altLang="en-US" dirty="0"/>
              <a:t>，</a:t>
            </a:r>
            <a:r>
              <a:rPr lang="en-US" altLang="zh-CN" dirty="0"/>
              <a:t>40</a:t>
            </a:r>
            <a:r>
              <a:rPr lang="zh-CN" altLang="en-US" dirty="0"/>
              <a:t>，</a:t>
            </a:r>
            <a:r>
              <a:rPr lang="en-US" altLang="zh-CN" dirty="0"/>
              <a:t>36</a:t>
            </a:r>
            <a:r>
              <a:rPr lang="zh-CN" altLang="en-US" dirty="0"/>
              <a:t>，</a:t>
            </a:r>
            <a:r>
              <a:rPr lang="en-US" altLang="zh-CN" dirty="0"/>
              <a:t>70</a:t>
            </a:r>
            <a:r>
              <a:rPr lang="zh-CN" altLang="en-US" dirty="0"/>
              <a:t>｝，其中包含</a:t>
            </a:r>
            <a:r>
              <a:rPr lang="en-US" altLang="zh-CN" dirty="0"/>
              <a:t>5</a:t>
            </a:r>
            <a:r>
              <a:rPr lang="zh-CN" altLang="en-US" dirty="0"/>
              <a:t>个长度为</a:t>
            </a:r>
            <a:r>
              <a:rPr lang="en-US" altLang="zh-CN" dirty="0"/>
              <a:t>2</a:t>
            </a:r>
            <a:r>
              <a:rPr lang="zh-CN" altLang="en-US" dirty="0"/>
              <a:t>的有序表，则第二趟归并后的结果是（）。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15,25,35,50,80,20,85,40,70,36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15,25,35,50,20,40,80,85,36,70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15,25,50,35,80,85,20,36,40,70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15,25,35,50,80,20,36,40,70,85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325146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对于给定的关键字序列</a:t>
            </a: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119</a:t>
            </a:r>
            <a:r>
              <a:rPr lang="zh-CN" altLang="en-US" dirty="0"/>
              <a:t>，</a:t>
            </a:r>
            <a:r>
              <a:rPr lang="en-US" altLang="zh-CN" dirty="0"/>
              <a:t>007</a:t>
            </a:r>
            <a:r>
              <a:rPr lang="zh-CN" altLang="en-US" dirty="0"/>
              <a:t>，</a:t>
            </a:r>
            <a:r>
              <a:rPr lang="en-US" altLang="zh-CN" dirty="0"/>
              <a:t>911</a:t>
            </a:r>
            <a:r>
              <a:rPr lang="zh-CN" altLang="en-US" dirty="0"/>
              <a:t>，</a:t>
            </a:r>
            <a:r>
              <a:rPr lang="en-US" altLang="zh-CN" dirty="0"/>
              <a:t>114</a:t>
            </a:r>
            <a:r>
              <a:rPr lang="zh-CN" altLang="en-US" dirty="0"/>
              <a:t>，</a:t>
            </a:r>
            <a:r>
              <a:rPr lang="en-US" altLang="zh-CN" dirty="0"/>
              <a:t>120</a:t>
            </a:r>
            <a:r>
              <a:rPr lang="zh-CN" altLang="en-US" dirty="0"/>
              <a:t>，</a:t>
            </a:r>
            <a:r>
              <a:rPr lang="en-US" altLang="zh-CN" dirty="0"/>
              <a:t>122</a:t>
            </a:r>
            <a:r>
              <a:rPr lang="zh-CN" altLang="en-US" dirty="0"/>
              <a:t>进行基数排序，第</a:t>
            </a:r>
            <a:r>
              <a:rPr lang="en-US" altLang="zh-CN" dirty="0"/>
              <a:t>2</a:t>
            </a:r>
            <a:r>
              <a:rPr lang="zh-CN" altLang="en-US" dirty="0"/>
              <a:t>趟分配收集后得到的关键字序列是（）。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007</a:t>
            </a:r>
            <a:r>
              <a:rPr lang="zh-CN" altLang="en-US" dirty="0"/>
              <a:t>，</a:t>
            </a: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119</a:t>
            </a:r>
            <a:r>
              <a:rPr lang="zh-CN" altLang="en-US" dirty="0"/>
              <a:t>，</a:t>
            </a:r>
            <a:r>
              <a:rPr lang="en-US" altLang="zh-CN" dirty="0"/>
              <a:t>114</a:t>
            </a:r>
            <a:r>
              <a:rPr lang="zh-CN" altLang="en-US" dirty="0"/>
              <a:t>，</a:t>
            </a:r>
            <a:r>
              <a:rPr lang="en-US" altLang="zh-CN" dirty="0"/>
              <a:t>911</a:t>
            </a:r>
            <a:r>
              <a:rPr lang="zh-CN" altLang="en-US" dirty="0"/>
              <a:t>，</a:t>
            </a:r>
            <a:r>
              <a:rPr lang="en-US" altLang="zh-CN" dirty="0"/>
              <a:t>120</a:t>
            </a:r>
            <a:r>
              <a:rPr lang="zh-CN" altLang="en-US" dirty="0"/>
              <a:t>，</a:t>
            </a:r>
            <a:r>
              <a:rPr lang="en-US" altLang="zh-CN" dirty="0"/>
              <a:t>122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007</a:t>
            </a:r>
            <a:r>
              <a:rPr lang="zh-CN" altLang="en-US" dirty="0"/>
              <a:t>，</a:t>
            </a: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119</a:t>
            </a:r>
            <a:r>
              <a:rPr lang="zh-CN" altLang="en-US" dirty="0"/>
              <a:t>，</a:t>
            </a:r>
            <a:r>
              <a:rPr lang="en-US" altLang="zh-CN" dirty="0"/>
              <a:t>114</a:t>
            </a:r>
            <a:r>
              <a:rPr lang="zh-CN" altLang="en-US" dirty="0"/>
              <a:t>，</a:t>
            </a:r>
            <a:r>
              <a:rPr lang="en-US" altLang="zh-CN" dirty="0"/>
              <a:t>911</a:t>
            </a:r>
            <a:r>
              <a:rPr lang="zh-CN" altLang="en-US" dirty="0"/>
              <a:t>，</a:t>
            </a:r>
            <a:r>
              <a:rPr lang="en-US" altLang="zh-CN" dirty="0"/>
              <a:t>122</a:t>
            </a:r>
            <a:r>
              <a:rPr lang="zh-CN" altLang="en-US" dirty="0"/>
              <a:t>，</a:t>
            </a:r>
            <a:r>
              <a:rPr lang="en-US" altLang="zh-CN" dirty="0"/>
              <a:t>120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007</a:t>
            </a:r>
            <a:r>
              <a:rPr lang="zh-CN" altLang="en-US" dirty="0"/>
              <a:t>，</a:t>
            </a: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911</a:t>
            </a:r>
            <a:r>
              <a:rPr lang="zh-CN" altLang="en-US" dirty="0"/>
              <a:t>，</a:t>
            </a:r>
            <a:r>
              <a:rPr lang="en-US" altLang="zh-CN" dirty="0"/>
              <a:t>114</a:t>
            </a:r>
            <a:r>
              <a:rPr lang="zh-CN" altLang="en-US" dirty="0"/>
              <a:t>，</a:t>
            </a:r>
            <a:r>
              <a:rPr lang="en-US" altLang="zh-CN" dirty="0"/>
              <a:t>119</a:t>
            </a:r>
            <a:r>
              <a:rPr lang="zh-CN" altLang="en-US" dirty="0"/>
              <a:t>，</a:t>
            </a:r>
            <a:r>
              <a:rPr lang="en-US" altLang="zh-CN" dirty="0"/>
              <a:t>120</a:t>
            </a:r>
            <a:r>
              <a:rPr lang="zh-CN" altLang="en-US" dirty="0"/>
              <a:t>，</a:t>
            </a:r>
            <a:r>
              <a:rPr lang="en-US" altLang="zh-CN" dirty="0"/>
              <a:t>122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110</a:t>
            </a:r>
            <a:r>
              <a:rPr lang="zh-CN" altLang="en-US" dirty="0"/>
              <a:t>，</a:t>
            </a:r>
            <a:r>
              <a:rPr lang="en-US" altLang="zh-CN" dirty="0"/>
              <a:t>120</a:t>
            </a:r>
            <a:r>
              <a:rPr lang="zh-CN" altLang="en-US" dirty="0"/>
              <a:t>，</a:t>
            </a:r>
            <a:r>
              <a:rPr lang="en-US" altLang="zh-CN" dirty="0"/>
              <a:t>911</a:t>
            </a:r>
            <a:r>
              <a:rPr lang="zh-CN" altLang="en-US" dirty="0"/>
              <a:t>，</a:t>
            </a:r>
            <a:r>
              <a:rPr lang="en-US" altLang="zh-CN" dirty="0"/>
              <a:t>122</a:t>
            </a:r>
            <a:r>
              <a:rPr lang="zh-CN" altLang="en-US" dirty="0"/>
              <a:t>，</a:t>
            </a:r>
            <a:r>
              <a:rPr lang="en-US" altLang="zh-CN" dirty="0"/>
              <a:t>114</a:t>
            </a:r>
            <a:r>
              <a:rPr lang="zh-CN" altLang="en-US" dirty="0"/>
              <a:t>，</a:t>
            </a:r>
            <a:r>
              <a:rPr lang="en-US" altLang="zh-CN" dirty="0"/>
              <a:t>007</a:t>
            </a:r>
            <a:r>
              <a:rPr lang="zh-CN" altLang="en-US" dirty="0"/>
              <a:t>，</a:t>
            </a:r>
            <a:r>
              <a:rPr lang="en-US" altLang="zh-CN" dirty="0"/>
              <a:t>119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390268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3DB30-1A02-A5B2-E2EE-0E5B0928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3FE64C-AE42-44BA-F3FB-D786E5CBC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设数组</a:t>
            </a:r>
            <a:r>
              <a:rPr lang="en-US" altLang="zh-CN" dirty="0"/>
              <a:t>S[] = { 93,946,372,9,146,151,301,485,236,327,43,892 }</a:t>
            </a:r>
            <a:r>
              <a:rPr lang="zh-CN" altLang="en-US" dirty="0"/>
              <a:t>，采用最低位优先</a:t>
            </a:r>
            <a:r>
              <a:rPr lang="en-US" altLang="zh-CN" dirty="0"/>
              <a:t>LSD</a:t>
            </a:r>
            <a:r>
              <a:rPr lang="zh-CN" altLang="en-US" dirty="0"/>
              <a:t>基数排序将</a:t>
            </a:r>
            <a:r>
              <a:rPr lang="en-US" altLang="zh-CN" dirty="0"/>
              <a:t>S</a:t>
            </a:r>
            <a:r>
              <a:rPr lang="zh-CN" altLang="en-US" dirty="0"/>
              <a:t>排列成升序序列。第一趟分配、收集后，元素</a:t>
            </a:r>
            <a:r>
              <a:rPr lang="en-US" altLang="zh-CN" dirty="0"/>
              <a:t>372</a:t>
            </a:r>
            <a:r>
              <a:rPr lang="zh-CN" altLang="en-US" dirty="0"/>
              <a:t>之前、之后紧邻的元素分别是（）。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43,892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236,301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301,892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485,301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054492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</a:t>
            </a:r>
            <a:r>
              <a:rPr lang="en-US" altLang="zh-CN" dirty="0"/>
              <a:t>10TB</a:t>
            </a:r>
            <a:r>
              <a:rPr lang="zh-CN" altLang="en-US" dirty="0"/>
              <a:t>的数据文件进行排序，应使用的方法是（）。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希尔排序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堆排序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快速排序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归并排序</a:t>
            </a:r>
          </a:p>
        </p:txBody>
      </p:sp>
    </p:spTree>
    <p:extLst>
      <p:ext uri="{BB962C8B-B14F-4D97-AF65-F5344CB8AC3E}">
        <p14:creationId xmlns:p14="http://schemas.microsoft.com/office/powerpoint/2010/main" val="233576559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若数据元素序列｛</a:t>
            </a:r>
            <a:r>
              <a:rPr lang="en-US" altLang="zh-CN" dirty="0"/>
              <a:t>11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｝是采用下列排序方法之一得到的第二趟排序后的结果，则该排序算法只能是（）。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冒泡排序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插入排序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选择排序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  <a:r>
              <a:rPr lang="zh-CN" altLang="en-US" dirty="0"/>
              <a:t>路归并排序</a:t>
            </a:r>
          </a:p>
        </p:txBody>
      </p:sp>
    </p:spTree>
    <p:extLst>
      <p:ext uri="{BB962C8B-B14F-4D97-AF65-F5344CB8AC3E}">
        <p14:creationId xmlns:p14="http://schemas.microsoft.com/office/powerpoint/2010/main" val="270525024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对一组数据｛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88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｝进行排序，若前三趟结果如下：</a:t>
            </a:r>
            <a:br>
              <a:rPr lang="en-US" altLang="zh-CN" dirty="0"/>
            </a:br>
            <a:r>
              <a:rPr lang="zh-CN" altLang="en-US" dirty="0"/>
              <a:t>一：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88</a:t>
            </a:r>
            <a:br>
              <a:rPr lang="en-US" altLang="zh-CN" dirty="0"/>
            </a:br>
            <a:r>
              <a:rPr lang="zh-CN" altLang="en-US" dirty="0"/>
              <a:t>二：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88</a:t>
            </a:r>
            <a:br>
              <a:rPr lang="en-US" altLang="zh-CN" dirty="0"/>
            </a:br>
            <a:r>
              <a:rPr lang="zh-CN" altLang="en-US" dirty="0"/>
              <a:t>三：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88</a:t>
            </a:r>
            <a:br>
              <a:rPr lang="en-US" altLang="zh-CN" dirty="0"/>
            </a:br>
            <a:r>
              <a:rPr lang="zh-CN" altLang="en-US" dirty="0"/>
              <a:t>则采用的排序方法可能是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冒泡排序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希尔排序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归并排序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基数排序</a:t>
            </a:r>
          </a:p>
        </p:txBody>
      </p:sp>
    </p:spTree>
    <p:extLst>
      <p:ext uri="{BB962C8B-B14F-4D97-AF65-F5344CB8AC3E}">
        <p14:creationId xmlns:p14="http://schemas.microsoft.com/office/powerpoint/2010/main" val="20564088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在内部排序中，每趟排序结束都能至少确定一个元素最终位置的方法是（）。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简单选择排序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希尔排序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快速排序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堆排序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en-US" altLang="zh-CN" dirty="0"/>
              <a:t>2</a:t>
            </a:r>
            <a:r>
              <a:rPr lang="zh-CN" altLang="en-US" dirty="0"/>
              <a:t>路归并排序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I, III, IV   B. </a:t>
            </a:r>
            <a:r>
              <a:rPr lang="zh-CN" altLang="en-US" dirty="0"/>
              <a:t>仅</a:t>
            </a:r>
            <a:r>
              <a:rPr lang="en-US" altLang="zh-CN" dirty="0"/>
              <a:t>I, III, V   C. </a:t>
            </a:r>
            <a:r>
              <a:rPr lang="zh-CN" altLang="en-US" dirty="0"/>
              <a:t>仅</a:t>
            </a:r>
            <a:r>
              <a:rPr lang="en-US" altLang="zh-CN" dirty="0"/>
              <a:t>II, III, IV   D. </a:t>
            </a:r>
            <a:r>
              <a:rPr lang="zh-CN" altLang="en-US" dirty="0"/>
              <a:t>仅</a:t>
            </a:r>
            <a:r>
              <a:rPr lang="en-US" altLang="zh-CN" dirty="0"/>
              <a:t>III, IV, 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466574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下列排序算法中，元素的移动次数与关键字的初始排列顺序无关的是（）。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直接插入排序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冒泡排序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基数排序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快速排序</a:t>
            </a:r>
          </a:p>
        </p:txBody>
      </p:sp>
    </p:spTree>
    <p:extLst>
      <p:ext uri="{BB962C8B-B14F-4D97-AF65-F5344CB8AC3E}">
        <p14:creationId xmlns:p14="http://schemas.microsoft.com/office/powerpoint/2010/main" val="265126941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下列排序方法中，若将顺序存储改为链式存储，则算法的时间效率会降低的是（）。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插入排序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选择排序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冒泡排序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希尔排序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堆排序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I, II   B. </a:t>
            </a:r>
            <a:r>
              <a:rPr lang="zh-CN" altLang="en-US" dirty="0"/>
              <a:t>仅</a:t>
            </a:r>
            <a:r>
              <a:rPr lang="en-US" altLang="zh-CN" dirty="0"/>
              <a:t>II, III   C. </a:t>
            </a:r>
            <a:r>
              <a:rPr lang="zh-CN" altLang="en-US" dirty="0"/>
              <a:t>仅</a:t>
            </a:r>
            <a:r>
              <a:rPr lang="en-US" altLang="zh-CN" dirty="0"/>
              <a:t>III, IV   D. </a:t>
            </a:r>
            <a:r>
              <a:rPr lang="zh-CN" altLang="en-US" dirty="0"/>
              <a:t>仅</a:t>
            </a:r>
            <a:r>
              <a:rPr lang="en-US" altLang="zh-CN" dirty="0"/>
              <a:t>IV, 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047907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选择一个排序算法时，除算法的时空效率外，下列因素中，还需要考虑的是（）。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数据的规模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数据的存储方式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算法的稳定性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数据的初始状态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III   B. </a:t>
            </a:r>
            <a:r>
              <a:rPr lang="zh-CN" altLang="en-US" dirty="0"/>
              <a:t>仅</a:t>
            </a:r>
            <a:r>
              <a:rPr lang="en-US" altLang="zh-CN" dirty="0"/>
              <a:t>I, II   C. </a:t>
            </a:r>
            <a:r>
              <a:rPr lang="zh-CN" altLang="en-US" dirty="0"/>
              <a:t>仅</a:t>
            </a:r>
            <a:r>
              <a:rPr lang="en-US" altLang="zh-CN" dirty="0"/>
              <a:t>II, III, IV   D. I, II, III, 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46480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对大部分元素已有序的数组排序时，直接插入排序比简单选择排序效率更高，其原因是（）。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直接插入排序过程中元素之间的比较次数更少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直接插入排序过程中所需的辅助空间更少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直接插入排序过程中元素的移动次数较少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   B. </a:t>
            </a:r>
            <a:r>
              <a:rPr lang="zh-CN" altLang="en-US" dirty="0"/>
              <a:t>仅</a:t>
            </a:r>
            <a:r>
              <a:rPr lang="en-US" altLang="zh-CN" dirty="0"/>
              <a:t>III   C. </a:t>
            </a:r>
            <a:r>
              <a:rPr lang="zh-CN" altLang="en-US" dirty="0"/>
              <a:t>仅</a:t>
            </a:r>
            <a:r>
              <a:rPr lang="en-US" altLang="zh-CN" dirty="0"/>
              <a:t>I, II   D. I, II, III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562051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DD2A8-2D1B-3DB5-5A90-CC83B3EF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BB135C-1D0F-0AA6-EF16-617800537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对数据进行排序时，若采用直接插入排序而不采用快速排序，则可能的原因是（）。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大部分元素已有序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待排序元素数量很少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要求空间复杂度为</a:t>
            </a:r>
            <a:r>
              <a:rPr lang="en-US" altLang="zh-CN" dirty="0"/>
              <a:t>O(1)</a:t>
            </a:r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要求排序算法是稳定的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I, II		B. </a:t>
            </a:r>
            <a:r>
              <a:rPr lang="zh-CN" altLang="en-US" dirty="0"/>
              <a:t>仅</a:t>
            </a:r>
            <a:r>
              <a:rPr lang="en-US" altLang="zh-CN" dirty="0"/>
              <a:t>III, IV	C.</a:t>
            </a:r>
            <a:r>
              <a:rPr lang="zh-CN" altLang="en-US" dirty="0"/>
              <a:t>仅</a:t>
            </a:r>
            <a:r>
              <a:rPr lang="en-US" altLang="zh-CN" dirty="0"/>
              <a:t>I, II ,IV	D. I,</a:t>
            </a:r>
            <a:r>
              <a:rPr lang="zh-CN" altLang="en-US" dirty="0"/>
              <a:t> </a:t>
            </a:r>
            <a:r>
              <a:rPr lang="en-US" altLang="zh-CN" dirty="0"/>
              <a:t>II,</a:t>
            </a:r>
            <a:r>
              <a:rPr lang="zh-CN" altLang="en-US" dirty="0"/>
              <a:t> </a:t>
            </a:r>
            <a:r>
              <a:rPr lang="en-US" altLang="zh-CN" dirty="0"/>
              <a:t>III,</a:t>
            </a:r>
            <a:r>
              <a:rPr lang="zh-CN" altLang="en-US" dirty="0"/>
              <a:t> </a:t>
            </a:r>
            <a:r>
              <a:rPr lang="en-US" altLang="zh-CN" dirty="0"/>
              <a:t>IV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1045282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173B2-7B24-32A1-022D-6076852B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排序综合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25A7EB-3667-880E-1861-4D757DB9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下列排序算法中，不稳定的是（）。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希尔排序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归并排序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快速排序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堆排序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r>
              <a:rPr lang="zh-CN" altLang="en-US" dirty="0"/>
              <a:t>基数排序</a:t>
            </a:r>
            <a:endParaRPr lang="en-US" altLang="zh-CN" dirty="0"/>
          </a:p>
          <a:p>
            <a:pPr marL="971550" lvl="1" indent="-514350">
              <a:buFont typeface="+mj-lt"/>
              <a:buAutoNum type="romanUcPeriod"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A. </a:t>
            </a:r>
            <a:r>
              <a:rPr lang="zh-CN" altLang="en-US" dirty="0"/>
              <a:t>仅</a:t>
            </a:r>
            <a:r>
              <a:rPr lang="en-US" altLang="zh-CN" dirty="0"/>
              <a:t>I, II		B. </a:t>
            </a:r>
            <a:r>
              <a:rPr lang="zh-CN" altLang="en-US" dirty="0"/>
              <a:t>仅</a:t>
            </a:r>
            <a:r>
              <a:rPr lang="en-US" altLang="zh-CN" dirty="0"/>
              <a:t>II, V	C. </a:t>
            </a:r>
            <a:r>
              <a:rPr lang="zh-CN" altLang="en-US" dirty="0"/>
              <a:t>仅</a:t>
            </a:r>
            <a:r>
              <a:rPr lang="en-US" altLang="zh-CN" dirty="0"/>
              <a:t>I, III, IV		D. </a:t>
            </a:r>
            <a:r>
              <a:rPr lang="zh-CN" altLang="en-US" dirty="0"/>
              <a:t>仅</a:t>
            </a:r>
            <a:r>
              <a:rPr lang="en-US" altLang="zh-CN" dirty="0"/>
              <a:t>III, IV, V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615068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填充复习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057370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真题演练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用数组</a:t>
            </a:r>
            <a:r>
              <a:rPr lang="en-US" altLang="zh-CN" dirty="0"/>
              <a:t>q[0 … m-1]</a:t>
            </a:r>
            <a:r>
              <a:rPr lang="zh-CN" altLang="en-US" dirty="0"/>
              <a:t>表示的顺序存储队列，队列中元素个数最多为</a:t>
            </a:r>
            <a:r>
              <a:rPr lang="en-US" altLang="zh-CN" dirty="0"/>
              <a:t>m</a:t>
            </a:r>
            <a:r>
              <a:rPr lang="zh-CN" altLang="en-US" dirty="0"/>
              <a:t>，用</a:t>
            </a:r>
            <a:r>
              <a:rPr lang="en-US" altLang="zh-CN" dirty="0"/>
              <a:t>front</a:t>
            </a:r>
            <a:r>
              <a:rPr lang="zh-CN" altLang="en-US" dirty="0"/>
              <a:t>表示队头指针，指向队头元素的前一位置，初值为</a:t>
            </a:r>
            <a:r>
              <a:rPr lang="en-US" altLang="zh-CN" dirty="0"/>
              <a:t>-1</a:t>
            </a:r>
            <a:r>
              <a:rPr lang="zh-CN" altLang="en-US" dirty="0"/>
              <a:t>，用</a:t>
            </a:r>
            <a:r>
              <a:rPr lang="en-US" altLang="zh-CN" dirty="0"/>
              <a:t>rear</a:t>
            </a:r>
            <a:r>
              <a:rPr lang="zh-CN" altLang="en-US" dirty="0"/>
              <a:t>表示队尾指针，指向队尾元素，判断队列发生假溢出的条件为 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设一个栈的进栈序列为</a:t>
            </a:r>
            <a:r>
              <a:rPr lang="en-US" altLang="zh-CN" dirty="0"/>
              <a:t>p1, p2, …, </a:t>
            </a:r>
            <a:r>
              <a:rPr lang="en-US" altLang="zh-CN" dirty="0" err="1"/>
              <a:t>pn</a:t>
            </a:r>
            <a:r>
              <a:rPr lang="zh-CN" altLang="en-US" dirty="0"/>
              <a:t>，其出栈序列为</a:t>
            </a:r>
            <a:r>
              <a:rPr lang="en-US" altLang="zh-CN" dirty="0"/>
              <a:t>2, 3, …, n+1</a:t>
            </a:r>
            <a:r>
              <a:rPr lang="zh-CN" altLang="en-US" dirty="0"/>
              <a:t>。若已知</a:t>
            </a:r>
            <a:r>
              <a:rPr lang="en-US" altLang="zh-CN" dirty="0" err="1"/>
              <a:t>pn</a:t>
            </a:r>
            <a:r>
              <a:rPr lang="zh-CN" altLang="en-US" dirty="0"/>
              <a:t>的值是</a:t>
            </a:r>
            <a:r>
              <a:rPr lang="en-US" altLang="zh-CN" dirty="0"/>
              <a:t>2</a:t>
            </a:r>
            <a:r>
              <a:rPr lang="zh-CN" altLang="en-US" dirty="0"/>
              <a:t>，那么</a:t>
            </a:r>
            <a:r>
              <a:rPr lang="en-US" altLang="zh-CN" dirty="0"/>
              <a:t>pi</a:t>
            </a:r>
            <a:r>
              <a:rPr lang="zh-CN" altLang="en-US" dirty="0"/>
              <a:t>的值是</a:t>
            </a:r>
            <a:r>
              <a:rPr lang="en-US" altLang="zh-CN" dirty="0"/>
              <a:t>______________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已知一棵完全二叉树的第</a:t>
            </a:r>
            <a:r>
              <a:rPr lang="en-US" altLang="zh-CN" dirty="0"/>
              <a:t>6</a:t>
            </a:r>
            <a:r>
              <a:rPr lang="zh-CN" altLang="zh-CN" dirty="0"/>
              <a:t>层（设根为第</a:t>
            </a:r>
            <a:r>
              <a:rPr lang="en-US" altLang="zh-CN" dirty="0"/>
              <a:t>1</a:t>
            </a:r>
            <a:r>
              <a:rPr lang="zh-CN" altLang="zh-CN" dirty="0"/>
              <a:t>层）有</a:t>
            </a:r>
            <a:r>
              <a:rPr lang="en-US" altLang="zh-CN" dirty="0"/>
              <a:t>12</a:t>
            </a:r>
            <a:r>
              <a:rPr lang="zh-CN" altLang="zh-CN" dirty="0"/>
              <a:t>个叶结点，则这棵树的结点至多有</a:t>
            </a:r>
            <a:r>
              <a:rPr lang="en-US" altLang="zh-CN" dirty="0"/>
              <a:t>______________</a:t>
            </a:r>
            <a:r>
              <a:rPr lang="zh-CN" altLang="zh-CN" dirty="0"/>
              <a:t>个。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138264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A3163-E036-2A13-8D0D-ABD29B41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真题演练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B1709-0631-7787-BC5C-24BB90B21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给定结点个数为</a:t>
            </a:r>
            <a:r>
              <a:rPr lang="en-US" altLang="zh-CN" dirty="0"/>
              <a:t>n</a:t>
            </a:r>
            <a:r>
              <a:rPr lang="zh-CN" altLang="en-US" dirty="0"/>
              <a:t>、高度为</a:t>
            </a:r>
            <a:r>
              <a:rPr lang="en-US" altLang="zh-CN" dirty="0"/>
              <a:t>h=log</a:t>
            </a:r>
            <a:r>
              <a:rPr lang="en-US" altLang="zh-CN" baseline="-25000" dirty="0"/>
              <a:t>2</a:t>
            </a:r>
            <a:r>
              <a:rPr lang="en-US" altLang="zh-CN" dirty="0"/>
              <a:t>(n+1)-1</a:t>
            </a:r>
            <a:r>
              <a:rPr lang="zh-CN" altLang="en-US" dirty="0"/>
              <a:t>的满二叉树，如果从</a:t>
            </a:r>
            <a:r>
              <a:rPr lang="en-US" altLang="zh-CN" dirty="0"/>
              <a:t>0</a:t>
            </a:r>
            <a:r>
              <a:rPr lang="zh-CN" altLang="en-US" dirty="0"/>
              <a:t>开始按中序遍历顺序对结点编号，则树根的左孩子编号用</a:t>
            </a:r>
            <a:r>
              <a:rPr lang="en-US" altLang="zh-CN" dirty="0"/>
              <a:t>h</a:t>
            </a:r>
            <a:r>
              <a:rPr lang="zh-CN" altLang="en-US" dirty="0"/>
              <a:t>表示为 </a:t>
            </a:r>
            <a:r>
              <a:rPr lang="zh-CN" altLang="en-US" u="sng" dirty="0"/>
              <a:t>              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如果二叉树中结点</a:t>
            </a:r>
            <a:r>
              <a:rPr lang="en-US" altLang="zh-CN" dirty="0"/>
              <a:t>n</a:t>
            </a:r>
            <a:r>
              <a:rPr lang="zh-CN" altLang="en-US" dirty="0"/>
              <a:t>的左右孩子都非空，则</a:t>
            </a:r>
            <a:r>
              <a:rPr lang="en-US" altLang="zh-CN" dirty="0"/>
              <a:t>n</a:t>
            </a:r>
            <a:r>
              <a:rPr lang="zh-CN" altLang="en-US" dirty="0"/>
              <a:t>的中序后继</a:t>
            </a:r>
            <a:r>
              <a:rPr lang="en-US" altLang="zh-CN" dirty="0"/>
              <a:t>p</a:t>
            </a:r>
            <a:r>
              <a:rPr lang="zh-CN" altLang="en-US" dirty="0"/>
              <a:t>的</a:t>
            </a:r>
            <a:r>
              <a:rPr lang="en-US" altLang="zh-CN" dirty="0"/>
              <a:t>___</a:t>
            </a:r>
            <a:r>
              <a:rPr lang="zh-CN" altLang="en-US" dirty="0"/>
              <a:t>孩子一定为空。</a:t>
            </a:r>
            <a:endParaRPr lang="en-US" altLang="zh-CN" dirty="0"/>
          </a:p>
          <a:p>
            <a:r>
              <a:rPr lang="zh-CN" altLang="zh-CN" dirty="0"/>
              <a:t>假设用于通信的电文由</a:t>
            </a:r>
            <a:r>
              <a:rPr lang="en-US" altLang="zh-CN" dirty="0"/>
              <a:t>5</a:t>
            </a:r>
            <a:r>
              <a:rPr lang="zh-CN" altLang="zh-CN" dirty="0"/>
              <a:t>个字符组成，已知其中一个字符的哈夫曼编码是</a:t>
            </a:r>
            <a:r>
              <a:rPr lang="en-US" altLang="zh-CN" dirty="0"/>
              <a:t>1101</a:t>
            </a:r>
            <a:r>
              <a:rPr lang="zh-CN" altLang="zh-CN" dirty="0"/>
              <a:t>，则该哈夫曼编码树的平均编码长度是</a:t>
            </a:r>
            <a:r>
              <a:rPr lang="en-US" altLang="zh-CN" dirty="0"/>
              <a:t>______________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225335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真题演练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把数字</a:t>
            </a:r>
            <a:r>
              <a:rPr lang="en-US" altLang="zh-CN" dirty="0"/>
              <a:t>20, 22, 65, 55, 75, 34, 100, 104, 2022</a:t>
            </a:r>
            <a:r>
              <a:rPr lang="zh-CN" altLang="zh-CN" dirty="0"/>
              <a:t>依次插入一个空的平衡二叉树</a:t>
            </a:r>
            <a:r>
              <a:rPr lang="en-US" altLang="zh-CN" dirty="0"/>
              <a:t>(AVL tree)</a:t>
            </a:r>
            <a:r>
              <a:rPr lang="zh-CN" altLang="zh-CN" dirty="0"/>
              <a:t>后（左结点小于根结点小于右结点），根结点的值为</a:t>
            </a:r>
            <a:r>
              <a:rPr lang="en-US" altLang="zh-CN" dirty="0"/>
              <a:t>______________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规定根结点高度为</a:t>
            </a:r>
            <a:r>
              <a:rPr lang="en-US" altLang="zh-CN" dirty="0"/>
              <a:t>0</a:t>
            </a:r>
            <a:r>
              <a:rPr lang="zh-CN" altLang="en-US" dirty="0"/>
              <a:t>，如果插入新结点后，一棵</a:t>
            </a:r>
            <a:r>
              <a:rPr lang="en-US" altLang="zh-CN" dirty="0"/>
              <a:t>AVL</a:t>
            </a:r>
            <a:r>
              <a:rPr lang="zh-CN" altLang="en-US" dirty="0"/>
              <a:t>树的高度为</a:t>
            </a:r>
            <a:r>
              <a:rPr lang="en-US" altLang="zh-CN" dirty="0"/>
              <a:t>2</a:t>
            </a:r>
            <a:r>
              <a:rPr lang="zh-CN" altLang="en-US" dirty="0"/>
              <a:t>，并且由于右子树为空导致不平衡，需要进行左右双旋，旋转后该</a:t>
            </a:r>
            <a:r>
              <a:rPr lang="en-US" altLang="zh-CN" dirty="0"/>
              <a:t>AVL</a:t>
            </a:r>
            <a:r>
              <a:rPr lang="zh-CN" altLang="en-US" dirty="0"/>
              <a:t>树的根结点的平衡因子值为</a:t>
            </a:r>
            <a:r>
              <a:rPr lang="zh-CN" altLang="en-US" u="sng" dirty="0"/>
              <a:t>               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在右图所示的带权连通图中，其最小生成树中各边权值之和是</a:t>
            </a:r>
            <a:r>
              <a:rPr lang="en-US" altLang="zh-CN" dirty="0"/>
              <a:t>______________</a:t>
            </a:r>
            <a:r>
              <a:rPr lang="zh-CN" altLang="zh-CN" dirty="0"/>
              <a:t>。</a:t>
            </a: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447928" y="5229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952" y="5157192"/>
            <a:ext cx="1656184" cy="145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7136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真题演练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772816"/>
            <a:ext cx="10363200" cy="4114800"/>
          </a:xfrm>
        </p:spPr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个结点</a:t>
            </a:r>
            <a:r>
              <a:rPr lang="en-US" altLang="zh-CN" dirty="0"/>
              <a:t>e</a:t>
            </a:r>
            <a:r>
              <a:rPr lang="zh-CN" altLang="en-US" dirty="0"/>
              <a:t>条边的无向图用邻接表表示时，空间复杂度是</a:t>
            </a:r>
            <a:r>
              <a:rPr lang="en-US" altLang="zh-CN" dirty="0"/>
              <a:t>O(__)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</a:t>
            </a:r>
            <a:r>
              <a:rPr lang="en-US" altLang="zh-CN" dirty="0"/>
              <a:t>AOE</a:t>
            </a:r>
            <a:r>
              <a:rPr lang="zh-CN" altLang="zh-CN" dirty="0"/>
              <a:t>网络中，若任意一个关键活动提前完成，则整个工程</a:t>
            </a:r>
            <a:r>
              <a:rPr lang="en-US" altLang="zh-CN" dirty="0"/>
              <a:t>______________</a:t>
            </a:r>
            <a:r>
              <a:rPr lang="zh-CN" altLang="zh-CN" dirty="0"/>
              <a:t>会提前完成；若任意一个关键活动延期完成，则整个工程</a:t>
            </a:r>
            <a:r>
              <a:rPr lang="en-US" altLang="zh-CN" dirty="0"/>
              <a:t>______________</a:t>
            </a:r>
            <a:r>
              <a:rPr lang="zh-CN" altLang="zh-CN" dirty="0"/>
              <a:t>会延期完成。（可填“一定”或者“不一定”）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n</a:t>
            </a:r>
            <a:r>
              <a:rPr lang="zh-CN" altLang="en-US" dirty="0"/>
              <a:t>个数中用堆排序选择最小的</a:t>
            </a:r>
            <a:r>
              <a:rPr lang="en-US" altLang="zh-CN" dirty="0"/>
              <a:t>k</a:t>
            </a:r>
            <a:r>
              <a:rPr lang="zh-CN" altLang="en-US" dirty="0"/>
              <a:t>个数</a:t>
            </a:r>
            <a:r>
              <a:rPr lang="en-US" altLang="zh-CN" dirty="0"/>
              <a:t>(k&lt;n)</a:t>
            </a:r>
            <a:r>
              <a:rPr lang="zh-CN" altLang="en-US" dirty="0"/>
              <a:t>，时间性能最好的算法时间复杂度可达到</a:t>
            </a:r>
            <a:r>
              <a:rPr lang="en-US" altLang="zh-CN" dirty="0"/>
              <a:t>O(___)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在冒泡排序、插入排序、选择排序、快速排序、归并排序、堆排序、以及基数排序中，不稳定的排序算法是</a:t>
            </a:r>
            <a:r>
              <a:rPr lang="en-US" altLang="zh-CN" dirty="0"/>
              <a:t>_____</a:t>
            </a:r>
            <a:r>
              <a:rPr lang="zh-CN" altLang="zh-CN" dirty="0"/>
              <a:t>（要求列出符合要求的两种算法名称）。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377043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代码复习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9716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代码复习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数组基本操作</a:t>
            </a:r>
            <a:endParaRPr lang="en-US" altLang="zh-CN" dirty="0"/>
          </a:p>
          <a:p>
            <a:r>
              <a:rPr lang="zh-CN" altLang="en-US" dirty="0"/>
              <a:t>链表基本操作</a:t>
            </a:r>
            <a:endParaRPr lang="en-US" altLang="zh-CN" dirty="0"/>
          </a:p>
          <a:p>
            <a:r>
              <a:rPr lang="zh-CN" altLang="en-US" dirty="0"/>
              <a:t>数制转换</a:t>
            </a:r>
            <a:endParaRPr lang="en-US" altLang="zh-CN" dirty="0"/>
          </a:p>
          <a:p>
            <a:r>
              <a:rPr lang="zh-CN" altLang="en-US" dirty="0"/>
              <a:t>（二叉）树的遍历</a:t>
            </a:r>
            <a:endParaRPr lang="en-US" altLang="zh-CN" dirty="0"/>
          </a:p>
          <a:p>
            <a:r>
              <a:rPr lang="zh-CN" altLang="en-US" dirty="0"/>
              <a:t>哈夫曼树</a:t>
            </a:r>
            <a:endParaRPr lang="en-US" altLang="zh-CN" dirty="0"/>
          </a:p>
          <a:p>
            <a:r>
              <a:rPr lang="zh-CN" altLang="en-US" dirty="0"/>
              <a:t>图的数据结构表示和（广度）遍历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折半查找</a:t>
            </a:r>
            <a:endParaRPr lang="en-US" altLang="zh-CN" dirty="0"/>
          </a:p>
          <a:p>
            <a:r>
              <a:rPr lang="en-US" altLang="zh-CN" dirty="0"/>
              <a:t>BST</a:t>
            </a:r>
            <a:r>
              <a:rPr lang="zh-CN" altLang="en-US" dirty="0"/>
              <a:t>树</a:t>
            </a:r>
            <a:endParaRPr lang="en-US" altLang="zh-CN" dirty="0"/>
          </a:p>
          <a:p>
            <a:r>
              <a:rPr lang="en-US" altLang="zh-CN" dirty="0"/>
              <a:t>AVL</a:t>
            </a:r>
            <a:r>
              <a:rPr lang="zh-CN" altLang="en-US" dirty="0"/>
              <a:t>树*</a:t>
            </a:r>
            <a:endParaRPr lang="en-US" altLang="zh-CN" dirty="0"/>
          </a:p>
          <a:p>
            <a:r>
              <a:rPr lang="zh-CN" altLang="en-US" dirty="0"/>
              <a:t>插入</a:t>
            </a:r>
            <a:r>
              <a:rPr lang="en-US" altLang="zh-CN" dirty="0"/>
              <a:t>/</a:t>
            </a:r>
            <a:r>
              <a:rPr lang="zh-CN" altLang="en-US" dirty="0"/>
              <a:t>选择</a:t>
            </a:r>
            <a:r>
              <a:rPr lang="en-US" altLang="zh-CN" dirty="0"/>
              <a:t>/</a:t>
            </a:r>
            <a:r>
              <a:rPr lang="zh-CN" altLang="en-US" dirty="0"/>
              <a:t>冒泡排序</a:t>
            </a:r>
            <a:endParaRPr lang="en-US" altLang="zh-CN" dirty="0"/>
          </a:p>
          <a:p>
            <a:r>
              <a:rPr lang="zh-CN" altLang="en-US" dirty="0"/>
              <a:t>快速排序求分割</a:t>
            </a:r>
          </a:p>
          <a:p>
            <a:r>
              <a:rPr lang="zh-CN" altLang="en-US" dirty="0"/>
              <a:t>堆调整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9774453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数组的转置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496" y="2780928"/>
            <a:ext cx="9950896" cy="203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55201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数组的对齐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石头剪刀布是常见的猜拳游戏。石头胜剪刀，剪刀胜布，布胜石头。如果两个人出拳一样，则不分胜负。胜者得</a:t>
            </a:r>
            <a:r>
              <a:rPr lang="en-US" altLang="zh-CN" sz="2400" dirty="0"/>
              <a:t>1</a:t>
            </a:r>
            <a:r>
              <a:rPr lang="zh-CN" altLang="en-US" sz="2400" dirty="0"/>
              <a:t>分，负者减</a:t>
            </a:r>
            <a:r>
              <a:rPr lang="en-US" altLang="zh-CN" sz="2400" dirty="0"/>
              <a:t>1</a:t>
            </a:r>
            <a:r>
              <a:rPr lang="zh-CN" altLang="en-US" sz="2400" dirty="0"/>
              <a:t>分，平局则双方不得分。小</a:t>
            </a:r>
            <a:r>
              <a:rPr lang="en-US" altLang="zh-CN" sz="2400" dirty="0"/>
              <a:t>A</a:t>
            </a:r>
            <a:r>
              <a:rPr lang="zh-CN" altLang="en-US" sz="2400" dirty="0"/>
              <a:t>和小</a:t>
            </a:r>
            <a:r>
              <a:rPr lang="en-US" altLang="zh-CN" sz="2400" dirty="0"/>
              <a:t>B</a:t>
            </a:r>
            <a:r>
              <a:rPr lang="zh-CN" altLang="en-US" sz="2400" dirty="0"/>
              <a:t>正好在玩石头剪刀布。已知他们的出拳都是有周期性规律的，比如：“石头</a:t>
            </a:r>
            <a:r>
              <a:rPr lang="en-US" altLang="zh-CN" sz="2400" dirty="0"/>
              <a:t>-</a:t>
            </a:r>
            <a:r>
              <a:rPr lang="zh-CN" altLang="en-US" sz="2400" dirty="0"/>
              <a:t>布</a:t>
            </a:r>
            <a:r>
              <a:rPr lang="en-US" altLang="zh-CN" sz="2400" dirty="0"/>
              <a:t>-</a:t>
            </a:r>
            <a:r>
              <a:rPr lang="zh-CN" altLang="en-US" sz="2400" dirty="0"/>
              <a:t>石头</a:t>
            </a:r>
            <a:r>
              <a:rPr lang="en-US" altLang="zh-CN" sz="2400" dirty="0"/>
              <a:t>-</a:t>
            </a:r>
            <a:r>
              <a:rPr lang="zh-CN" altLang="en-US" sz="2400" dirty="0"/>
              <a:t>剪刀</a:t>
            </a:r>
            <a:r>
              <a:rPr lang="en-US" altLang="zh-CN" sz="2400" dirty="0"/>
              <a:t>-</a:t>
            </a:r>
            <a:r>
              <a:rPr lang="zh-CN" altLang="en-US" sz="2400" dirty="0"/>
              <a:t>石头</a:t>
            </a:r>
            <a:r>
              <a:rPr lang="en-US" altLang="zh-CN" sz="2400" dirty="0"/>
              <a:t>-</a:t>
            </a:r>
            <a:r>
              <a:rPr lang="zh-CN" altLang="en-US" sz="2400" dirty="0"/>
              <a:t>布</a:t>
            </a:r>
            <a:r>
              <a:rPr lang="en-US" altLang="zh-CN" sz="2400" dirty="0"/>
              <a:t>-</a:t>
            </a:r>
            <a:r>
              <a:rPr lang="zh-CN" altLang="en-US" sz="2400" dirty="0"/>
              <a:t>石头</a:t>
            </a:r>
            <a:r>
              <a:rPr lang="en-US" altLang="zh-CN" sz="2400" dirty="0"/>
              <a:t>-</a:t>
            </a:r>
            <a:r>
              <a:rPr lang="zh-CN" altLang="en-US" sz="2400" dirty="0"/>
              <a:t>剪刀</a:t>
            </a:r>
            <a:r>
              <a:rPr lang="en-US" altLang="zh-CN" sz="2400" dirty="0"/>
              <a:t>……”</a:t>
            </a:r>
            <a:r>
              <a:rPr lang="zh-CN" altLang="en-US" sz="2400" dirty="0"/>
              <a:t>，就是以“石头</a:t>
            </a:r>
            <a:r>
              <a:rPr lang="en-US" altLang="zh-CN" sz="2400" dirty="0"/>
              <a:t>-</a:t>
            </a:r>
            <a:r>
              <a:rPr lang="zh-CN" altLang="en-US" sz="2400" dirty="0"/>
              <a:t>布</a:t>
            </a:r>
            <a:r>
              <a:rPr lang="en-US" altLang="zh-CN" sz="2400" dirty="0"/>
              <a:t>-</a:t>
            </a:r>
            <a:r>
              <a:rPr lang="zh-CN" altLang="en-US" sz="2400" dirty="0"/>
              <a:t>石头</a:t>
            </a:r>
            <a:r>
              <a:rPr lang="en-US" altLang="zh-CN" sz="2400" dirty="0"/>
              <a:t>-</a:t>
            </a:r>
            <a:r>
              <a:rPr lang="zh-CN" altLang="en-US" sz="2400" dirty="0"/>
              <a:t>剪刀”为周期不断循环的。问小</a:t>
            </a:r>
            <a:r>
              <a:rPr lang="en-US" altLang="zh-CN" sz="2400" dirty="0"/>
              <a:t>A</a:t>
            </a:r>
            <a:r>
              <a:rPr lang="zh-CN" altLang="en-US" sz="2400" dirty="0"/>
              <a:t>和小</a:t>
            </a:r>
            <a:r>
              <a:rPr lang="en-US" altLang="zh-CN" sz="2400" dirty="0"/>
              <a:t>B</a:t>
            </a:r>
            <a:r>
              <a:rPr lang="zh-CN" altLang="en-US" sz="2400" dirty="0"/>
              <a:t>比了</a:t>
            </a:r>
            <a:r>
              <a:rPr lang="en-US" altLang="zh-CN" sz="2400" dirty="0"/>
              <a:t>N</a:t>
            </a:r>
            <a:r>
              <a:rPr lang="zh-CN" altLang="en-US" sz="2400" dirty="0"/>
              <a:t>轮之后，小</a:t>
            </a:r>
            <a:r>
              <a:rPr lang="en-US" altLang="zh-CN" sz="2400" dirty="0"/>
              <a:t>A</a:t>
            </a:r>
            <a:r>
              <a:rPr lang="zh-CN" altLang="en-US" sz="2400" dirty="0"/>
              <a:t>的得分？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5" y="3885768"/>
            <a:ext cx="7961709" cy="292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9206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标识数组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给定一个含</a:t>
            </a:r>
            <a:r>
              <a:rPr lang="en-US" altLang="zh-CN" dirty="0"/>
              <a:t>n</a:t>
            </a:r>
            <a:r>
              <a:rPr lang="zh-CN" altLang="en-US" dirty="0"/>
              <a:t>（</a:t>
            </a:r>
            <a:r>
              <a:rPr lang="en-US" altLang="zh-CN" dirty="0"/>
              <a:t>n&gt;=1)</a:t>
            </a:r>
            <a:r>
              <a:rPr lang="zh-CN" altLang="en-US" dirty="0"/>
              <a:t>个整数的数组，设计一个在时间上尽可能高效的算法，找出数组中未出现的最小整数。如数组｛</a:t>
            </a:r>
            <a:r>
              <a:rPr lang="en-US" altLang="zh-CN" dirty="0"/>
              <a:t>-5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｝中未出现的最小是</a:t>
            </a:r>
            <a:r>
              <a:rPr lang="en-US" altLang="zh-CN" dirty="0"/>
              <a:t>1</a:t>
            </a:r>
            <a:r>
              <a:rPr lang="zh-CN" altLang="en-US" dirty="0"/>
              <a:t>，数组｛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｝中未出现的是</a:t>
            </a: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210019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暴力法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980" y="2348879"/>
            <a:ext cx="10290420" cy="324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1705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创建：尾插法、头插法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查找：按位查找、按值查找、求链长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插入：按位插入、指定节点后插、指定节点前插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删除：按位删除、指定节点删除</a:t>
            </a:r>
          </a:p>
        </p:txBody>
      </p:sp>
    </p:spTree>
    <p:extLst>
      <p:ext uri="{BB962C8B-B14F-4D97-AF65-F5344CB8AC3E}">
        <p14:creationId xmlns:p14="http://schemas.microsoft.com/office/powerpoint/2010/main" val="360418669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单链表的创建</a:t>
            </a:r>
            <a:r>
              <a:rPr lang="en-US" altLang="zh-CN" dirty="0"/>
              <a:t> — </a:t>
            </a:r>
            <a:r>
              <a:rPr lang="zh-CN" altLang="en-US" dirty="0"/>
              <a:t>尾插法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85089" y="1905000"/>
            <a:ext cx="662822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3042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单链表的创建</a:t>
            </a:r>
            <a:r>
              <a:rPr lang="en-US" altLang="zh-CN" dirty="0"/>
              <a:t> — </a:t>
            </a:r>
            <a:r>
              <a:rPr lang="zh-CN" altLang="en-US" dirty="0"/>
              <a:t>尾插法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83445" y="1905000"/>
            <a:ext cx="863151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077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单链表的创建</a:t>
            </a:r>
            <a:r>
              <a:rPr lang="en-US" altLang="zh-CN" dirty="0"/>
              <a:t> — </a:t>
            </a:r>
            <a:r>
              <a:rPr lang="zh-CN" altLang="en-US" dirty="0"/>
              <a:t>尾插法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32254" y="1905000"/>
            <a:ext cx="633389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3711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单链表的创建</a:t>
            </a:r>
            <a:r>
              <a:rPr lang="en-US" altLang="zh-CN" dirty="0"/>
              <a:t> — </a:t>
            </a:r>
            <a:r>
              <a:rPr lang="zh-CN" altLang="en-US" dirty="0"/>
              <a:t>尾插法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9536" y="1640801"/>
            <a:ext cx="8928991" cy="473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04724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单链表的创建</a:t>
            </a:r>
            <a:r>
              <a:rPr lang="en-US" altLang="zh-CN" dirty="0"/>
              <a:t> — </a:t>
            </a:r>
            <a:r>
              <a:rPr lang="zh-CN" altLang="en-US" dirty="0"/>
              <a:t>头插法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4105" y="1905000"/>
            <a:ext cx="733019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7915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单链表的创建</a:t>
            </a:r>
            <a:r>
              <a:rPr lang="en-US" altLang="zh-CN" dirty="0"/>
              <a:t> — </a:t>
            </a:r>
            <a:r>
              <a:rPr lang="zh-CN" altLang="en-US" dirty="0"/>
              <a:t>头插法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35560" y="1628800"/>
            <a:ext cx="8208911" cy="476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3629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插入指定节点前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5581" y="1905000"/>
            <a:ext cx="830723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7014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插入指定节点前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752" y="1905000"/>
            <a:ext cx="711689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6331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指定节点删除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3643" y="1905000"/>
            <a:ext cx="703111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1628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指定节点删除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7368" y="1905000"/>
            <a:ext cx="828366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2651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指定节点删除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0123" y="1905000"/>
            <a:ext cx="831815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6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单链表逆序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O(n)</a:t>
            </a:r>
          </a:p>
          <a:p>
            <a:pPr marL="0" indent="0">
              <a:buNone/>
            </a:pPr>
            <a:r>
              <a:rPr lang="en-US" altLang="zh-CN" sz="1800" dirty="0" err="1"/>
              <a:t>LinkNode</a:t>
            </a:r>
            <a:r>
              <a:rPr lang="en-US" altLang="zh-CN" sz="1800" dirty="0"/>
              <a:t>* </a:t>
            </a:r>
            <a:r>
              <a:rPr lang="en-US" altLang="zh-CN" sz="1800" dirty="0" err="1"/>
              <a:t>ReverseLink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LinkNode</a:t>
            </a:r>
            <a:r>
              <a:rPr lang="en-US" altLang="zh-CN" sz="1800" dirty="0"/>
              <a:t>* head)  </a:t>
            </a:r>
          </a:p>
          <a:p>
            <a:pPr marL="0" indent="0">
              <a:buNone/>
            </a:pPr>
            <a:r>
              <a:rPr lang="en-US" altLang="zh-CN" sz="1800" dirty="0"/>
              <a:t>{  </a:t>
            </a:r>
          </a:p>
          <a:p>
            <a:pPr marL="0" indent="0">
              <a:buNone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LinkNode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prev</a:t>
            </a:r>
            <a:r>
              <a:rPr lang="en-US" altLang="zh-CN" sz="1800" dirty="0"/>
              <a:t>=NULL, *next=head-&gt;next;  </a:t>
            </a:r>
          </a:p>
          <a:p>
            <a:pPr marL="0" indent="0">
              <a:buNone/>
            </a:pPr>
            <a:r>
              <a:rPr lang="en-US" altLang="zh-CN" sz="1800" dirty="0"/>
              <a:t>    while(head)  </a:t>
            </a:r>
          </a:p>
          <a:p>
            <a:pPr marL="0" indent="0">
              <a:buNone/>
            </a:pPr>
            <a:r>
              <a:rPr lang="en-US" altLang="zh-CN" sz="1800" dirty="0"/>
              <a:t>    {  </a:t>
            </a:r>
          </a:p>
          <a:p>
            <a:pPr marL="0" indent="0">
              <a:buNone/>
            </a:pPr>
            <a:r>
              <a:rPr lang="en-US" altLang="zh-CN" sz="1800" dirty="0"/>
              <a:t>        head-&gt;next = </a:t>
            </a:r>
            <a:r>
              <a:rPr lang="en-US" altLang="zh-CN" sz="1800" dirty="0" err="1"/>
              <a:t>prev</a:t>
            </a:r>
            <a:r>
              <a:rPr lang="en-US" altLang="zh-CN" sz="1800" dirty="0"/>
              <a:t>;  </a:t>
            </a:r>
          </a:p>
          <a:p>
            <a:pPr marL="0" indent="0">
              <a:buNone/>
            </a:pPr>
            <a:r>
              <a:rPr lang="en-US" altLang="zh-CN" sz="1800" dirty="0"/>
              <a:t>        </a:t>
            </a:r>
            <a:r>
              <a:rPr lang="en-US" altLang="zh-CN" sz="1800" dirty="0" err="1"/>
              <a:t>prev</a:t>
            </a:r>
            <a:r>
              <a:rPr lang="en-US" altLang="zh-CN" sz="1800" dirty="0"/>
              <a:t> = head;  </a:t>
            </a:r>
          </a:p>
          <a:p>
            <a:pPr marL="0" indent="0">
              <a:buNone/>
            </a:pPr>
            <a:r>
              <a:rPr lang="en-US" altLang="zh-CN" sz="1800" dirty="0"/>
              <a:t>        head = next; </a:t>
            </a:r>
          </a:p>
          <a:p>
            <a:pPr marL="0" indent="0">
              <a:buNone/>
            </a:pPr>
            <a:r>
              <a:rPr lang="en-US" altLang="zh-CN" sz="1800" dirty="0"/>
              <a:t>        next = head-&gt;next;   </a:t>
            </a:r>
          </a:p>
          <a:p>
            <a:pPr marL="0" indent="0">
              <a:buNone/>
            </a:pPr>
            <a:r>
              <a:rPr lang="en-US" altLang="zh-CN" sz="1800" dirty="0"/>
              <a:t>    }  </a:t>
            </a:r>
          </a:p>
          <a:p>
            <a:pPr marL="0" indent="0">
              <a:buNone/>
            </a:pPr>
            <a:r>
              <a:rPr lang="en-US" altLang="zh-CN" sz="1800" dirty="0"/>
              <a:t>      return </a:t>
            </a:r>
            <a:r>
              <a:rPr lang="en-US" altLang="zh-CN" sz="1800" dirty="0" err="1"/>
              <a:t>prev</a:t>
            </a:r>
            <a:r>
              <a:rPr lang="en-US" altLang="zh-CN" sz="1800" dirty="0"/>
              <a:t>;  </a:t>
            </a:r>
          </a:p>
          <a:p>
            <a:pPr marL="0" indent="0">
              <a:buNone/>
            </a:pPr>
            <a:r>
              <a:rPr lang="en-US" altLang="zh-CN" sz="1800" dirty="0"/>
              <a:t>} </a:t>
            </a:r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04112" y="1492690"/>
            <a:ext cx="4176464" cy="493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47993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伴随指针的思路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已知单链表</a:t>
            </a:r>
            <a:r>
              <a:rPr lang="en-US" altLang="zh-CN" dirty="0"/>
              <a:t>L</a:t>
            </a:r>
            <a:r>
              <a:rPr lang="zh-CN" altLang="en-US" dirty="0"/>
              <a:t>，请返回其中间节点</a:t>
            </a:r>
            <a:r>
              <a:rPr lang="en-US" altLang="zh-CN" dirty="0"/>
              <a:t>q</a:t>
            </a:r>
            <a:r>
              <a:rPr lang="zh-CN" altLang="en-US" dirty="0"/>
              <a:t>（如节点数为偶数，则取当中两个中的前一个）</a:t>
            </a:r>
            <a:endParaRPr lang="en-US" altLang="zh-CN" dirty="0"/>
          </a:p>
          <a:p>
            <a:r>
              <a:rPr lang="zh-CN" altLang="en-US" dirty="0"/>
              <a:t>已知单链表</a:t>
            </a:r>
            <a:r>
              <a:rPr lang="en-US" altLang="zh-CN" dirty="0"/>
              <a:t>L</a:t>
            </a:r>
            <a:r>
              <a:rPr lang="zh-CN" altLang="en-US" dirty="0"/>
              <a:t>，请查找链表中倒数第</a:t>
            </a:r>
            <a:r>
              <a:rPr lang="en-US" altLang="zh-CN" dirty="0"/>
              <a:t>k</a:t>
            </a:r>
            <a:r>
              <a:rPr lang="zh-CN" altLang="en-US" dirty="0"/>
              <a:t>个位置上的节点。若查找成功，输出数据域上的值，并返回</a:t>
            </a:r>
            <a:r>
              <a:rPr lang="en-US" altLang="zh-CN" dirty="0"/>
              <a:t>1</a:t>
            </a:r>
            <a:r>
              <a:rPr lang="zh-CN" altLang="en-US" dirty="0"/>
              <a:t>，否则返回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设单链表</a:t>
            </a:r>
            <a:r>
              <a:rPr lang="en-US" altLang="zh-CN" dirty="0"/>
              <a:t>L=(a</a:t>
            </a:r>
            <a:r>
              <a:rPr lang="en-US" altLang="zh-CN" baseline="-25000" dirty="0"/>
              <a:t>1</a:t>
            </a:r>
            <a:r>
              <a:rPr lang="en-US" altLang="zh-CN" dirty="0"/>
              <a:t>,a</a:t>
            </a:r>
            <a:r>
              <a:rPr lang="en-US" altLang="zh-CN" baseline="-25000" dirty="0"/>
              <a:t>2</a:t>
            </a:r>
            <a:r>
              <a:rPr lang="en-US" altLang="zh-CN" dirty="0"/>
              <a:t>,…a</a:t>
            </a:r>
            <a:r>
              <a:rPr lang="en-US" altLang="zh-CN" baseline="-25000" dirty="0"/>
              <a:t>n-1</a:t>
            </a:r>
            <a:r>
              <a:rPr lang="en-US" altLang="zh-CN" dirty="0"/>
              <a:t>,a</a:t>
            </a:r>
            <a:r>
              <a:rPr lang="en-US" altLang="zh-CN" baseline="-25000" dirty="0"/>
              <a:t>n</a:t>
            </a:r>
            <a:r>
              <a:rPr lang="en-US" altLang="zh-CN" dirty="0"/>
              <a:t>)</a:t>
            </a:r>
            <a:r>
              <a:rPr lang="zh-CN" altLang="en-US" dirty="0"/>
              <a:t>，请设计一个空间复杂度为</a:t>
            </a:r>
            <a:r>
              <a:rPr lang="en-US" altLang="zh-CN" dirty="0"/>
              <a:t>O(1)</a:t>
            </a:r>
            <a:r>
              <a:rPr lang="zh-CN" altLang="en-US" dirty="0"/>
              <a:t>且时间上尽可能高效的算法，重新排列</a:t>
            </a:r>
            <a:r>
              <a:rPr lang="en-US" altLang="zh-CN" dirty="0"/>
              <a:t>L</a:t>
            </a:r>
            <a:r>
              <a:rPr lang="zh-CN" altLang="en-US" dirty="0"/>
              <a:t>为</a:t>
            </a:r>
            <a:r>
              <a:rPr lang="en-US" altLang="zh-CN" dirty="0"/>
              <a:t>L’ = (a</a:t>
            </a:r>
            <a:r>
              <a:rPr lang="en-US" altLang="zh-CN" baseline="-25000" dirty="0"/>
              <a:t>1</a:t>
            </a:r>
            <a:r>
              <a:rPr lang="en-US" altLang="zh-CN" dirty="0"/>
              <a:t>, a</a:t>
            </a:r>
            <a:r>
              <a:rPr lang="en-US" altLang="zh-CN" baseline="-25000" dirty="0"/>
              <a:t>n</a:t>
            </a:r>
            <a:r>
              <a:rPr lang="en-US" altLang="zh-CN" dirty="0"/>
              <a:t>, a</a:t>
            </a:r>
            <a:r>
              <a:rPr lang="en-US" altLang="zh-CN" baseline="-25000" dirty="0"/>
              <a:t>2</a:t>
            </a:r>
            <a:r>
              <a:rPr lang="en-US" altLang="zh-CN" dirty="0"/>
              <a:t>, a</a:t>
            </a:r>
            <a:r>
              <a:rPr lang="en-US" altLang="zh-CN" baseline="-25000" dirty="0"/>
              <a:t>n-1</a:t>
            </a:r>
            <a:r>
              <a:rPr lang="en-US" altLang="zh-CN" dirty="0"/>
              <a:t>, …)</a:t>
            </a:r>
            <a:r>
              <a:rPr lang="zh-CN" altLang="en-US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033115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栈实现队列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88" y="277814"/>
            <a:ext cx="3638550" cy="4067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81" y="4332953"/>
            <a:ext cx="6730727" cy="249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1960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栈实现队列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1905000"/>
            <a:ext cx="3034184" cy="4114800"/>
          </a:xfrm>
        </p:spPr>
        <p:txBody>
          <a:bodyPr/>
          <a:lstStyle/>
          <a:p>
            <a:r>
              <a:rPr lang="zh-CN" altLang="en-US" dirty="0"/>
              <a:t>一个栈实现队列，可以用递归，本质是利用系统的栈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00" y="1905000"/>
            <a:ext cx="6612425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66338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队列实现栈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两个队列实现一个栈</a:t>
            </a:r>
            <a:endParaRPr lang="en-US" altLang="zh-CN" dirty="0"/>
          </a:p>
          <a:p>
            <a:r>
              <a:rPr lang="zh-CN" altLang="en-US" dirty="0"/>
              <a:t>一个队列实现一个栈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01990"/>
            <a:ext cx="4038600" cy="412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7185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数制转换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700808"/>
            <a:ext cx="10363200" cy="4114800"/>
          </a:xfrm>
        </p:spPr>
        <p:txBody>
          <a:bodyPr/>
          <a:lstStyle/>
          <a:p>
            <a:r>
              <a:rPr lang="zh-CN" altLang="en-US" dirty="0"/>
              <a:t>请写出</a:t>
            </a:r>
            <a:r>
              <a:rPr lang="en-US" altLang="zh-CN" dirty="0"/>
              <a:t>10</a:t>
            </a:r>
            <a:r>
              <a:rPr lang="zh-CN" altLang="en-US" dirty="0"/>
              <a:t>进制到</a:t>
            </a:r>
            <a:r>
              <a:rPr lang="en-US" altLang="zh-CN" dirty="0"/>
              <a:t>4</a:t>
            </a:r>
            <a:r>
              <a:rPr lang="zh-CN" altLang="en-US" dirty="0"/>
              <a:t>进制转换的代码</a:t>
            </a:r>
            <a:endParaRPr lang="en-US" altLang="zh-CN" dirty="0"/>
          </a:p>
          <a:p>
            <a:pPr marL="720725" indent="-360363">
              <a:buNone/>
            </a:pPr>
            <a:r>
              <a:rPr lang="en-US" altLang="zh-CN" sz="2000" dirty="0"/>
              <a:t>void conversion(){</a:t>
            </a:r>
          </a:p>
          <a:p>
            <a:pPr marL="720725" indent="-360363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InitStack</a:t>
            </a:r>
            <a:r>
              <a:rPr lang="en-US" altLang="zh-CN" sz="2000" dirty="0"/>
              <a:t>();</a:t>
            </a:r>
          </a:p>
          <a:p>
            <a:pPr marL="720725" indent="-360363">
              <a:buNone/>
            </a:pPr>
            <a:r>
              <a:rPr lang="en-US" altLang="zh-CN" sz="2000" dirty="0"/>
              <a:t>	</a:t>
            </a:r>
            <a:r>
              <a:rPr lang="en-US" altLang="zh-CN" sz="2000" dirty="0" err="1"/>
              <a:t>scanf</a:t>
            </a:r>
            <a:r>
              <a:rPr lang="en-US" altLang="zh-CN" sz="2000" dirty="0"/>
              <a:t>(“%</a:t>
            </a:r>
            <a:r>
              <a:rPr lang="en-US" altLang="zh-CN" sz="2000" dirty="0" err="1"/>
              <a:t>d”,N</a:t>
            </a:r>
            <a:r>
              <a:rPr lang="en-US" altLang="zh-CN" sz="2000" dirty="0"/>
              <a:t>);</a:t>
            </a:r>
          </a:p>
          <a:p>
            <a:pPr marL="720725" indent="-360363">
              <a:buNone/>
            </a:pPr>
            <a:r>
              <a:rPr lang="en-US" altLang="zh-CN" sz="2000" dirty="0"/>
              <a:t>	while(N){</a:t>
            </a:r>
          </a:p>
          <a:p>
            <a:pPr marL="720725" indent="-360363">
              <a:buNone/>
            </a:pPr>
            <a:r>
              <a:rPr lang="en-US" altLang="zh-CN" sz="2000" dirty="0"/>
              <a:t>		push(S,N%4);</a:t>
            </a:r>
          </a:p>
          <a:p>
            <a:pPr marL="720725" indent="-360363">
              <a:buNone/>
            </a:pPr>
            <a:r>
              <a:rPr lang="en-US" altLang="zh-CN" sz="2000" dirty="0"/>
              <a:t>		N = N/4;</a:t>
            </a:r>
          </a:p>
          <a:p>
            <a:pPr marL="720725" indent="-360363">
              <a:buNone/>
            </a:pPr>
            <a:r>
              <a:rPr lang="en-US" altLang="zh-CN" sz="2000" dirty="0"/>
              <a:t>	}</a:t>
            </a:r>
          </a:p>
          <a:p>
            <a:pPr marL="720725" indent="-360363">
              <a:buNone/>
            </a:pPr>
            <a:r>
              <a:rPr lang="en-US" altLang="zh-CN" sz="2000" dirty="0"/>
              <a:t>	while(!</a:t>
            </a:r>
            <a:r>
              <a:rPr lang="en-US" altLang="zh-CN" sz="2000" dirty="0" err="1"/>
              <a:t>StackEmpty</a:t>
            </a:r>
            <a:r>
              <a:rPr lang="en-US" altLang="zh-CN" sz="2000" dirty="0"/>
              <a:t>(S)){</a:t>
            </a:r>
          </a:p>
          <a:p>
            <a:pPr marL="720725" indent="-360363">
              <a:buNone/>
            </a:pPr>
            <a:r>
              <a:rPr lang="en-US" altLang="zh-CN" sz="2000" dirty="0"/>
              <a:t>		pop(</a:t>
            </a:r>
            <a:r>
              <a:rPr lang="en-US" altLang="zh-CN" sz="2000" dirty="0" err="1"/>
              <a:t>S.e</a:t>
            </a:r>
            <a:r>
              <a:rPr lang="en-US" altLang="zh-CN" sz="2000" dirty="0"/>
              <a:t>);</a:t>
            </a:r>
          </a:p>
          <a:p>
            <a:pPr marL="720725" indent="-360363">
              <a:buNone/>
            </a:pPr>
            <a:r>
              <a:rPr lang="en-US" altLang="zh-CN" sz="2000" dirty="0"/>
              <a:t>	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(“%</a:t>
            </a:r>
            <a:r>
              <a:rPr lang="en-US" altLang="zh-CN" sz="2000" dirty="0" err="1"/>
              <a:t>d”,e</a:t>
            </a:r>
            <a:r>
              <a:rPr lang="en-US" altLang="zh-CN" sz="2000" dirty="0"/>
              <a:t>);</a:t>
            </a:r>
          </a:p>
          <a:p>
            <a:pPr marL="720725" indent="-360363">
              <a:buNone/>
            </a:pPr>
            <a:r>
              <a:rPr lang="en-US" altLang="zh-CN" sz="2000" dirty="0"/>
              <a:t>	}</a:t>
            </a:r>
          </a:p>
          <a:p>
            <a:pPr marL="720725" indent="-360363">
              <a:buNone/>
            </a:pPr>
            <a:r>
              <a:rPr lang="en-US" altLang="zh-CN" sz="2000" dirty="0"/>
              <a:t>}</a:t>
            </a:r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82740241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二叉树层次序遍历的实现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1344" y="1905000"/>
            <a:ext cx="755571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7268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树的层次序遍历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089" y="1905000"/>
            <a:ext cx="917622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1460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038131"/>
            <a:ext cx="10972800" cy="365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0589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图的广度优先遍历代码实现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6224" y="1905000"/>
            <a:ext cx="812595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55751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图的广度优先遍历代码实现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7703" y="1905000"/>
            <a:ext cx="754299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5796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折半查找的实现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027" y="1905000"/>
            <a:ext cx="844034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06387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插入排序实现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00" y="1990049"/>
            <a:ext cx="10363200" cy="394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5726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冒泡排序实现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813" y="1905000"/>
            <a:ext cx="790277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0514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口诀：</a:t>
            </a:r>
            <a:br>
              <a:rPr lang="en-US" altLang="zh-CN" dirty="0"/>
            </a:br>
            <a:r>
              <a:rPr lang="zh-CN" altLang="en-US" dirty="0"/>
              <a:t>前面有空格，从后往前看</a:t>
            </a:r>
            <a:br>
              <a:rPr lang="en-US" altLang="zh-CN" dirty="0"/>
            </a:br>
            <a:r>
              <a:rPr lang="zh-CN" altLang="en-US"/>
              <a:t>后面有空格，从前往后看</a:t>
            </a:r>
            <a:endParaRPr lang="zh-CN" altLang="en-US" dirty="0"/>
          </a:p>
        </p:txBody>
      </p:sp>
      <p:pic>
        <p:nvPicPr>
          <p:cNvPr id="6" name="内容占位符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65894" y="1905000"/>
            <a:ext cx="494981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7751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快速排序的实现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00" y="2461804"/>
            <a:ext cx="10363200" cy="300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22659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试编写一个算法，使之能够在数组</a:t>
            </a:r>
            <a:r>
              <a:rPr lang="en-US" altLang="zh-CN" dirty="0"/>
              <a:t>L[1…n]</a:t>
            </a:r>
            <a:r>
              <a:rPr lang="zh-CN" altLang="en-US" dirty="0"/>
              <a:t>中找出第</a:t>
            </a:r>
            <a:r>
              <a:rPr lang="en-US" altLang="zh-CN" dirty="0"/>
              <a:t>k</a:t>
            </a:r>
            <a:r>
              <a:rPr lang="zh-CN" altLang="en-US" dirty="0"/>
              <a:t>小的元素</a:t>
            </a:r>
            <a:endParaRPr lang="en-US" altLang="zh-CN" dirty="0"/>
          </a:p>
          <a:p>
            <a:pPr lvl="1"/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堆</a:t>
            </a:r>
            <a:endParaRPr lang="en-US" altLang="zh-CN" dirty="0"/>
          </a:p>
          <a:p>
            <a:pPr lvl="1"/>
            <a:r>
              <a:rPr lang="zh-CN" altLang="en-US" dirty="0"/>
              <a:t>快排</a:t>
            </a:r>
          </a:p>
        </p:txBody>
      </p:sp>
    </p:spTree>
    <p:extLst>
      <p:ext uri="{BB962C8B-B14F-4D97-AF65-F5344CB8AC3E}">
        <p14:creationId xmlns:p14="http://schemas.microsoft.com/office/powerpoint/2010/main" val="3252461344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已知由</a:t>
            </a:r>
            <a:r>
              <a:rPr lang="en-US" altLang="zh-CN" dirty="0"/>
              <a:t>n(n&gt;=2)</a:t>
            </a:r>
            <a:r>
              <a:rPr lang="zh-CN" altLang="en-US" dirty="0"/>
              <a:t>个正整数构成的集合</a:t>
            </a:r>
            <a:r>
              <a:rPr lang="en-US" altLang="zh-CN" dirty="0"/>
              <a:t>A = {a</a:t>
            </a:r>
            <a:r>
              <a:rPr lang="en-US" altLang="zh-CN" baseline="-25000" dirty="0"/>
              <a:t>k</a:t>
            </a:r>
            <a:r>
              <a:rPr lang="en-US" altLang="zh-CN" dirty="0"/>
              <a:t>|0&lt;=k&lt;n}</a:t>
            </a:r>
            <a:r>
              <a:rPr lang="zh-CN" altLang="en-US" dirty="0"/>
              <a:t>，将其划分为两个不相交的子集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，元素个数分别是</a:t>
            </a:r>
            <a:r>
              <a:rPr lang="en-US" altLang="zh-CN" dirty="0"/>
              <a:t>n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中的元素之和分别为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zh-CN" altLang="en-US" dirty="0"/>
              <a:t>。试设计一个尽可能高效的划分算法，满足</a:t>
            </a:r>
            <a:r>
              <a:rPr lang="en-US" altLang="zh-CN" dirty="0"/>
              <a:t>|n</a:t>
            </a:r>
            <a:r>
              <a:rPr lang="en-US" altLang="zh-CN" baseline="-25000" dirty="0"/>
              <a:t>1</a:t>
            </a:r>
            <a:r>
              <a:rPr lang="en-US" altLang="zh-CN" dirty="0"/>
              <a:t>-n</a:t>
            </a:r>
            <a:r>
              <a:rPr lang="en-US" altLang="zh-CN" baseline="-25000" dirty="0"/>
              <a:t>2</a:t>
            </a:r>
            <a:r>
              <a:rPr lang="en-US" altLang="zh-CN" dirty="0"/>
              <a:t>|</a:t>
            </a:r>
            <a:r>
              <a:rPr lang="zh-CN" altLang="en-US" dirty="0"/>
              <a:t>最小且</a:t>
            </a:r>
            <a:r>
              <a:rPr lang="en-US" altLang="zh-CN" dirty="0"/>
              <a:t>|S</a:t>
            </a:r>
            <a:r>
              <a:rPr lang="en-US" altLang="zh-CN" baseline="-25000" dirty="0"/>
              <a:t>1</a:t>
            </a:r>
            <a:r>
              <a:rPr lang="en-US" altLang="zh-CN" dirty="0"/>
              <a:t>-S</a:t>
            </a:r>
            <a:r>
              <a:rPr lang="en-US" altLang="zh-CN" baseline="-25000" dirty="0"/>
              <a:t>2</a:t>
            </a:r>
            <a:r>
              <a:rPr lang="en-US" altLang="zh-CN" dirty="0"/>
              <a:t>|</a:t>
            </a:r>
            <a:r>
              <a:rPr lang="zh-CN" altLang="en-US" dirty="0"/>
              <a:t>最大，并说明所设计算法的时间复杂度和空间复杂度。</a:t>
            </a:r>
          </a:p>
        </p:txBody>
      </p:sp>
    </p:spTree>
    <p:extLst>
      <p:ext uri="{BB962C8B-B14F-4D97-AF65-F5344CB8AC3E}">
        <p14:creationId xmlns:p14="http://schemas.microsoft.com/office/powerpoint/2010/main" val="4091531345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直接选择排序实现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9501" y="1905000"/>
            <a:ext cx="7259397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2805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堆调整算法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628800"/>
            <a:ext cx="10363200" cy="4114800"/>
          </a:xfrm>
        </p:spPr>
        <p:txBody>
          <a:bodyPr/>
          <a:lstStyle/>
          <a:p>
            <a:pPr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HeapifyUp</a:t>
            </a:r>
            <a:r>
              <a:rPr lang="en-US" altLang="zh-CN" sz="1800" dirty="0"/>
              <a:t>(Node node){</a:t>
            </a:r>
          </a:p>
          <a:p>
            <a:pPr>
              <a:buNone/>
            </a:pPr>
            <a:r>
              <a:rPr lang="en-US" altLang="zh-CN" sz="1800" dirty="0"/>
              <a:t>	if(node==null)   return;</a:t>
            </a:r>
          </a:p>
          <a:p>
            <a:pPr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x = label(node);				//</a:t>
            </a:r>
            <a:r>
              <a:rPr lang="zh-CN" altLang="en-US" sz="1800" dirty="0"/>
              <a:t>取得</a:t>
            </a:r>
            <a:r>
              <a:rPr lang="en-US" altLang="zh-CN" sz="1800" dirty="0"/>
              <a:t>node</a:t>
            </a:r>
            <a:r>
              <a:rPr lang="zh-CN" altLang="en-US" sz="1800" dirty="0"/>
              <a:t>节点的值</a:t>
            </a:r>
          </a:p>
          <a:p>
            <a:pPr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//</a:t>
            </a:r>
            <a:r>
              <a:rPr lang="zh-CN" altLang="en-US" sz="1800" dirty="0"/>
              <a:t>当不为根节点且父节点小时循环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while(parent(node)!=null&amp;&amp;label(parent(node))&lt;x)</a:t>
            </a:r>
          </a:p>
          <a:p>
            <a:pPr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setLabel</a:t>
            </a:r>
            <a:r>
              <a:rPr lang="en-US" altLang="zh-CN" sz="1800" dirty="0"/>
              <a:t>(node, label(parent(node)));	//</a:t>
            </a:r>
            <a:r>
              <a:rPr lang="zh-CN" altLang="en-US" sz="1800" dirty="0"/>
              <a:t>将父节点值置给当前节点</a:t>
            </a:r>
          </a:p>
          <a:p>
            <a:pPr>
              <a:buNone/>
            </a:pPr>
            <a:r>
              <a:rPr lang="zh-CN" altLang="en-US" sz="1800" dirty="0"/>
              <a:t>		</a:t>
            </a:r>
            <a:r>
              <a:rPr lang="en-US" altLang="zh-CN" sz="1800" dirty="0"/>
              <a:t>node=parent(node);			//</a:t>
            </a:r>
            <a:r>
              <a:rPr lang="zh-CN" altLang="en-US" sz="1800" dirty="0"/>
              <a:t>指针指向父节点</a:t>
            </a:r>
          </a:p>
          <a:p>
            <a:pPr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}</a:t>
            </a:r>
          </a:p>
          <a:p>
            <a:pPr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setLabel</a:t>
            </a:r>
            <a:r>
              <a:rPr lang="en-US" altLang="zh-CN" sz="1800" dirty="0"/>
              <a:t>(</a:t>
            </a:r>
            <a:r>
              <a:rPr lang="en-US" altLang="zh-CN" sz="1800" dirty="0" err="1"/>
              <a:t>node,x</a:t>
            </a:r>
            <a:r>
              <a:rPr lang="en-US" altLang="zh-CN" sz="1800" dirty="0"/>
              <a:t>);				//</a:t>
            </a:r>
            <a:r>
              <a:rPr lang="zh-CN" altLang="en-US" sz="1800" dirty="0"/>
              <a:t>完成一个节点的调整</a:t>
            </a:r>
          </a:p>
          <a:p>
            <a:pPr>
              <a:buNone/>
            </a:pPr>
            <a:r>
              <a:rPr lang="en-US" altLang="zh-CN" sz="1800" dirty="0"/>
              <a:t>}</a:t>
            </a:r>
          </a:p>
          <a:p>
            <a:pPr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heapify</a:t>
            </a:r>
            <a:r>
              <a:rPr lang="en-US" altLang="zh-CN" sz="1800" dirty="0"/>
              <a:t>(Node[ ] tree)</a:t>
            </a:r>
          </a:p>
          <a:p>
            <a:pPr>
              <a:buNone/>
            </a:pPr>
            <a:r>
              <a:rPr lang="en-US" altLang="zh-CN" sz="1800" dirty="0"/>
              <a:t>{	for(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j=0;j&lt;</a:t>
            </a:r>
            <a:r>
              <a:rPr lang="en-US" altLang="zh-CN" sz="1800" dirty="0" err="1"/>
              <a:t>tree.length;j</a:t>
            </a:r>
            <a:r>
              <a:rPr lang="en-US" altLang="zh-CN" sz="1800" dirty="0"/>
              <a:t>++)</a:t>
            </a:r>
          </a:p>
          <a:p>
            <a:pPr>
              <a:buNone/>
            </a:pPr>
            <a:r>
              <a:rPr lang="en-US" altLang="zh-CN" sz="1800" dirty="0"/>
              <a:t>		 </a:t>
            </a:r>
            <a:r>
              <a:rPr lang="en-US" altLang="zh-CN" sz="1800" dirty="0" err="1"/>
              <a:t>HeapifyUp</a:t>
            </a:r>
            <a:r>
              <a:rPr lang="en-US" altLang="zh-CN" sz="1800" dirty="0"/>
              <a:t>(Node[j]);</a:t>
            </a:r>
          </a:p>
          <a:p>
            <a:pPr>
              <a:buNone/>
            </a:pPr>
            <a:r>
              <a:rPr lang="en-US" altLang="zh-CN" sz="1800" dirty="0"/>
              <a:t>}</a:t>
            </a:r>
          </a:p>
          <a:p>
            <a:pPr>
              <a:buNone/>
            </a:pPr>
            <a:endParaRPr lang="en-US" altLang="zh-CN" sz="18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187771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若</a:t>
            </a:r>
            <a:r>
              <a:rPr lang="zh-CN" altLang="en-US" dirty="0"/>
              <a:t>在待排序的数据中，奇数位的数据是排好序的，偶数位的数据也是排好序的，请给出一种排序方法的思路，使得速度最快，并说明理由。</a:t>
            </a:r>
          </a:p>
        </p:txBody>
      </p:sp>
    </p:spTree>
    <p:extLst>
      <p:ext uri="{BB962C8B-B14F-4D97-AF65-F5344CB8AC3E}">
        <p14:creationId xmlns:p14="http://schemas.microsoft.com/office/powerpoint/2010/main" val="36373400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24</a:t>
            </a:r>
            <a:r>
              <a:rPr lang="zh-CN" altLang="en-US" dirty="0"/>
              <a:t>期中回顾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049624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时间复杂度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</a:t>
            </a:r>
            <a:r>
              <a:rPr lang="en-US" altLang="zh-CN" dirty="0"/>
              <a:t>n</a:t>
            </a:r>
            <a:r>
              <a:rPr lang="zh-CN" altLang="en-US" dirty="0"/>
              <a:t>是描述问题规模的正整数，则下列程序段的时间复杂度是（）。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 err="1"/>
              <a:t>i</a:t>
            </a:r>
            <a:r>
              <a:rPr lang="en-US" altLang="zh-CN" dirty="0"/>
              <a:t> = n*n;</a:t>
            </a:r>
            <a:br>
              <a:rPr lang="en-US" altLang="zh-CN" dirty="0"/>
            </a:br>
            <a:r>
              <a:rPr lang="en-US" altLang="zh-CN" dirty="0"/>
              <a:t>	while(</a:t>
            </a:r>
            <a:r>
              <a:rPr lang="en-US" altLang="zh-CN" dirty="0" err="1"/>
              <a:t>i</a:t>
            </a:r>
            <a:r>
              <a:rPr lang="en-US" altLang="zh-CN" dirty="0"/>
              <a:t>!=1)</a:t>
            </a:r>
            <a:br>
              <a:rPr lang="en-US" altLang="zh-CN" dirty="0"/>
            </a:br>
            <a:r>
              <a:rPr lang="en-US" altLang="zh-CN" dirty="0"/>
              <a:t>		</a:t>
            </a:r>
            <a:r>
              <a:rPr lang="en-US" altLang="zh-CN" dirty="0" err="1"/>
              <a:t>i</a:t>
            </a:r>
            <a:r>
              <a:rPr lang="en-US" altLang="zh-CN" dirty="0"/>
              <a:t>=</a:t>
            </a:r>
            <a:r>
              <a:rPr lang="en-US" altLang="zh-CN" dirty="0" err="1"/>
              <a:t>i</a:t>
            </a:r>
            <a:r>
              <a:rPr lang="en-US" altLang="zh-CN" dirty="0"/>
              <a:t>/2;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</a:t>
            </a:r>
            <a:r>
              <a:rPr lang="en-US" altLang="zh-CN" baseline="30000" dirty="0"/>
              <a:t>1/2</a:t>
            </a:r>
            <a:r>
              <a:rPr lang="en-US" altLang="zh-CN" dirty="0"/>
              <a:t>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87112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已知头指针</a:t>
            </a:r>
            <a:r>
              <a:rPr lang="en-US" altLang="zh-CN" dirty="0"/>
              <a:t>h</a:t>
            </a:r>
            <a:r>
              <a:rPr lang="zh-CN" altLang="en-US" dirty="0"/>
              <a:t>指向一个带头结点的非空单循环链表</a:t>
            </a:r>
            <a:r>
              <a:rPr lang="en-US" altLang="zh-CN" dirty="0"/>
              <a:t>L</a:t>
            </a:r>
            <a:r>
              <a:rPr lang="zh-CN" altLang="en-US" dirty="0"/>
              <a:t>，结点结构为                    ，其中</a:t>
            </a:r>
            <a:r>
              <a:rPr lang="en-US" altLang="zh-CN" dirty="0"/>
              <a:t>next</a:t>
            </a:r>
            <a:r>
              <a:rPr lang="zh-CN" altLang="en-US" dirty="0"/>
              <a:t>是指向直接后继结点的指针，</a:t>
            </a:r>
            <a:r>
              <a:rPr lang="en-US" altLang="zh-CN" dirty="0"/>
              <a:t>p</a:t>
            </a:r>
            <a:r>
              <a:rPr lang="zh-CN" altLang="en-US" dirty="0"/>
              <a:t>是尾指针，</a:t>
            </a:r>
            <a:r>
              <a:rPr lang="en-US" altLang="zh-CN" dirty="0"/>
              <a:t>q</a:t>
            </a:r>
            <a:r>
              <a:rPr lang="zh-CN" altLang="en-US" dirty="0"/>
              <a:t>是临时指针。现在要删除该链表的第一个元素，正确的语句序列是（）。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h-&gt;next=h-&gt;next-&gt;next; q=h-&gt;next; free(q); 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q=h-&gt;next; h-&gt;next=h-&gt;next-&gt;next; free(q);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q=h-&gt;next; h-&gt;next=q-&gt;next; if(p!=q) p=h; free(q);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q=h-&gt;next; h-&gt;next=q-&gt;next; if(p==q) p=h; free(q);</a:t>
            </a: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35560" y="2420888"/>
          <a:ext cx="172819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1809304909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250974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data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next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743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42715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静态链表结点的类型定义如下，假设</a:t>
            </a:r>
            <a:r>
              <a:rPr lang="en-US" altLang="zh-CN" dirty="0"/>
              <a:t>S</a:t>
            </a:r>
            <a:r>
              <a:rPr lang="zh-CN" altLang="en-US" dirty="0"/>
              <a:t>表示静态链表的数组。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struct</a:t>
            </a:r>
            <a:r>
              <a:rPr lang="en-US" altLang="zh-CN" dirty="0"/>
              <a:t> node{</a:t>
            </a:r>
            <a:br>
              <a:rPr lang="en-US" altLang="zh-CN" dirty="0"/>
            </a:br>
            <a:r>
              <a:rPr lang="en-US" altLang="zh-CN" dirty="0"/>
              <a:t>		</a:t>
            </a:r>
            <a:r>
              <a:rPr lang="en-US" altLang="zh-CN" dirty="0" err="1"/>
              <a:t>DataType</a:t>
            </a:r>
            <a:r>
              <a:rPr lang="en-US" altLang="zh-CN" dirty="0"/>
              <a:t> data;</a:t>
            </a:r>
            <a:br>
              <a:rPr lang="en-US" altLang="zh-CN" dirty="0"/>
            </a:br>
            <a:r>
              <a:rPr lang="en-US" altLang="zh-CN" dirty="0"/>
              <a:t>		</a:t>
            </a:r>
            <a:r>
              <a:rPr lang="en-US" altLang="zh-CN" dirty="0" err="1"/>
              <a:t>int</a:t>
            </a:r>
            <a:r>
              <a:rPr lang="en-US" altLang="zh-CN" dirty="0"/>
              <a:t>           link;</a:t>
            </a:r>
            <a:br>
              <a:rPr lang="en-US" altLang="zh-CN" dirty="0"/>
            </a:br>
            <a:r>
              <a:rPr lang="en-US" altLang="zh-CN" dirty="0"/>
              <a:t>	}</a:t>
            </a:r>
            <a:r>
              <a:rPr lang="en-US" altLang="zh-CN" dirty="0" err="1"/>
              <a:t>SListNode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zh-CN" altLang="en-US" dirty="0"/>
              <a:t>若逻辑上第</a:t>
            </a:r>
            <a:r>
              <a:rPr lang="en-US" altLang="zh-CN" dirty="0"/>
              <a:t>k</a:t>
            </a:r>
            <a:r>
              <a:rPr lang="zh-CN" altLang="en-US" dirty="0"/>
              <a:t>个结点的下标是</a:t>
            </a:r>
            <a:r>
              <a:rPr lang="en-US" altLang="zh-CN" dirty="0" err="1"/>
              <a:t>i</a:t>
            </a:r>
            <a:r>
              <a:rPr lang="zh-CN" altLang="en-US" dirty="0"/>
              <a:t>，则逻辑上第</a:t>
            </a:r>
            <a:r>
              <a:rPr lang="en-US" altLang="zh-CN" dirty="0"/>
              <a:t>k+1</a:t>
            </a:r>
            <a:r>
              <a:rPr lang="zh-CN" altLang="en-US" dirty="0"/>
              <a:t>个结点的数据是（）。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S[i+1].data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S[k+1].</a:t>
            </a:r>
            <a:r>
              <a:rPr lang="en-US" altLang="zh-CN" dirty="0" err="1"/>
              <a:t>link.data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S[S[</a:t>
            </a:r>
            <a:r>
              <a:rPr lang="en-US" altLang="zh-CN" dirty="0" err="1"/>
              <a:t>i</a:t>
            </a:r>
            <a:r>
              <a:rPr lang="en-US" altLang="zh-CN" dirty="0"/>
              <a:t>].link].data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S[S[k].link].data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9181825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现有一个共享栈</a:t>
            </a:r>
            <a:r>
              <a:rPr lang="en-US" altLang="zh-CN" dirty="0"/>
              <a:t>S</a:t>
            </a:r>
            <a:r>
              <a:rPr lang="zh-CN" altLang="en-US" dirty="0"/>
              <a:t>，其低位是栈</a:t>
            </a:r>
            <a:r>
              <a:rPr lang="en-US" altLang="zh-CN" dirty="0"/>
              <a:t>S1</a:t>
            </a:r>
            <a:r>
              <a:rPr lang="zh-CN" altLang="en-US" dirty="0"/>
              <a:t>，高位是栈</a:t>
            </a:r>
            <a:r>
              <a:rPr lang="en-US" altLang="zh-CN" dirty="0"/>
              <a:t>S2</a:t>
            </a:r>
            <a:r>
              <a:rPr lang="zh-CN" altLang="en-US" dirty="0"/>
              <a:t>，低位栈的栈顶地址从低向高增长，高位栈的栈顶地址从高到低减小，要求该共享栈在一端非空时，栈指针指向当前元素的下一位置，则在下列说法中，（）是错误的。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该共享栈降低了溢出的可能性，提高了空间利用率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当两端都非空且</a:t>
            </a:r>
            <a:r>
              <a:rPr lang="en-US" altLang="zh-CN" dirty="0"/>
              <a:t>S1.top+1=S2.top</a:t>
            </a:r>
            <a:r>
              <a:rPr lang="zh-CN" altLang="en-US" dirty="0"/>
              <a:t>时，共享栈满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S1</a:t>
            </a:r>
            <a:r>
              <a:rPr lang="zh-CN" altLang="en-US" dirty="0"/>
              <a:t>的入栈操作是</a:t>
            </a:r>
            <a:r>
              <a:rPr lang="en-US" altLang="zh-CN" dirty="0"/>
              <a:t>S[S1.top++]=x</a:t>
            </a:r>
            <a:r>
              <a:rPr lang="zh-CN" altLang="en-US" dirty="0"/>
              <a:t>，出栈操作是</a:t>
            </a:r>
            <a:r>
              <a:rPr lang="en-US" altLang="zh-CN" dirty="0"/>
              <a:t>x=S[--S1.top]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S2</a:t>
            </a:r>
            <a:r>
              <a:rPr lang="zh-CN" altLang="en-US" dirty="0"/>
              <a:t>的入栈操作是</a:t>
            </a:r>
            <a:r>
              <a:rPr lang="en-US" altLang="zh-CN" dirty="0"/>
              <a:t>S[S2.top--]=x</a:t>
            </a:r>
            <a:r>
              <a:rPr lang="zh-CN" altLang="en-US" dirty="0"/>
              <a:t>，出栈操作是</a:t>
            </a:r>
            <a:r>
              <a:rPr lang="en-US" altLang="zh-CN" dirty="0"/>
              <a:t>x=S[++S2.top]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604359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假设一个</a:t>
            </a:r>
            <a:r>
              <a:rPr lang="en-US" altLang="zh-CN" dirty="0"/>
              <a:t>1000</a:t>
            </a:r>
            <a:r>
              <a:rPr lang="zh-CN" altLang="en-US" dirty="0"/>
              <a:t>*</a:t>
            </a:r>
            <a:r>
              <a:rPr lang="en-US" altLang="zh-CN" dirty="0"/>
              <a:t>850</a:t>
            </a:r>
            <a:r>
              <a:rPr lang="zh-CN" altLang="en-US" dirty="0"/>
              <a:t>的稀疏矩阵有</a:t>
            </a:r>
            <a:r>
              <a:rPr lang="en-US" altLang="zh-CN" dirty="0"/>
              <a:t>1000</a:t>
            </a:r>
            <a:r>
              <a:rPr lang="zh-CN" altLang="en-US" dirty="0"/>
              <a:t>个非零元素，每个整数占</a:t>
            </a:r>
            <a:r>
              <a:rPr lang="en-US" altLang="zh-CN" dirty="0"/>
              <a:t>2B</a:t>
            </a:r>
            <a:r>
              <a:rPr lang="zh-CN" altLang="en-US" dirty="0"/>
              <a:t>，每个矩阵元素占</a:t>
            </a:r>
            <a:r>
              <a:rPr lang="en-US" altLang="zh-CN" dirty="0"/>
              <a:t>4B</a:t>
            </a:r>
            <a:r>
              <a:rPr lang="zh-CN" altLang="en-US" dirty="0"/>
              <a:t>，则用三元组存储该矩阵时所需字节数是（）。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4000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7000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8000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18000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0440441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二维数组</a:t>
            </a:r>
            <a:r>
              <a:rPr lang="en-US" altLang="zh-CN" dirty="0"/>
              <a:t>A</a:t>
            </a:r>
            <a:r>
              <a:rPr lang="zh-CN" altLang="en-US" dirty="0"/>
              <a:t>按行优先方式存储，每个元素占用</a:t>
            </a:r>
            <a:r>
              <a:rPr lang="en-US" altLang="zh-CN" dirty="0"/>
              <a:t>1</a:t>
            </a:r>
            <a:r>
              <a:rPr lang="zh-CN" altLang="en-US" dirty="0"/>
              <a:t>个存储单元，若元素</a:t>
            </a:r>
            <a:r>
              <a:rPr lang="en-US" altLang="zh-CN" dirty="0"/>
              <a:t>A[0][0]</a:t>
            </a:r>
            <a:r>
              <a:rPr lang="zh-CN" altLang="en-US" dirty="0"/>
              <a:t>的存储地址是</a:t>
            </a:r>
            <a:r>
              <a:rPr lang="en-US" altLang="zh-CN" dirty="0"/>
              <a:t>100</a:t>
            </a:r>
            <a:r>
              <a:rPr lang="zh-CN" altLang="en-US" dirty="0"/>
              <a:t>，</a:t>
            </a:r>
            <a:r>
              <a:rPr lang="en-US" altLang="zh-CN" dirty="0"/>
              <a:t>A[3][3]</a:t>
            </a:r>
            <a:r>
              <a:rPr lang="zh-CN" altLang="en-US" dirty="0"/>
              <a:t>的存储地址是</a:t>
            </a:r>
            <a:r>
              <a:rPr lang="en-US" altLang="zh-CN" dirty="0"/>
              <a:t>220</a:t>
            </a:r>
            <a:r>
              <a:rPr lang="zh-CN" altLang="en-US" dirty="0"/>
              <a:t>，则元素</a:t>
            </a:r>
            <a:r>
              <a:rPr lang="en-US" altLang="zh-CN" dirty="0"/>
              <a:t>A[5][5]</a:t>
            </a:r>
            <a:r>
              <a:rPr lang="zh-CN" altLang="en-US" dirty="0"/>
              <a:t>的存储地址是（）。</a:t>
            </a:r>
            <a:endParaRPr lang="en-US" altLang="zh-CN" dirty="0"/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295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300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301</a:t>
            </a:r>
          </a:p>
          <a:p>
            <a:pPr marL="914400" lvl="1" indent="-514350">
              <a:buFont typeface="+mj-lt"/>
              <a:buAutoNum type="alphaUcPeriod"/>
            </a:pPr>
            <a:r>
              <a:rPr lang="en-US" altLang="zh-CN" dirty="0"/>
              <a:t>306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33365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KMP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KMP </a:t>
            </a:r>
            <a:r>
              <a:rPr lang="zh-CN" altLang="en-US" dirty="0"/>
              <a:t>算法使用修正后的 </a:t>
            </a:r>
            <a:r>
              <a:rPr lang="en-US" altLang="zh-CN" dirty="0"/>
              <a:t>next </a:t>
            </a:r>
            <a:r>
              <a:rPr lang="zh-CN" altLang="en-US" dirty="0"/>
              <a:t>数组进行模式匹配，模式串 </a:t>
            </a:r>
            <a:r>
              <a:rPr lang="en-US" altLang="zh-CN" dirty="0"/>
              <a:t>S=“</a:t>
            </a:r>
            <a:r>
              <a:rPr lang="en-US" altLang="zh-CN" dirty="0" err="1"/>
              <a:t>aabaab</a:t>
            </a:r>
            <a:r>
              <a:rPr lang="en-US" altLang="zh-CN" dirty="0"/>
              <a:t>”</a:t>
            </a:r>
            <a:r>
              <a:rPr lang="zh-CN" altLang="en-US" dirty="0"/>
              <a:t>，当主串中某字符与 </a:t>
            </a:r>
            <a:r>
              <a:rPr lang="en-US" altLang="zh-CN" dirty="0"/>
              <a:t>S </a:t>
            </a:r>
            <a:r>
              <a:rPr lang="zh-CN" altLang="en-US" dirty="0"/>
              <a:t>中某字符失匹时，</a:t>
            </a:r>
            <a:r>
              <a:rPr lang="en-US" altLang="zh-CN" dirty="0"/>
              <a:t>S </a:t>
            </a:r>
            <a:r>
              <a:rPr lang="zh-CN" altLang="en-US" dirty="0"/>
              <a:t>向右滑动的最长距离是（）。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5831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在二叉树的顺序存储中，每个结点的存储位置与其双亲、左右孩子结点的位置都存在一个简单映射关系，因此可与三叉链表对应。若某二叉树共有</a:t>
            </a:r>
            <a:r>
              <a:rPr lang="en-US" altLang="zh-CN" dirty="0"/>
              <a:t>n</a:t>
            </a:r>
            <a:r>
              <a:rPr lang="zh-CN" altLang="en-US" dirty="0"/>
              <a:t>个结点，采用三叉链表存储时，每个结点的数据域占用</a:t>
            </a:r>
            <a:r>
              <a:rPr lang="en-US" altLang="zh-CN" dirty="0"/>
              <a:t>d</a:t>
            </a:r>
            <a:r>
              <a:rPr lang="zh-CN" altLang="en-US" dirty="0"/>
              <a:t>字节，每个指针域占用</a:t>
            </a:r>
            <a:r>
              <a:rPr lang="en-US" altLang="zh-CN" dirty="0"/>
              <a:t>4B</a:t>
            </a:r>
            <a:r>
              <a:rPr lang="zh-CN" altLang="en-US" dirty="0"/>
              <a:t>，采用顺序存储，且最后一个结点的下标为</a:t>
            </a:r>
            <a:r>
              <a:rPr lang="en-US" altLang="zh-CN" dirty="0"/>
              <a:t>k</a:t>
            </a:r>
            <a:r>
              <a:rPr lang="zh-CN" altLang="en-US" dirty="0"/>
              <a:t>（起始下标为</a:t>
            </a:r>
            <a:r>
              <a:rPr lang="en-US" altLang="zh-CN" dirty="0"/>
              <a:t>1</a:t>
            </a:r>
            <a:r>
              <a:rPr lang="zh-CN" altLang="en-US" dirty="0"/>
              <a:t>），那么当（）时采用顺序存储更节省空间。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d &lt; 12n/(k-n)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d &gt; 12n/(k-n)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d &lt; 12n/(</a:t>
            </a:r>
            <a:r>
              <a:rPr lang="en-US" altLang="zh-CN" dirty="0" err="1"/>
              <a:t>k+n</a:t>
            </a:r>
            <a:r>
              <a:rPr lang="en-US" altLang="zh-CN" dirty="0"/>
              <a:t>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d &gt; 12n/(</a:t>
            </a:r>
            <a:r>
              <a:rPr lang="en-US" altLang="zh-CN" dirty="0" err="1"/>
              <a:t>k+n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348004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二叉树的遍历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已知一棵二叉树的树形如图所示，若其后序遍历序列为</a:t>
            </a:r>
            <a:r>
              <a:rPr lang="en-US" altLang="zh-CN" dirty="0" err="1"/>
              <a:t>fdbeca</a:t>
            </a:r>
            <a:r>
              <a:rPr lang="zh-CN" altLang="en-US" dirty="0"/>
              <a:t>，则其前序遍历序列是（）。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aedfbc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acebdf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cabefd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 err="1"/>
              <a:t>dfebac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2636912"/>
            <a:ext cx="3518081" cy="304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51340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森林与二叉树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某森林</a:t>
            </a:r>
            <a:r>
              <a:rPr lang="en-US" altLang="zh-CN" dirty="0"/>
              <a:t>F</a:t>
            </a:r>
            <a:r>
              <a:rPr lang="zh-CN" altLang="en-US" dirty="0"/>
              <a:t>对应的二叉树为</a:t>
            </a:r>
            <a:r>
              <a:rPr lang="en-US" altLang="zh-CN" dirty="0"/>
              <a:t>T</a:t>
            </a:r>
            <a:r>
              <a:rPr lang="zh-CN" altLang="en-US" dirty="0"/>
              <a:t>，若</a:t>
            </a:r>
            <a:r>
              <a:rPr lang="en-US" altLang="zh-CN" dirty="0"/>
              <a:t>T</a:t>
            </a:r>
            <a:r>
              <a:rPr lang="zh-CN" altLang="en-US" dirty="0"/>
              <a:t>的前序遍历序列是</a:t>
            </a:r>
            <a:r>
              <a:rPr lang="en-US" altLang="zh-CN" dirty="0" err="1"/>
              <a:t>abdcegf</a:t>
            </a:r>
            <a:r>
              <a:rPr lang="zh-CN" altLang="en-US" dirty="0"/>
              <a:t>，中序遍历序列是</a:t>
            </a:r>
            <a:r>
              <a:rPr lang="en-US" altLang="zh-CN" dirty="0" err="1"/>
              <a:t>bdaegcf</a:t>
            </a:r>
            <a:r>
              <a:rPr lang="zh-CN" altLang="en-US" dirty="0"/>
              <a:t>，则</a:t>
            </a:r>
            <a:r>
              <a:rPr lang="en-US" altLang="zh-CN" dirty="0"/>
              <a:t>F</a:t>
            </a:r>
            <a:r>
              <a:rPr lang="zh-CN" altLang="en-US" dirty="0"/>
              <a:t>中树的棵数是（）。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3316623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并查集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下列关于并查集的叙述中，（）是错误的。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并查集是用双亲表示法存储的树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并查集可以用于实现</a:t>
            </a:r>
            <a:r>
              <a:rPr lang="en-US" altLang="zh-CN" dirty="0" err="1"/>
              <a:t>Kruskal</a:t>
            </a:r>
            <a:r>
              <a:rPr lang="zh-CN" altLang="en-US" dirty="0"/>
              <a:t>算法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并查集可以用于判断无向图的连通性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zh-CN" altLang="en-US" dirty="0"/>
              <a:t>在长度为</a:t>
            </a:r>
            <a:r>
              <a:rPr lang="en-US" altLang="zh-CN" dirty="0"/>
              <a:t>n</a:t>
            </a:r>
            <a:r>
              <a:rPr lang="zh-CN" altLang="en-US" dirty="0"/>
              <a:t>的并查集中进行查找操作的时间复杂度为</a:t>
            </a:r>
            <a:r>
              <a:rPr lang="en-US" altLang="zh-CN" dirty="0"/>
              <a:t>O(</a:t>
            </a:r>
            <a:r>
              <a:rPr lang="en-US" altLang="zh-CN" dirty="0" err="1"/>
              <a:t>logn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4377869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在一次哈夫曼编码中，若要求编码长度小于等于</a:t>
            </a:r>
            <a:r>
              <a:rPr lang="en-US" altLang="zh-CN" dirty="0"/>
              <a:t>4</a:t>
            </a:r>
            <a:r>
              <a:rPr lang="zh-CN" altLang="en-US" dirty="0"/>
              <a:t>，假设现在已对两个字符编码为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10</a:t>
            </a:r>
            <a:r>
              <a:rPr lang="zh-CN" altLang="en-US" dirty="0"/>
              <a:t>，则最多还可以为（）个字符进行编码。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5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360324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</a:t>
            </a:r>
            <a:r>
              <a:rPr lang="en-US" altLang="zh-CN" dirty="0"/>
              <a:t>G</a:t>
            </a:r>
            <a:r>
              <a:rPr lang="zh-CN" altLang="en-US" dirty="0"/>
              <a:t>是一个有</a:t>
            </a:r>
            <a:r>
              <a:rPr lang="en-US" altLang="zh-CN" dirty="0"/>
              <a:t>36</a:t>
            </a:r>
            <a:r>
              <a:rPr lang="zh-CN" altLang="en-US" dirty="0"/>
              <a:t>条边的非连通简单无向图，则图</a:t>
            </a:r>
            <a:r>
              <a:rPr lang="en-US" altLang="zh-CN" dirty="0"/>
              <a:t>G</a:t>
            </a:r>
            <a:r>
              <a:rPr lang="zh-CN" altLang="en-US" dirty="0"/>
              <a:t>的顶点数至少是（）。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10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9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58573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设图的邻接矩阵</a:t>
            </a:r>
            <a:r>
              <a:rPr lang="en-US" altLang="zh-CN" dirty="0"/>
              <a:t>A</a:t>
            </a:r>
            <a:r>
              <a:rPr lang="zh-CN" altLang="en-US" dirty="0"/>
              <a:t>如右图所示，各顶点的度依次是（）。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50100" y="2919412"/>
            <a:ext cx="35814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40511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有向图</a:t>
            </a:r>
            <a:r>
              <a:rPr lang="en-US" altLang="zh-CN" dirty="0"/>
              <a:t>G</a:t>
            </a:r>
            <a:r>
              <a:rPr lang="zh-CN" altLang="en-US" dirty="0"/>
              <a:t>有</a:t>
            </a:r>
            <a:r>
              <a:rPr lang="en-US" altLang="zh-CN" dirty="0"/>
              <a:t>1,000</a:t>
            </a:r>
            <a:r>
              <a:rPr lang="zh-CN" altLang="en-US" dirty="0"/>
              <a:t>个顶点和</a:t>
            </a:r>
            <a:r>
              <a:rPr lang="en-US" altLang="zh-CN" dirty="0"/>
              <a:t>2,000</a:t>
            </a:r>
            <a:r>
              <a:rPr lang="zh-CN" altLang="en-US" dirty="0"/>
              <a:t>条边，使用邻接表进行存储，假设每个顶点需要</a:t>
            </a:r>
            <a:r>
              <a:rPr lang="en-US" altLang="zh-CN" dirty="0"/>
              <a:t>2</a:t>
            </a:r>
            <a:r>
              <a:rPr lang="zh-CN" altLang="en-US" dirty="0"/>
              <a:t>个字节保存，每条边需要</a:t>
            </a:r>
            <a:r>
              <a:rPr lang="en-US" altLang="zh-CN" dirty="0"/>
              <a:t>3</a:t>
            </a:r>
            <a:r>
              <a:rPr lang="zh-CN" altLang="en-US" dirty="0"/>
              <a:t>个字节保存，则最接近其需要的存储空间是（）。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1,006,000</a:t>
            </a:r>
            <a:r>
              <a:rPr lang="zh-CN" altLang="en-US" dirty="0"/>
              <a:t>个字节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14,000</a:t>
            </a:r>
            <a:r>
              <a:rPr lang="zh-CN" altLang="en-US" dirty="0"/>
              <a:t>个字节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12,000</a:t>
            </a:r>
            <a:r>
              <a:rPr lang="zh-CN" altLang="en-US" dirty="0"/>
              <a:t>个字节</a:t>
            </a:r>
            <a:endParaRPr lang="en-US" altLang="zh-CN" dirty="0"/>
          </a:p>
          <a:p>
            <a:pPr marL="914400" lvl="1" indent="-457200">
              <a:buFont typeface="+mj-lt"/>
              <a:buAutoNum type="alphaUcPeriod"/>
            </a:pPr>
            <a:r>
              <a:rPr lang="en-US" altLang="zh-CN" dirty="0"/>
              <a:t>8,000</a:t>
            </a:r>
            <a:r>
              <a:rPr lang="zh-CN" altLang="en-US" dirty="0"/>
              <a:t>个字节</a:t>
            </a:r>
          </a:p>
        </p:txBody>
      </p:sp>
    </p:spTree>
    <p:extLst>
      <p:ext uri="{BB962C8B-B14F-4D97-AF65-F5344CB8AC3E}">
        <p14:creationId xmlns:p14="http://schemas.microsoft.com/office/powerpoint/2010/main" val="289732103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后缀表达式</a:t>
            </a:r>
            <a:r>
              <a:rPr lang="en-US" altLang="zh-CN" dirty="0"/>
              <a:t>xy+10/ab*c/+</a:t>
            </a:r>
            <a:r>
              <a:rPr lang="en-US" altLang="zh-CN" dirty="0" err="1"/>
              <a:t>xy</a:t>
            </a:r>
            <a:r>
              <a:rPr lang="en-US" altLang="zh-CN" dirty="0"/>
              <a:t>-ab-*-</a:t>
            </a:r>
            <a:r>
              <a:rPr lang="zh-CN" altLang="zh-CN" dirty="0"/>
              <a:t>对应的中缀表达式为</a:t>
            </a:r>
            <a:r>
              <a:rPr lang="en-US" altLang="zh-CN" dirty="0"/>
              <a:t>________________________ 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</a:t>
            </a:r>
            <a:r>
              <a:rPr lang="en-US" altLang="zh-CN" dirty="0" err="1"/>
              <a:t>x+y</a:t>
            </a:r>
            <a:r>
              <a:rPr lang="en-US" altLang="zh-CN" dirty="0"/>
              <a:t>)/10+a*b/c-(x-y)*(a-b)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803248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按教材中循环队列的实现方式，设循环队列的容量为</a:t>
            </a:r>
            <a:r>
              <a:rPr lang="en-US" altLang="zh-CN" dirty="0"/>
              <a:t>50</a:t>
            </a:r>
            <a:r>
              <a:rPr lang="zh-CN" altLang="zh-CN" dirty="0"/>
              <a:t>（序号从</a:t>
            </a:r>
            <a:r>
              <a:rPr lang="en-US" altLang="zh-CN" dirty="0"/>
              <a:t>0</a:t>
            </a:r>
            <a:r>
              <a:rPr lang="zh-CN" altLang="zh-CN" dirty="0"/>
              <a:t>到</a:t>
            </a:r>
            <a:r>
              <a:rPr lang="en-US" altLang="zh-CN" dirty="0"/>
              <a:t>49</a:t>
            </a:r>
            <a:r>
              <a:rPr lang="zh-CN" altLang="zh-CN" dirty="0"/>
              <a:t>），现经过一系列的入队和出队运算后，有</a:t>
            </a:r>
            <a:r>
              <a:rPr lang="en-US" altLang="zh-CN" dirty="0"/>
              <a:t>front =16</a:t>
            </a:r>
            <a:r>
              <a:rPr lang="zh-CN" altLang="zh-CN" dirty="0"/>
              <a:t>，</a:t>
            </a:r>
            <a:r>
              <a:rPr lang="en-US" altLang="zh-CN" dirty="0"/>
              <a:t>rear=5</a:t>
            </a:r>
            <a:r>
              <a:rPr lang="zh-CN" altLang="zh-CN" dirty="0"/>
              <a:t>（</a:t>
            </a:r>
            <a:r>
              <a:rPr lang="en-US" altLang="zh-CN" dirty="0"/>
              <a:t>rear</a:t>
            </a:r>
            <a:r>
              <a:rPr lang="zh-CN" altLang="zh-CN" dirty="0"/>
              <a:t>指向队尾元素的后一位置），则当前循环队列中元素个数为</a:t>
            </a:r>
            <a:r>
              <a:rPr lang="en-US" altLang="zh-CN" dirty="0"/>
              <a:t>______________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732429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已知数组</a:t>
            </a:r>
            <a:r>
              <a:rPr lang="en-US" altLang="zh-CN" dirty="0"/>
              <a:t>A[1..10, 1..10]</a:t>
            </a:r>
            <a:r>
              <a:rPr lang="zh-CN" altLang="zh-CN" dirty="0"/>
              <a:t>为对称矩阵，其中每个元素占</a:t>
            </a:r>
            <a:r>
              <a:rPr lang="en-US" altLang="zh-CN" dirty="0"/>
              <a:t>5</a:t>
            </a:r>
            <a:r>
              <a:rPr lang="zh-CN" altLang="zh-CN" dirty="0"/>
              <a:t>个单元。现将其下三角部分按行优先次序存储在起始地址为</a:t>
            </a:r>
            <a:r>
              <a:rPr lang="en-US" altLang="zh-CN" dirty="0"/>
              <a:t>1000</a:t>
            </a:r>
            <a:r>
              <a:rPr lang="zh-CN" altLang="zh-CN" dirty="0"/>
              <a:t>的连续内存单元中，则地址</a:t>
            </a:r>
            <a:r>
              <a:rPr lang="en-US" altLang="zh-CN" dirty="0"/>
              <a:t>1095</a:t>
            </a:r>
            <a:r>
              <a:rPr lang="zh-CN" altLang="zh-CN" dirty="0"/>
              <a:t>中存放的元素在数组</a:t>
            </a:r>
            <a:r>
              <a:rPr lang="en-US" altLang="zh-CN" dirty="0"/>
              <a:t>A</a:t>
            </a:r>
            <a:r>
              <a:rPr lang="zh-CN" altLang="zh-CN" dirty="0"/>
              <a:t>中的位置是</a:t>
            </a:r>
            <a:r>
              <a:rPr lang="en-US" altLang="zh-CN" dirty="0"/>
              <a:t>___________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A[5][6] </a:t>
            </a:r>
            <a:r>
              <a:rPr lang="zh-CN" altLang="en-US" dirty="0"/>
              <a:t>或 </a:t>
            </a:r>
            <a:r>
              <a:rPr lang="en-US" altLang="zh-CN" dirty="0"/>
              <a:t>A[6][5]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14740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广义表</a:t>
            </a:r>
            <a:r>
              <a:rPr lang="en-US" altLang="zh-CN" dirty="0"/>
              <a:t>GL=((a, b, c),(d, e, f))</a:t>
            </a:r>
            <a:r>
              <a:rPr lang="zh-CN" altLang="zh-CN" dirty="0"/>
              <a:t>，假设求表头操作为</a:t>
            </a:r>
            <a:r>
              <a:rPr lang="en-US" altLang="zh-CN" dirty="0"/>
              <a:t>head</a:t>
            </a:r>
            <a:r>
              <a:rPr lang="zh-CN" altLang="zh-CN" dirty="0"/>
              <a:t>，求表尾操作为</a:t>
            </a:r>
            <a:r>
              <a:rPr lang="en-US" altLang="zh-CN" dirty="0"/>
              <a:t>tail</a:t>
            </a:r>
            <a:r>
              <a:rPr lang="zh-CN" altLang="zh-CN" dirty="0"/>
              <a:t>，则</a:t>
            </a:r>
            <a:r>
              <a:rPr lang="en-US" altLang="zh-CN" dirty="0"/>
              <a:t>head[tail[tail [head[tail[GL]]]]] =__________________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2443594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已知完全二叉树的第</a:t>
            </a:r>
            <a:r>
              <a:rPr lang="en-US" altLang="zh-CN" dirty="0"/>
              <a:t>7</a:t>
            </a:r>
            <a:r>
              <a:rPr lang="zh-CN" altLang="zh-CN" dirty="0"/>
              <a:t>层有</a:t>
            </a:r>
            <a:r>
              <a:rPr lang="en-US" altLang="zh-CN" dirty="0"/>
              <a:t>10</a:t>
            </a:r>
            <a:r>
              <a:rPr lang="zh-CN" altLang="zh-CN" dirty="0"/>
              <a:t>个叶结点，规定根结点层次为</a:t>
            </a:r>
            <a:r>
              <a:rPr lang="en-US" altLang="zh-CN" dirty="0"/>
              <a:t>1</a:t>
            </a:r>
            <a:r>
              <a:rPr lang="zh-CN" altLang="zh-CN" dirty="0"/>
              <a:t>，则整棵二叉树的结点数最多为</a:t>
            </a:r>
            <a:r>
              <a:rPr lang="en-US" altLang="zh-CN" dirty="0"/>
              <a:t>____________</a:t>
            </a:r>
            <a:r>
              <a:rPr lang="zh-CN" altLang="zh-CN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en-US" altLang="zh-CN" baseline="30000" dirty="0"/>
              <a:t>7</a:t>
            </a:r>
            <a:r>
              <a:rPr lang="en-US" altLang="zh-CN" dirty="0"/>
              <a:t>-1+(2</a:t>
            </a:r>
            <a:r>
              <a:rPr lang="en-US" altLang="zh-CN" baseline="30000" dirty="0"/>
              <a:t>6</a:t>
            </a:r>
            <a:r>
              <a:rPr lang="en-US" altLang="zh-CN" dirty="0"/>
              <a:t>-10)*2 = 235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6157503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问答题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森林的后根遍历结果为</a:t>
            </a:r>
            <a:r>
              <a:rPr lang="en-US" altLang="zh-CN" dirty="0"/>
              <a:t>DECBAFIKLG</a:t>
            </a:r>
            <a:r>
              <a:rPr lang="zh-CN" altLang="en-US" dirty="0"/>
              <a:t>，先根遍历结果为</a:t>
            </a:r>
            <a:r>
              <a:rPr lang="en-US" altLang="zh-CN" dirty="0"/>
              <a:t>ADCEBIFGKL</a:t>
            </a:r>
            <a:r>
              <a:rPr lang="zh-CN" altLang="en-US" dirty="0"/>
              <a:t>。要求：</a:t>
            </a:r>
          </a:p>
          <a:p>
            <a:pPr lvl="1"/>
            <a:r>
              <a:rPr lang="zh-CN" altLang="en-US" dirty="0"/>
              <a:t>画出这个森林对应的二叉树；</a:t>
            </a:r>
          </a:p>
          <a:p>
            <a:pPr lvl="1"/>
            <a:r>
              <a:rPr lang="zh-CN" altLang="en-US" dirty="0"/>
              <a:t>画出这棵二叉树经过后序线索化后树上的线索指针。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5205019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问答题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一带权无向图的邻接矩阵如下图所示，试分别给出</a:t>
            </a:r>
            <a:r>
              <a:rPr lang="en-US" altLang="zh-CN" dirty="0"/>
              <a:t>Prim</a:t>
            </a:r>
            <a:r>
              <a:rPr lang="zh-CN" altLang="zh-CN" dirty="0"/>
              <a:t>和</a:t>
            </a:r>
            <a:r>
              <a:rPr lang="en-US" altLang="zh-CN" dirty="0" err="1"/>
              <a:t>Kruskal</a:t>
            </a:r>
            <a:r>
              <a:rPr lang="zh-CN" altLang="zh-CN" dirty="0"/>
              <a:t>生成最小生成树的构造过程。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92" y="3212976"/>
            <a:ext cx="2304256" cy="250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799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问答题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已知有向图</a:t>
            </a:r>
            <a:r>
              <a:rPr lang="en-US" altLang="zh-CN" dirty="0"/>
              <a:t>G</a:t>
            </a:r>
            <a:r>
              <a:rPr lang="zh-CN" altLang="zh-CN" dirty="0"/>
              <a:t>如下图所示，请使用</a:t>
            </a:r>
            <a:r>
              <a:rPr lang="en-US" altLang="zh-CN" dirty="0" err="1"/>
              <a:t>Dijkstra</a:t>
            </a:r>
            <a:r>
              <a:rPr lang="zh-CN" altLang="zh-CN" dirty="0"/>
              <a:t>算法求出顶点</a:t>
            </a:r>
            <a:r>
              <a:rPr lang="en-US" altLang="zh-CN" dirty="0"/>
              <a:t>v1</a:t>
            </a:r>
            <a:r>
              <a:rPr lang="zh-CN" altLang="zh-CN" dirty="0"/>
              <a:t>到其他各顶点的最短路径长度（需有必要的中间步骤）。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720" y="3142239"/>
            <a:ext cx="4432176" cy="28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4310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输入</a:t>
            </a:r>
            <a:r>
              <a:rPr lang="en-US" altLang="zh-CN" dirty="0"/>
              <a:t>n(n&lt;=6)</a:t>
            </a:r>
            <a:r>
              <a:rPr lang="zh-CN" altLang="en-US" dirty="0"/>
              <a:t>，请输出</a:t>
            </a:r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n</a:t>
            </a:r>
            <a:r>
              <a:rPr lang="zh-CN" altLang="en-US" dirty="0"/>
              <a:t>数字组成的</a:t>
            </a:r>
            <a:r>
              <a:rPr lang="en-US" altLang="zh-CN" dirty="0"/>
              <a:t>n</a:t>
            </a:r>
            <a:r>
              <a:rPr lang="zh-CN" altLang="en-US" dirty="0"/>
              <a:t>位数字（不可重复）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88463" y="1905000"/>
            <a:ext cx="350467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62199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zh-CN" dirty="0"/>
              <a:t>给出有向图的邻接表类定义，并定义其上的广度优先搜索方法。类定义可适当简化，可省略与所定义的广度优先搜索方法无关的属性和方法的定义。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74137" y="1905000"/>
            <a:ext cx="33333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7228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 &amp; 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2807682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Arial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49833</TotalTime>
  <Words>14246</Words>
  <Application>Microsoft Office PowerPoint</Application>
  <PresentationFormat>宽屏</PresentationFormat>
  <Paragraphs>1696</Paragraphs>
  <Slides>232</Slides>
  <Notes>183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232</vt:i4>
      </vt:variant>
    </vt:vector>
  </HeadingPairs>
  <TitlesOfParts>
    <vt:vector size="239" baseType="lpstr">
      <vt:lpstr>华文行楷</vt:lpstr>
      <vt:lpstr>宋体</vt:lpstr>
      <vt:lpstr>Arial</vt:lpstr>
      <vt:lpstr>Tahoma</vt:lpstr>
      <vt:lpstr>Times New Roman</vt:lpstr>
      <vt:lpstr>Wingdings</vt:lpstr>
      <vt:lpstr>Blueprint</vt:lpstr>
      <vt:lpstr>Data Structure</vt:lpstr>
      <vt:lpstr>DS概览</vt:lpstr>
      <vt:lpstr>重点难点</vt:lpstr>
      <vt:lpstr>重点难点</vt:lpstr>
      <vt:lpstr>重点难点</vt:lpstr>
      <vt:lpstr>真题复习</vt:lpstr>
      <vt:lpstr>时间复杂度</vt:lpstr>
      <vt:lpstr>时间复杂度</vt:lpstr>
      <vt:lpstr>时间复杂度</vt:lpstr>
      <vt:lpstr>链表与时间复杂度</vt:lpstr>
      <vt:lpstr>链表与时间复杂度</vt:lpstr>
      <vt:lpstr>链表与时间复杂度</vt:lpstr>
      <vt:lpstr>双向链表</vt:lpstr>
      <vt:lpstr>栈</vt:lpstr>
      <vt:lpstr>栈</vt:lpstr>
      <vt:lpstr>栈</vt:lpstr>
      <vt:lpstr>栈</vt:lpstr>
      <vt:lpstr>栈</vt:lpstr>
      <vt:lpstr>栈的应用</vt:lpstr>
      <vt:lpstr>栈的应用</vt:lpstr>
      <vt:lpstr>队列</vt:lpstr>
      <vt:lpstr>队列</vt:lpstr>
      <vt:lpstr>矩阵的压缩存储</vt:lpstr>
      <vt:lpstr>矩阵的压缩存储</vt:lpstr>
      <vt:lpstr>矩阵的压缩存储</vt:lpstr>
      <vt:lpstr>稀疏矩阵</vt:lpstr>
      <vt:lpstr>KMP算法</vt:lpstr>
      <vt:lpstr>KMP算法</vt:lpstr>
      <vt:lpstr>树</vt:lpstr>
      <vt:lpstr>树</vt:lpstr>
      <vt:lpstr>二叉树</vt:lpstr>
      <vt:lpstr>二叉树</vt:lpstr>
      <vt:lpstr>二叉树</vt:lpstr>
      <vt:lpstr>二叉树</vt:lpstr>
      <vt:lpstr>二叉树的遍历</vt:lpstr>
      <vt:lpstr>二叉树的遍历</vt:lpstr>
      <vt:lpstr>二叉树的遍历</vt:lpstr>
      <vt:lpstr>二叉树的遍历</vt:lpstr>
      <vt:lpstr>线索二叉树</vt:lpstr>
      <vt:lpstr>线索二叉树</vt:lpstr>
      <vt:lpstr>线索二叉树</vt:lpstr>
      <vt:lpstr>森林</vt:lpstr>
      <vt:lpstr>树和二叉树</vt:lpstr>
      <vt:lpstr>树与二叉树</vt:lpstr>
      <vt:lpstr>森林和二叉树</vt:lpstr>
      <vt:lpstr>森林与二叉树</vt:lpstr>
      <vt:lpstr>森林与二叉树</vt:lpstr>
      <vt:lpstr>并查集</vt:lpstr>
      <vt:lpstr>并查集</vt:lpstr>
      <vt:lpstr>并查集</vt:lpstr>
      <vt:lpstr>并查集</vt:lpstr>
      <vt:lpstr>哈夫曼树</vt:lpstr>
      <vt:lpstr>哈夫曼树</vt:lpstr>
      <vt:lpstr>哈夫曼树</vt:lpstr>
      <vt:lpstr>哈夫曼树</vt:lpstr>
      <vt:lpstr>哈夫曼树</vt:lpstr>
      <vt:lpstr>哈夫曼树</vt:lpstr>
      <vt:lpstr>哈夫曼树</vt:lpstr>
      <vt:lpstr>哈夫曼树（变型）</vt:lpstr>
      <vt:lpstr>哈夫曼树</vt:lpstr>
      <vt:lpstr>哈夫曼树</vt:lpstr>
      <vt:lpstr>哈夫曼树</vt:lpstr>
      <vt:lpstr>图</vt:lpstr>
      <vt:lpstr>图</vt:lpstr>
      <vt:lpstr>图</vt:lpstr>
      <vt:lpstr>图</vt:lpstr>
      <vt:lpstr>图</vt:lpstr>
      <vt:lpstr>图的遍历</vt:lpstr>
      <vt:lpstr>图的遍历</vt:lpstr>
      <vt:lpstr>图的遍历</vt:lpstr>
      <vt:lpstr>最小生成树</vt:lpstr>
      <vt:lpstr>最小生成树</vt:lpstr>
      <vt:lpstr>最小生成树</vt:lpstr>
      <vt:lpstr>最短路径</vt:lpstr>
      <vt:lpstr>最短路径</vt:lpstr>
      <vt:lpstr>最短路径</vt:lpstr>
      <vt:lpstr>最短路径</vt:lpstr>
      <vt:lpstr>最短路径</vt:lpstr>
      <vt:lpstr>有向无环图</vt:lpstr>
      <vt:lpstr>有向无环图</vt:lpstr>
      <vt:lpstr>拓扑排序</vt:lpstr>
      <vt:lpstr>拓扑排序</vt:lpstr>
      <vt:lpstr>拓扑排序</vt:lpstr>
      <vt:lpstr>拓扑排序</vt:lpstr>
      <vt:lpstr>拓扑排序</vt:lpstr>
      <vt:lpstr>拓扑排序</vt:lpstr>
      <vt:lpstr>拓扑排序</vt:lpstr>
      <vt:lpstr>关键路径</vt:lpstr>
      <vt:lpstr>关键路径</vt:lpstr>
      <vt:lpstr>关键路径</vt:lpstr>
      <vt:lpstr>不等概率查找</vt:lpstr>
      <vt:lpstr>折半查找</vt:lpstr>
      <vt:lpstr>折半查找</vt:lpstr>
      <vt:lpstr>折半查找</vt:lpstr>
      <vt:lpstr>折半查找</vt:lpstr>
      <vt:lpstr>折半查找</vt:lpstr>
      <vt:lpstr>BST树</vt:lpstr>
      <vt:lpstr>BST树</vt:lpstr>
      <vt:lpstr>BST树</vt:lpstr>
      <vt:lpstr>AVL树</vt:lpstr>
      <vt:lpstr>AVL树</vt:lpstr>
      <vt:lpstr>AVL树</vt:lpstr>
      <vt:lpstr>AVL树</vt:lpstr>
      <vt:lpstr>AVL树</vt:lpstr>
      <vt:lpstr>AVL树</vt:lpstr>
      <vt:lpstr>红黑树</vt:lpstr>
      <vt:lpstr>红黑树</vt:lpstr>
      <vt:lpstr>红黑树</vt:lpstr>
      <vt:lpstr>红黑树</vt:lpstr>
      <vt:lpstr>红黑树</vt:lpstr>
      <vt:lpstr>B树</vt:lpstr>
      <vt:lpstr>B树</vt:lpstr>
      <vt:lpstr>B树</vt:lpstr>
      <vt:lpstr>B树</vt:lpstr>
      <vt:lpstr>B树</vt:lpstr>
      <vt:lpstr>B树</vt:lpstr>
      <vt:lpstr>B树</vt:lpstr>
      <vt:lpstr>B树</vt:lpstr>
      <vt:lpstr>B树</vt:lpstr>
      <vt:lpstr>Hash</vt:lpstr>
      <vt:lpstr>Hash</vt:lpstr>
      <vt:lpstr>Hash</vt:lpstr>
      <vt:lpstr>Hash</vt:lpstr>
      <vt:lpstr>Hash</vt:lpstr>
      <vt:lpstr>Hash</vt:lpstr>
      <vt:lpstr>插入排序</vt:lpstr>
      <vt:lpstr>插入排序</vt:lpstr>
      <vt:lpstr>希尔排序</vt:lpstr>
      <vt:lpstr>希尔排序</vt:lpstr>
      <vt:lpstr>希尔排序</vt:lpstr>
      <vt:lpstr>快速排序</vt:lpstr>
      <vt:lpstr>快速排序</vt:lpstr>
      <vt:lpstr>快速排序</vt:lpstr>
      <vt:lpstr>快速排序</vt:lpstr>
      <vt:lpstr>快速排序</vt:lpstr>
      <vt:lpstr>快速排序</vt:lpstr>
      <vt:lpstr>快速排序</vt:lpstr>
      <vt:lpstr>选择排序</vt:lpstr>
      <vt:lpstr>堆排序</vt:lpstr>
      <vt:lpstr>堆排序</vt:lpstr>
      <vt:lpstr>堆排序</vt:lpstr>
      <vt:lpstr>堆排序</vt:lpstr>
      <vt:lpstr>堆排序</vt:lpstr>
      <vt:lpstr>堆排序</vt:lpstr>
      <vt:lpstr>堆排序</vt:lpstr>
      <vt:lpstr>归并排序</vt:lpstr>
      <vt:lpstr>归并排序</vt:lpstr>
      <vt:lpstr>归并排序</vt:lpstr>
      <vt:lpstr>归并排序</vt:lpstr>
      <vt:lpstr>基数排序</vt:lpstr>
      <vt:lpstr>基数排序</vt:lpstr>
      <vt:lpstr>排序综合</vt:lpstr>
      <vt:lpstr>排序综合</vt:lpstr>
      <vt:lpstr>排序综合</vt:lpstr>
      <vt:lpstr>排序综合</vt:lpstr>
      <vt:lpstr>排序综合</vt:lpstr>
      <vt:lpstr>排序综合</vt:lpstr>
      <vt:lpstr>排序综合</vt:lpstr>
      <vt:lpstr>排序综合</vt:lpstr>
      <vt:lpstr>排序综合</vt:lpstr>
      <vt:lpstr>排序综合</vt:lpstr>
      <vt:lpstr>填充复习</vt:lpstr>
      <vt:lpstr>真题演练</vt:lpstr>
      <vt:lpstr>真题演练</vt:lpstr>
      <vt:lpstr>真题演练</vt:lpstr>
      <vt:lpstr>真题演练</vt:lpstr>
      <vt:lpstr>代码复习</vt:lpstr>
      <vt:lpstr>代码复习</vt:lpstr>
      <vt:lpstr>数组的转置</vt:lpstr>
      <vt:lpstr>数组的对齐</vt:lpstr>
      <vt:lpstr>标识数组</vt:lpstr>
      <vt:lpstr>暴力法</vt:lpstr>
      <vt:lpstr>单链表的运算</vt:lpstr>
      <vt:lpstr>单链表的创建 — 尾插法</vt:lpstr>
      <vt:lpstr>单链表的创建 — 尾插法</vt:lpstr>
      <vt:lpstr>单链表的创建 — 尾插法</vt:lpstr>
      <vt:lpstr>单链表的创建 — 尾插法</vt:lpstr>
      <vt:lpstr>单链表的创建 — 头插法</vt:lpstr>
      <vt:lpstr>单链表的创建 — 头插法</vt:lpstr>
      <vt:lpstr>插入指定节点前</vt:lpstr>
      <vt:lpstr>插入指定节点前</vt:lpstr>
      <vt:lpstr>指定节点删除</vt:lpstr>
      <vt:lpstr>指定节点删除</vt:lpstr>
      <vt:lpstr>指定节点删除</vt:lpstr>
      <vt:lpstr>单链表逆序</vt:lpstr>
      <vt:lpstr>伴随指针的思路</vt:lpstr>
      <vt:lpstr>栈实现队列</vt:lpstr>
      <vt:lpstr>栈实现队列</vt:lpstr>
      <vt:lpstr>队列实现栈</vt:lpstr>
      <vt:lpstr>数制转换</vt:lpstr>
      <vt:lpstr>二叉树层次序遍历的实现</vt:lpstr>
      <vt:lpstr>树的层次序遍历</vt:lpstr>
      <vt:lpstr>哈夫曼树</vt:lpstr>
      <vt:lpstr>图的广度优先遍历代码实现</vt:lpstr>
      <vt:lpstr>图的广度优先遍历代码实现</vt:lpstr>
      <vt:lpstr>折半查找的实现</vt:lpstr>
      <vt:lpstr>插入排序实现</vt:lpstr>
      <vt:lpstr>冒泡排序实现</vt:lpstr>
      <vt:lpstr>快速排序</vt:lpstr>
      <vt:lpstr>快速排序的实现</vt:lpstr>
      <vt:lpstr>快速排序</vt:lpstr>
      <vt:lpstr>快速排序</vt:lpstr>
      <vt:lpstr>直接选择排序实现</vt:lpstr>
      <vt:lpstr>堆调整算法</vt:lpstr>
      <vt:lpstr>归并排序</vt:lpstr>
      <vt:lpstr>24期中回顾</vt:lpstr>
      <vt:lpstr>时间复杂度</vt:lpstr>
      <vt:lpstr>链表</vt:lpstr>
      <vt:lpstr>链表</vt:lpstr>
      <vt:lpstr>栈</vt:lpstr>
      <vt:lpstr>矩阵的存储</vt:lpstr>
      <vt:lpstr>矩阵的存储</vt:lpstr>
      <vt:lpstr>KMP算法</vt:lpstr>
      <vt:lpstr>树</vt:lpstr>
      <vt:lpstr>二叉树的遍历</vt:lpstr>
      <vt:lpstr>森林与二叉树</vt:lpstr>
      <vt:lpstr>并查集</vt:lpstr>
      <vt:lpstr>哈夫曼树</vt:lpstr>
      <vt:lpstr>图</vt:lpstr>
      <vt:lpstr>图</vt:lpstr>
      <vt:lpstr>图</vt:lpstr>
      <vt:lpstr>填空题</vt:lpstr>
      <vt:lpstr>填空题</vt:lpstr>
      <vt:lpstr>填空题</vt:lpstr>
      <vt:lpstr>填空题</vt:lpstr>
      <vt:lpstr>填空题</vt:lpstr>
      <vt:lpstr>问答题</vt:lpstr>
      <vt:lpstr>问答题</vt:lpstr>
      <vt:lpstr>问答题</vt:lpstr>
      <vt:lpstr>代码题</vt:lpstr>
      <vt:lpstr>代码题</vt:lpstr>
      <vt:lpstr>Q &amp; A</vt:lpstr>
    </vt:vector>
  </TitlesOfParts>
  <Company>113-501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Application</dc:title>
  <dc:creator>robin</dc:creator>
  <cp:lastModifiedBy>8615121516686</cp:lastModifiedBy>
  <cp:revision>1761</cp:revision>
  <dcterms:created xsi:type="dcterms:W3CDTF">2002-06-03T10:03:09Z</dcterms:created>
  <dcterms:modified xsi:type="dcterms:W3CDTF">2025-01-10T07:55:29Z</dcterms:modified>
</cp:coreProperties>
</file>